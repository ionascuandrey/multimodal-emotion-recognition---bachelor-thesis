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22"/>
    <p:sldId id="258" r:id="rId15"/>
    <p:sldId id="259" r:id="rId18"/>
    <p:sldId id="260" r:id="rId21"/>
    <p:sldId id="261" r:id="rId19"/>
    <p:sldId id="262" r:id="rId36"/>
    <p:sldId id="264" r:id="rId47"/>
    <p:sldId id="263" r:id="rId46"/>
    <p:sldId id="265" r:id="rId28"/>
    <p:sldId id="266" r:id="rId24"/>
    <p:sldId id="267" r:id="rId48"/>
    <p:sldId id="268" r:id="rId29"/>
  </p:sldIdLst>
  <p:sldSz cy="10287000" cx="18288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Playfair Display Black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98D140-4961-4532-BD58-4F3D4F08A97D}">
  <a:tblStyle styleId="{B098D140-4961-4532-BD58-4F3D4F08A9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5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1" Type="http://schemas.openxmlformats.org/officeDocument/2006/relationships/slide" Target="slides/slide5.xml"/><Relationship Id="rId22" Type="http://schemas.openxmlformats.org/officeDocument/2006/relationships/slide" Target="slides/slide2.xml"/><Relationship Id="rId24" Type="http://schemas.openxmlformats.org/officeDocument/2006/relationships/slide" Target="slides/slide11.xml"/><Relationship Id="rId28" Type="http://schemas.openxmlformats.org/officeDocument/2006/relationships/slide" Target="slides/slide10.xml"/><Relationship Id="rId29" Type="http://schemas.openxmlformats.org/officeDocument/2006/relationships/slide" Target="slides/slide13.xml"/><Relationship Id="rId36" Type="http://schemas.openxmlformats.org/officeDocument/2006/relationships/slide" Target="slides/slide7.xml"/><Relationship Id="rId40" Type="http://schemas.openxmlformats.org/officeDocument/2006/relationships/font" Target="fonts/Roboto-regular.fntdata"/><Relationship Id="rId41" Type="http://schemas.openxmlformats.org/officeDocument/2006/relationships/font" Target="fonts/Roboto-bold.fntdata"/><Relationship Id="rId42" Type="http://schemas.openxmlformats.org/officeDocument/2006/relationships/font" Target="fonts/Roboto-italic.fntdata"/><Relationship Id="rId43" Type="http://schemas.openxmlformats.org/officeDocument/2006/relationships/font" Target="fonts/Roboto-boldItalic.fntdata"/><Relationship Id="rId44" Type="http://schemas.openxmlformats.org/officeDocument/2006/relationships/font" Target="fonts/PlayfairDisplayBlack-bold.fntdata"/><Relationship Id="rId45" Type="http://schemas.openxmlformats.org/officeDocument/2006/relationships/font" Target="fonts/PlayfairDisplayBlack-boldItalic.fntdata"/><Relationship Id="rId46" Type="http://schemas.openxmlformats.org/officeDocument/2006/relationships/slide" Target="slides/slide9.xml"/><Relationship Id="rId47" Type="http://schemas.openxmlformats.org/officeDocument/2006/relationships/slide" Target="slides/slide8.xml"/><Relationship Id="rId4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gA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gB.png"/><Relationship Id="rId4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gC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gD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gE.png"/><Relationship Id="rId4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gF.png"/><Relationship Id="rId4" Type="http://schemas.openxmlformats.org/officeDocument/2006/relationships/image" Target="../media/imgG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 rot="-5400000">
            <a:off x="-4059167" y="4327520"/>
            <a:ext cx="13354541" cy="0"/>
          </a:xfrm>
          <a:prstGeom prst="straightConnector1">
            <a:avLst/>
          </a:prstGeom>
          <a:noFill/>
          <a:ln cap="flat" cmpd="sng" w="38100">
            <a:solidFill>
              <a:srgbClr val="4DA1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3"/>
          <p:cNvCxnSpPr/>
          <p:nvPr/>
        </p:nvCxnSpPr>
        <p:spPr>
          <a:xfrm rot="-5400000">
            <a:off x="-3091580" y="4175120"/>
            <a:ext cx="13354541" cy="0"/>
          </a:xfrm>
          <a:prstGeom prst="straightConnector1">
            <a:avLst/>
          </a:prstGeom>
          <a:noFill/>
          <a:ln cap="flat" cmpd="sng" w="381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3"/>
          <p:cNvCxnSpPr/>
          <p:nvPr/>
        </p:nvCxnSpPr>
        <p:spPr>
          <a:xfrm rot="-5400000">
            <a:off x="-2016971" y="4327520"/>
            <a:ext cx="13354541" cy="0"/>
          </a:xfrm>
          <a:prstGeom prst="straightConnector1">
            <a:avLst/>
          </a:prstGeom>
          <a:noFill/>
          <a:ln cap="flat" cmpd="sng" w="38100">
            <a:solidFill>
              <a:srgbClr val="6874E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" name="Google Shape;87;p13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1592374" y="2628900"/>
            <a:ext cx="13583366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 xml:space="preserve">Recunoașterea emoțiilor</a:t>
            </a:r>
            <a:endParaRPr/>
          </a:p>
          <a:p>
            <a:pPr indent="0" lvl="0" marL="0" marR="0" rtl="0" algn="l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printr-o abordare</a:t>
            </a:r>
            <a:endParaRPr/>
          </a:p>
          <a:p>
            <a:pPr indent="0" lvl="0" marL="0" marR="0" rtl="0" algn="l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multimodală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ro-RO" sz="1450" u="none" cap="none" strike="noStrike">
                <a:solidFill>
                  <a:srgbClr val="3A4658"/>
                </a:solidFill>
                <a:latin typeface="Roboto"/>
                <a:ea typeface="Roboto"/>
                <a:cs typeface="Roboto"/>
                <a:sym typeface="Roboto"/>
              </a:rPr>
              <a:t xml:space="preserve">Absolvent: Ionașcu Andrei    ·    Coordonator: Conf. Univ. Dr. Alexe Dumitru-Bogdan    ·    București, iunie 2026</a:t>
            </a:r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12385106" y="6084623"/>
            <a:ext cx="4476247" cy="5509227"/>
            <a:chOff x="0" y="0"/>
            <a:chExt cx="5968330" cy="7345637"/>
          </a:xfrm>
        </p:grpSpPr>
        <p:grpSp>
          <p:nvGrpSpPr>
            <p:cNvPr id="92" name="Google Shape;92;p13"/>
            <p:cNvGrpSpPr/>
            <p:nvPr/>
          </p:nvGrpSpPr>
          <p:grpSpPr>
            <a:xfrm>
              <a:off x="0" y="0"/>
              <a:ext cx="5968330" cy="7345637"/>
              <a:chOff x="0" y="0"/>
              <a:chExt cx="660400" cy="812800"/>
            </a:xfrm>
          </p:grpSpPr>
          <p:sp>
            <p:nvSpPr>
              <p:cNvPr id="93" name="Google Shape;93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13"/>
            <p:cNvGrpSpPr/>
            <p:nvPr/>
          </p:nvGrpSpPr>
          <p:grpSpPr>
            <a:xfrm>
              <a:off x="348677" y="429141"/>
              <a:ext cx="5270975" cy="6487354"/>
              <a:chOff x="0" y="0"/>
              <a:chExt cx="660400" cy="812800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13"/>
            <p:cNvGrpSpPr/>
            <p:nvPr/>
          </p:nvGrpSpPr>
          <p:grpSpPr>
            <a:xfrm>
              <a:off x="692894" y="852793"/>
              <a:ext cx="4582541" cy="5640050"/>
              <a:chOff x="0" y="0"/>
              <a:chExt cx="660400" cy="812800"/>
            </a:xfrm>
          </p:grpSpPr>
          <p:sp>
            <p:nvSpPr>
              <p:cNvPr id="99" name="Google Shape;99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1" name="Google Shape;101;p13"/>
          <p:cNvCxnSpPr/>
          <p:nvPr/>
        </p:nvCxnSpPr>
        <p:spPr>
          <a:xfrm>
            <a:off x="1592374" y="1883323"/>
            <a:ext cx="13354541" cy="0"/>
          </a:xfrm>
          <a:prstGeom prst="straightConnector1">
            <a:avLst/>
          </a:prstGeom>
          <a:noFill/>
          <a:ln cap="flat" cmpd="sng" w="38100">
            <a:solidFill>
              <a:srgbClr val="0B132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13"/>
          <p:cNvGrpSpPr/>
          <p:nvPr/>
        </p:nvGrpSpPr>
        <p:grpSpPr>
          <a:xfrm>
            <a:off x="15328896" y="1678999"/>
            <a:ext cx="406823" cy="408647"/>
            <a:chOff x="1813" y="0"/>
            <a:chExt cx="809173" cy="812800"/>
          </a:xfrm>
        </p:grpSpPr>
        <p:sp>
          <p:nvSpPr>
            <p:cNvPr id="103" name="Google Shape;103;p13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5892570" y="1678999"/>
            <a:ext cx="406823" cy="408647"/>
            <a:chOff x="1813" y="0"/>
            <a:chExt cx="809173" cy="812800"/>
          </a:xfrm>
        </p:grpSpPr>
        <p:sp>
          <p:nvSpPr>
            <p:cNvPr id="106" name="Google Shape;106;p13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16453618" y="1678999"/>
            <a:ext cx="406823" cy="408647"/>
            <a:chOff x="1813" y="0"/>
            <a:chExt cx="809173" cy="812800"/>
          </a:xfrm>
        </p:grpSpPr>
        <p:sp>
          <p:nvSpPr>
            <p:cNvPr id="109" name="Google Shape;109;p13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28"/>
          <p:cNvPicPr preferRelativeResize="0"/>
          <p:nvPr/>
        </p:nvPicPr>
        <p:blipFill rotWithShape="1">
          <a:blip r:embed="rId3">
            <a:alphaModFix/>
          </a:blip>
          <a:srcRect b="12500" l="0" r="0" t="1250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7" name="Google Shape;647;p28"/>
          <p:cNvGrpSpPr/>
          <p:nvPr/>
        </p:nvGrpSpPr>
        <p:grpSpPr>
          <a:xfrm>
            <a:off x="407756" y="3900535"/>
            <a:ext cx="5660281" cy="5535041"/>
            <a:chOff x="0" y="-38100"/>
            <a:chExt cx="1490774" cy="1457789"/>
          </a:xfrm>
        </p:grpSpPr>
        <p:sp>
          <p:nvSpPr>
            <p:cNvPr id="648" name="Google Shape;648;p28"/>
            <p:cNvSpPr/>
            <p:nvPr/>
          </p:nvSpPr>
          <p:spPr>
            <a:xfrm>
              <a:off x="0" y="0"/>
              <a:ext cx="1490774" cy="1419689"/>
            </a:xfrm>
            <a:custGeom>
              <a:rect b="b" l="l" r="r" t="t"/>
              <a:pathLst>
                <a:path extrusionOk="0" h="1419689" w="1490774">
                  <a:moveTo>
                    <a:pt x="65653" y="0"/>
                  </a:moveTo>
                  <a:lnTo>
                    <a:pt x="1425121" y="0"/>
                  </a:lnTo>
                  <a:cubicBezTo>
                    <a:pt x="1461380" y="0"/>
                    <a:pt x="1490774" y="29394"/>
                    <a:pt x="1490774" y="65653"/>
                  </a:cubicBezTo>
                  <a:lnTo>
                    <a:pt x="1490774" y="1354036"/>
                  </a:lnTo>
                  <a:cubicBezTo>
                    <a:pt x="1490774" y="1390295"/>
                    <a:pt x="1461380" y="1419689"/>
                    <a:pt x="1425121" y="1419689"/>
                  </a:cubicBezTo>
                  <a:lnTo>
                    <a:pt x="65653" y="1419689"/>
                  </a:lnTo>
                  <a:cubicBezTo>
                    <a:pt x="29394" y="1419689"/>
                    <a:pt x="0" y="1390295"/>
                    <a:pt x="0" y="1354036"/>
                  </a:cubicBezTo>
                  <a:lnTo>
                    <a:pt x="0" y="65653"/>
                  </a:lnTo>
                  <a:cubicBezTo>
                    <a:pt x="0" y="29394"/>
                    <a:pt x="29394" y="0"/>
                    <a:pt x="656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0" name="Google Shape;650;p28"/>
          <p:cNvGrpSpPr/>
          <p:nvPr/>
        </p:nvGrpSpPr>
        <p:grpSpPr>
          <a:xfrm>
            <a:off x="6313859" y="3900535"/>
            <a:ext cx="5660281" cy="5535041"/>
            <a:chOff x="0" y="-38100"/>
            <a:chExt cx="1490774" cy="1457789"/>
          </a:xfrm>
        </p:grpSpPr>
        <p:sp>
          <p:nvSpPr>
            <p:cNvPr id="651" name="Google Shape;651;p28"/>
            <p:cNvSpPr/>
            <p:nvPr/>
          </p:nvSpPr>
          <p:spPr>
            <a:xfrm>
              <a:off x="0" y="0"/>
              <a:ext cx="1490774" cy="1419689"/>
            </a:xfrm>
            <a:custGeom>
              <a:rect b="b" l="l" r="r" t="t"/>
              <a:pathLst>
                <a:path extrusionOk="0" h="1419689" w="1490774">
                  <a:moveTo>
                    <a:pt x="65653" y="0"/>
                  </a:moveTo>
                  <a:lnTo>
                    <a:pt x="1425121" y="0"/>
                  </a:lnTo>
                  <a:cubicBezTo>
                    <a:pt x="1461380" y="0"/>
                    <a:pt x="1490774" y="29394"/>
                    <a:pt x="1490774" y="65653"/>
                  </a:cubicBezTo>
                  <a:lnTo>
                    <a:pt x="1490774" y="1354036"/>
                  </a:lnTo>
                  <a:cubicBezTo>
                    <a:pt x="1490774" y="1390295"/>
                    <a:pt x="1461380" y="1419689"/>
                    <a:pt x="1425121" y="1419689"/>
                  </a:cubicBezTo>
                  <a:lnTo>
                    <a:pt x="65653" y="1419689"/>
                  </a:lnTo>
                  <a:cubicBezTo>
                    <a:pt x="29394" y="1419689"/>
                    <a:pt x="0" y="1390295"/>
                    <a:pt x="0" y="1354036"/>
                  </a:cubicBezTo>
                  <a:lnTo>
                    <a:pt x="0" y="65653"/>
                  </a:lnTo>
                  <a:cubicBezTo>
                    <a:pt x="0" y="29394"/>
                    <a:pt x="29394" y="0"/>
                    <a:pt x="656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3" name="Google Shape;653;p28"/>
          <p:cNvGrpSpPr/>
          <p:nvPr/>
        </p:nvGrpSpPr>
        <p:grpSpPr>
          <a:xfrm>
            <a:off x="12219962" y="3900535"/>
            <a:ext cx="5660281" cy="5535041"/>
            <a:chOff x="0" y="-38100"/>
            <a:chExt cx="1490774" cy="1457789"/>
          </a:xfrm>
        </p:grpSpPr>
        <p:sp>
          <p:nvSpPr>
            <p:cNvPr id="654" name="Google Shape;654;p28"/>
            <p:cNvSpPr/>
            <p:nvPr/>
          </p:nvSpPr>
          <p:spPr>
            <a:xfrm>
              <a:off x="0" y="0"/>
              <a:ext cx="1490774" cy="1419689"/>
            </a:xfrm>
            <a:custGeom>
              <a:rect b="b" l="l" r="r" t="t"/>
              <a:pathLst>
                <a:path extrusionOk="0" h="1419689" w="1490774">
                  <a:moveTo>
                    <a:pt x="65653" y="0"/>
                  </a:moveTo>
                  <a:lnTo>
                    <a:pt x="1425121" y="0"/>
                  </a:lnTo>
                  <a:cubicBezTo>
                    <a:pt x="1461380" y="0"/>
                    <a:pt x="1490774" y="29394"/>
                    <a:pt x="1490774" y="65653"/>
                  </a:cubicBezTo>
                  <a:lnTo>
                    <a:pt x="1490774" y="1354036"/>
                  </a:lnTo>
                  <a:cubicBezTo>
                    <a:pt x="1490774" y="1390295"/>
                    <a:pt x="1461380" y="1419689"/>
                    <a:pt x="1425121" y="1419689"/>
                  </a:cubicBezTo>
                  <a:lnTo>
                    <a:pt x="65653" y="1419689"/>
                  </a:lnTo>
                  <a:cubicBezTo>
                    <a:pt x="29394" y="1419689"/>
                    <a:pt x="0" y="1390295"/>
                    <a:pt x="0" y="1354036"/>
                  </a:cubicBezTo>
                  <a:lnTo>
                    <a:pt x="0" y="65653"/>
                  </a:lnTo>
                  <a:cubicBezTo>
                    <a:pt x="0" y="29394"/>
                    <a:pt x="29394" y="0"/>
                    <a:pt x="656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6" name="Google Shape;656;p28"/>
          <p:cNvGrpSpPr/>
          <p:nvPr/>
        </p:nvGrpSpPr>
        <p:grpSpPr>
          <a:xfrm>
            <a:off x="1028691" y="4818947"/>
            <a:ext cx="4418394" cy="3800016"/>
            <a:chOff x="0" y="-57150"/>
            <a:chExt cx="5891191" cy="5066689"/>
          </a:xfrm>
        </p:grpSpPr>
        <p:sp>
          <p:nvSpPr>
            <p:cNvPr id="657" name="Google Shape;657;p28"/>
            <p:cNvSpPr txBox="1"/>
            <p:nvPr/>
          </p:nvSpPr>
          <p:spPr>
            <a:xfrm>
              <a:off x="0" y="-57150"/>
              <a:ext cx="5891191" cy="232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Multimodalitate</a:t>
              </a:r>
              <a:endParaRPr/>
            </a:p>
          </p:txBody>
        </p:sp>
        <p:sp>
          <p:nvSpPr>
            <p:cNvPr id="658" name="Google Shape;658;p28"/>
            <p:cNvSpPr txBox="1"/>
            <p:nvPr/>
          </p:nvSpPr>
          <p:spPr>
            <a:xfrm>
              <a:off x="0" y="3180527"/>
              <a:ext cx="3916132" cy="1829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Text, voce și față surprind împreună mai bine emoția.</a:t>
              </a:r>
              <a:endParaRPr/>
            </a:p>
          </p:txBody>
        </p:sp>
      </p:grpSp>
      <p:sp>
        <p:nvSpPr>
          <p:cNvPr id="659" name="Google Shape;659;p28"/>
          <p:cNvSpPr txBox="1"/>
          <p:nvPr/>
        </p:nvSpPr>
        <p:spPr>
          <a:xfrm>
            <a:off x="407756" y="1247948"/>
            <a:ext cx="115663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Context și motivație</a:t>
            </a:r>
            <a:endParaRPr/>
          </a:p>
        </p:txBody>
      </p:sp>
      <p:grpSp>
        <p:nvGrpSpPr>
          <p:cNvPr id="660" name="Google Shape;660;p28"/>
          <p:cNvGrpSpPr/>
          <p:nvPr/>
        </p:nvGrpSpPr>
        <p:grpSpPr>
          <a:xfrm>
            <a:off x="6934803" y="4818947"/>
            <a:ext cx="4418394" cy="3800016"/>
            <a:chOff x="0" y="-57150"/>
            <a:chExt cx="5891191" cy="5066689"/>
          </a:xfrm>
        </p:grpSpPr>
        <p:sp>
          <p:nvSpPr>
            <p:cNvPr id="661" name="Google Shape;661;p28"/>
            <p:cNvSpPr txBox="1"/>
            <p:nvPr/>
          </p:nvSpPr>
          <p:spPr>
            <a:xfrm>
              <a:off x="0" y="-57150"/>
              <a:ext cx="5891191" cy="232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Explicabilitate</a:t>
              </a:r>
              <a:endParaRPr/>
            </a:p>
          </p:txBody>
        </p:sp>
        <p:sp>
          <p:nvSpPr>
            <p:cNvPr id="662" name="Google Shape;662;p28"/>
            <p:cNvSpPr txBox="1"/>
            <p:nvPr/>
          </p:nvSpPr>
          <p:spPr>
            <a:xfrm>
              <a:off x="0" y="3180527"/>
              <a:ext cx="3916132" cy="1829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Modelele bune sunt „cutii negre” — greu de acordat încredere.</a:t>
              </a:r>
              <a:endParaRPr/>
            </a:p>
          </p:txBody>
        </p:sp>
      </p:grpSp>
      <p:grpSp>
        <p:nvGrpSpPr>
          <p:cNvPr id="663" name="Google Shape;663;p28"/>
          <p:cNvGrpSpPr/>
          <p:nvPr/>
        </p:nvGrpSpPr>
        <p:grpSpPr>
          <a:xfrm>
            <a:off x="12840906" y="4818947"/>
            <a:ext cx="4418394" cy="3800016"/>
            <a:chOff x="0" y="-57150"/>
            <a:chExt cx="5891191" cy="5066689"/>
          </a:xfrm>
        </p:grpSpPr>
        <p:sp>
          <p:nvSpPr>
            <p:cNvPr id="664" name="Google Shape;664;p28"/>
            <p:cNvSpPr txBox="1"/>
            <p:nvPr/>
          </p:nvSpPr>
          <p:spPr>
            <a:xfrm>
              <a:off x="0" y="-57150"/>
              <a:ext cx="5891191" cy="232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Eficiență</a:t>
              </a:r>
              <a:endParaRPr/>
            </a:p>
          </p:txBody>
        </p:sp>
        <p:sp>
          <p:nvSpPr>
            <p:cNvPr id="665" name="Google Shape;665;p28"/>
            <p:cNvSpPr txBox="1"/>
            <p:nvPr/>
          </p:nvSpPr>
          <p:spPr>
            <a:xfrm>
              <a:off x="0" y="3180527"/>
              <a:ext cx="3916132" cy="1829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Modelele mari sunt scumpe; pe edge contează viteza.</a:t>
              </a:r>
              <a:endParaRPr/>
            </a:p>
          </p:txBody>
        </p:sp>
      </p:grpSp>
      <p:cxnSp>
        <p:nvCxnSpPr>
          <p:cNvPr id="666" name="Google Shape;666;p28"/>
          <p:cNvCxnSpPr/>
          <p:nvPr/>
        </p:nvCxnSpPr>
        <p:spPr>
          <a:xfrm>
            <a:off x="8430831" y="2138071"/>
            <a:ext cx="7321767" cy="0"/>
          </a:xfrm>
          <a:prstGeom prst="straightConnector1">
            <a:avLst/>
          </a:prstGeom>
          <a:noFill/>
          <a:ln cap="flat" cmpd="sng" w="38100">
            <a:solidFill>
              <a:srgbClr val="0B132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7" name="Google Shape;667;p28"/>
          <p:cNvGrpSpPr/>
          <p:nvPr/>
        </p:nvGrpSpPr>
        <p:grpSpPr>
          <a:xfrm>
            <a:off x="16347787" y="1933748"/>
            <a:ext cx="406823" cy="408647"/>
            <a:chOff x="1813" y="0"/>
            <a:chExt cx="809173" cy="812800"/>
          </a:xfrm>
        </p:grpSpPr>
        <p:sp>
          <p:nvSpPr>
            <p:cNvPr id="668" name="Google Shape;668;p28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p28"/>
          <p:cNvGrpSpPr/>
          <p:nvPr/>
        </p:nvGrpSpPr>
        <p:grpSpPr>
          <a:xfrm>
            <a:off x="16911461" y="1933748"/>
            <a:ext cx="406823" cy="408647"/>
            <a:chOff x="1813" y="0"/>
            <a:chExt cx="809173" cy="812800"/>
          </a:xfrm>
        </p:grpSpPr>
        <p:sp>
          <p:nvSpPr>
            <p:cNvPr id="671" name="Google Shape;671;p28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17472509" y="1933748"/>
            <a:ext cx="406823" cy="408647"/>
            <a:chOff x="1813" y="0"/>
            <a:chExt cx="809173" cy="812800"/>
          </a:xfrm>
        </p:grpSpPr>
        <p:sp>
          <p:nvSpPr>
            <p:cNvPr id="674" name="Google Shape;674;p28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1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9521958" y="2011680"/>
            <a:ext cx="7839442" cy="6949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1"/>
          <p:cNvSpPr txBox="1"/>
          <p:nvPr/>
        </p:nvSpPr>
        <p:spPr>
          <a:xfrm>
            <a:off x="1028700" y="3246088"/>
            <a:ext cx="7363108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 xml:space="preserve">Setul de date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MELD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1028700" y="5894737"/>
            <a:ext cx="67665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Fragmente din serialul Friends: ~13.000 replici, 7 emoții, în engleză. Puternic dezechilibrat — de aceea metrica principală este macro-F1.</a:t>
            </a:r>
            <a:endParaRPr/>
          </a:p>
        </p:txBody>
      </p:sp>
      <p:grpSp>
        <p:nvGrpSpPr>
          <p:cNvPr id="366" name="Google Shape;366;p21"/>
          <p:cNvGrpSpPr/>
          <p:nvPr/>
        </p:nvGrpSpPr>
        <p:grpSpPr>
          <a:xfrm>
            <a:off x="14353073" y="6880240"/>
            <a:ext cx="6999655" cy="8614961"/>
            <a:chOff x="0" y="0"/>
            <a:chExt cx="9332874" cy="11486614"/>
          </a:xfrm>
        </p:grpSpPr>
        <p:grpSp>
          <p:nvGrpSpPr>
            <p:cNvPr id="367" name="Google Shape;367;p21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68" name="Google Shape;36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21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71" name="Google Shape;37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21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74" name="Google Shape;37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6" name="Google Shape;376;p21"/>
          <p:cNvGrpSpPr/>
          <p:nvPr/>
        </p:nvGrpSpPr>
        <p:grpSpPr>
          <a:xfrm>
            <a:off x="-3548742" y="8354719"/>
            <a:ext cx="6039488" cy="7433216"/>
            <a:chOff x="0" y="0"/>
            <a:chExt cx="8052650" cy="9910954"/>
          </a:xfrm>
        </p:grpSpPr>
        <p:grpSp>
          <p:nvGrpSpPr>
            <p:cNvPr id="377" name="Google Shape;377;p21"/>
            <p:cNvGrpSpPr/>
            <p:nvPr/>
          </p:nvGrpSpPr>
          <p:grpSpPr>
            <a:xfrm>
              <a:off x="0" y="0"/>
              <a:ext cx="8052650" cy="9910954"/>
              <a:chOff x="0" y="0"/>
              <a:chExt cx="660400" cy="812800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21"/>
            <p:cNvGrpSpPr/>
            <p:nvPr/>
          </p:nvGrpSpPr>
          <p:grpSpPr>
            <a:xfrm>
              <a:off x="470446" y="579010"/>
              <a:ext cx="7111758" cy="8752934"/>
              <a:chOff x="0" y="0"/>
              <a:chExt cx="660400" cy="812800"/>
            </a:xfrm>
          </p:grpSpPr>
          <p:sp>
            <p:nvSpPr>
              <p:cNvPr id="381" name="Google Shape;38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21"/>
            <p:cNvGrpSpPr/>
            <p:nvPr/>
          </p:nvGrpSpPr>
          <p:grpSpPr>
            <a:xfrm>
              <a:off x="934874" y="1150614"/>
              <a:ext cx="6182902" cy="7609726"/>
              <a:chOff x="0" y="0"/>
              <a:chExt cx="660400" cy="812800"/>
            </a:xfrm>
          </p:grpSpPr>
          <p:sp>
            <p:nvSpPr>
              <p:cNvPr id="384" name="Google Shape;38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21"/>
          <p:cNvGrpSpPr/>
          <p:nvPr/>
        </p:nvGrpSpPr>
        <p:grpSpPr>
          <a:xfrm rot="10800000">
            <a:off x="7191530" y="-2403040"/>
            <a:ext cx="3904939" cy="4806079"/>
            <a:chOff x="0" y="0"/>
            <a:chExt cx="5206586" cy="6408106"/>
          </a:xfrm>
        </p:grpSpPr>
        <p:grpSp>
          <p:nvGrpSpPr>
            <p:cNvPr id="387" name="Google Shape;387;p21"/>
            <p:cNvGrpSpPr/>
            <p:nvPr/>
          </p:nvGrpSpPr>
          <p:grpSpPr>
            <a:xfrm>
              <a:off x="0" y="0"/>
              <a:ext cx="5206586" cy="6408106"/>
              <a:chOff x="0" y="0"/>
              <a:chExt cx="660400" cy="812800"/>
            </a:xfrm>
          </p:grpSpPr>
          <p:sp>
            <p:nvSpPr>
              <p:cNvPr id="388" name="Google Shape;38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1"/>
            <p:cNvGrpSpPr/>
            <p:nvPr/>
          </p:nvGrpSpPr>
          <p:grpSpPr>
            <a:xfrm>
              <a:off x="304175" y="374370"/>
              <a:ext cx="4598236" cy="5659367"/>
              <a:chOff x="0" y="0"/>
              <a:chExt cx="660400" cy="812800"/>
            </a:xfrm>
          </p:grpSpPr>
          <p:sp>
            <p:nvSpPr>
              <p:cNvPr id="391" name="Google Shape;39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21"/>
            <p:cNvGrpSpPr/>
            <p:nvPr/>
          </p:nvGrpSpPr>
          <p:grpSpPr>
            <a:xfrm>
              <a:off x="604460" y="743950"/>
              <a:ext cx="3997667" cy="4920205"/>
              <a:chOff x="0" y="0"/>
              <a:chExt cx="660400" cy="812800"/>
            </a:xfrm>
          </p:grpSpPr>
          <p:sp>
            <p:nvSpPr>
              <p:cNvPr id="394" name="Google Shape;39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6" name="Google Shape;396;p21"/>
          <p:cNvGrpSpPr/>
          <p:nvPr/>
        </p:nvGrpSpPr>
        <p:grpSpPr>
          <a:xfrm>
            <a:off x="1029612" y="2663965"/>
            <a:ext cx="406823" cy="408647"/>
            <a:chOff x="1813" y="0"/>
            <a:chExt cx="809173" cy="812800"/>
          </a:xfrm>
        </p:grpSpPr>
        <p:sp>
          <p:nvSpPr>
            <p:cNvPr id="397" name="Google Shape;397;p21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1"/>
          <p:cNvGrpSpPr/>
          <p:nvPr/>
        </p:nvGrpSpPr>
        <p:grpSpPr>
          <a:xfrm>
            <a:off x="1593286" y="2663965"/>
            <a:ext cx="406823" cy="408647"/>
            <a:chOff x="1813" y="0"/>
            <a:chExt cx="809173" cy="812800"/>
          </a:xfrm>
        </p:grpSpPr>
        <p:sp>
          <p:nvSpPr>
            <p:cNvPr id="400" name="Google Shape;400;p21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2154334" y="2663965"/>
            <a:ext cx="406823" cy="408647"/>
            <a:chOff x="1813" y="0"/>
            <a:chExt cx="809173" cy="812800"/>
          </a:xfrm>
        </p:grpSpPr>
        <p:sp>
          <p:nvSpPr>
            <p:cNvPr id="403" name="Google Shape;403;p21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24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4627880" y="5943600"/>
            <a:ext cx="9032239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4"/>
          <p:cNvSpPr txBox="1"/>
          <p:nvPr/>
        </p:nvSpPr>
        <p:spPr>
          <a:xfrm>
            <a:off x="1912327" y="1402268"/>
            <a:ext cx="582537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Extragerea feței vorbitorului</a:t>
            </a:r>
            <a:endParaRPr/>
          </a:p>
        </p:txBody>
      </p:sp>
      <p:grpSp>
        <p:nvGrpSpPr>
          <p:cNvPr id="480" name="Google Shape;480;p24"/>
          <p:cNvGrpSpPr/>
          <p:nvPr/>
        </p:nvGrpSpPr>
        <p:grpSpPr>
          <a:xfrm>
            <a:off x="8480825" y="3975743"/>
            <a:ext cx="4364549" cy="1541324"/>
            <a:chOff x="0" y="0"/>
            <a:chExt cx="5819400" cy="2055099"/>
          </a:xfrm>
        </p:grpSpPr>
        <p:sp>
          <p:nvSpPr>
            <p:cNvPr id="481" name="Google Shape;481;p24"/>
            <p:cNvSpPr txBox="1"/>
            <p:nvPr/>
          </p:nvSpPr>
          <p:spPr>
            <a:xfrm>
              <a:off x="0" y="0"/>
              <a:ext cx="58194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B1320"/>
                  </a:solidFill>
                </a:rPr>
                <a:t>3 · Scor de calitate</a:t>
              </a:r>
              <a:endParaRPr b="1"/>
            </a:p>
          </p:txBody>
        </p:sp>
        <p:sp>
          <p:nvSpPr>
            <p:cNvPr id="482" name="Google Shape;482;p24"/>
            <p:cNvSpPr txBox="1"/>
            <p:nvPr/>
          </p:nvSpPr>
          <p:spPr>
            <a:xfrm>
              <a:off x="0" y="1020794"/>
              <a:ext cx="5819390" cy="1034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EfficientNet-B0: P(corect)×P(max).</a:t>
              </a:r>
              <a:endParaRPr/>
            </a:p>
          </p:txBody>
        </p:sp>
      </p:grpSp>
      <p:grpSp>
        <p:nvGrpSpPr>
          <p:cNvPr id="483" name="Google Shape;483;p24"/>
          <p:cNvGrpSpPr/>
          <p:nvPr/>
        </p:nvGrpSpPr>
        <p:grpSpPr>
          <a:xfrm>
            <a:off x="13277552" y="3975743"/>
            <a:ext cx="4364549" cy="1541324"/>
            <a:chOff x="0" y="0"/>
            <a:chExt cx="5819400" cy="2055099"/>
          </a:xfrm>
        </p:grpSpPr>
        <p:sp>
          <p:nvSpPr>
            <p:cNvPr id="484" name="Google Shape;484;p24"/>
            <p:cNvSpPr txBox="1"/>
            <p:nvPr/>
          </p:nvSpPr>
          <p:spPr>
            <a:xfrm>
              <a:off x="0" y="0"/>
              <a:ext cx="58194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B1320"/>
                  </a:solidFill>
                </a:rPr>
                <a:t>4 · Top-K cadre</a:t>
              </a:r>
              <a:endParaRPr b="1"/>
            </a:p>
          </p:txBody>
        </p:sp>
        <p:sp>
          <p:nvSpPr>
            <p:cNvPr id="485" name="Google Shape;485;p24"/>
            <p:cNvSpPr txBox="1"/>
            <p:nvPr/>
          </p:nvSpPr>
          <p:spPr>
            <a:xfrm>
              <a:off x="0" y="1020794"/>
              <a:ext cx="5819390" cy="1034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Cele mai bune K=5 → set FER curat.</a:t>
              </a:r>
              <a:endParaRPr/>
            </a:p>
          </p:txBody>
        </p:sp>
      </p:grpSp>
      <p:grpSp>
        <p:nvGrpSpPr>
          <p:cNvPr id="486" name="Google Shape;486;p24"/>
          <p:cNvGrpSpPr/>
          <p:nvPr/>
        </p:nvGrpSpPr>
        <p:grpSpPr>
          <a:xfrm>
            <a:off x="8480825" y="1755060"/>
            <a:ext cx="4364549" cy="1541324"/>
            <a:chOff x="0" y="0"/>
            <a:chExt cx="5819400" cy="2055099"/>
          </a:xfrm>
        </p:grpSpPr>
        <p:sp>
          <p:nvSpPr>
            <p:cNvPr id="487" name="Google Shape;487;p24"/>
            <p:cNvSpPr txBox="1"/>
            <p:nvPr/>
          </p:nvSpPr>
          <p:spPr>
            <a:xfrm>
              <a:off x="0" y="0"/>
              <a:ext cx="58194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B1320"/>
                  </a:solidFill>
                </a:rPr>
                <a:t>1 · Eșantionare</a:t>
              </a:r>
              <a:endParaRPr b="1"/>
            </a:p>
          </p:txBody>
        </p:sp>
        <p:sp>
          <p:nvSpPr>
            <p:cNvPr id="488" name="Google Shape;488;p24"/>
            <p:cNvSpPr txBox="1"/>
            <p:nvPr/>
          </p:nvSpPr>
          <p:spPr>
            <a:xfrm>
              <a:off x="0" y="1020794"/>
              <a:ext cx="5819390" cy="1034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Un cadru din 3, prin MTCNN.</a:t>
              </a:r>
              <a:endParaRPr/>
            </a:p>
          </p:txBody>
        </p:sp>
      </p:grpSp>
      <p:grpSp>
        <p:nvGrpSpPr>
          <p:cNvPr id="489" name="Google Shape;489;p24"/>
          <p:cNvGrpSpPr/>
          <p:nvPr/>
        </p:nvGrpSpPr>
        <p:grpSpPr>
          <a:xfrm>
            <a:off x="13277552" y="1755060"/>
            <a:ext cx="4364549" cy="1541324"/>
            <a:chOff x="0" y="0"/>
            <a:chExt cx="5819400" cy="2055099"/>
          </a:xfrm>
        </p:grpSpPr>
        <p:sp>
          <p:nvSpPr>
            <p:cNvPr id="490" name="Google Shape;490;p24"/>
            <p:cNvSpPr txBox="1"/>
            <p:nvPr/>
          </p:nvSpPr>
          <p:spPr>
            <a:xfrm>
              <a:off x="0" y="0"/>
              <a:ext cx="58194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B1320"/>
                  </a:solidFill>
                </a:rPr>
                <a:t>2 · Vorbitorul</a:t>
              </a:r>
              <a:endParaRPr b="1"/>
            </a:p>
          </p:txBody>
        </p:sp>
        <p:sp>
          <p:nvSpPr>
            <p:cNvPr id="491" name="Google Shape;491;p24"/>
            <p:cNvSpPr txBox="1"/>
            <p:nvPr/>
          </p:nvSpPr>
          <p:spPr>
            <a:xfrm>
              <a:off x="0" y="1020794"/>
              <a:ext cx="5819390" cy="1034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Ales prin similaritate cosinus.</a:t>
              </a:r>
              <a:endParaRPr/>
            </a:p>
          </p:txBody>
        </p:sp>
      </p:grpSp>
      <p:cxnSp>
        <p:nvCxnSpPr>
          <p:cNvPr id="492" name="Google Shape;492;p24"/>
          <p:cNvCxnSpPr/>
          <p:nvPr/>
        </p:nvCxnSpPr>
        <p:spPr>
          <a:xfrm>
            <a:off x="1912327" y="874461"/>
            <a:ext cx="13312135" cy="0"/>
          </a:xfrm>
          <a:prstGeom prst="straightConnector1">
            <a:avLst/>
          </a:prstGeom>
          <a:noFill/>
          <a:ln cap="flat" cmpd="sng" w="38100">
            <a:solidFill>
              <a:srgbClr val="0B132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3" name="Google Shape;493;p24"/>
          <p:cNvGrpSpPr/>
          <p:nvPr/>
        </p:nvGrpSpPr>
        <p:grpSpPr>
          <a:xfrm>
            <a:off x="16109637" y="670137"/>
            <a:ext cx="406823" cy="408647"/>
            <a:chOff x="1813" y="0"/>
            <a:chExt cx="809173" cy="812800"/>
          </a:xfrm>
        </p:grpSpPr>
        <p:sp>
          <p:nvSpPr>
            <p:cNvPr id="494" name="Google Shape;494;p2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24"/>
          <p:cNvGrpSpPr/>
          <p:nvPr/>
        </p:nvGrpSpPr>
        <p:grpSpPr>
          <a:xfrm>
            <a:off x="16673311" y="670137"/>
            <a:ext cx="406823" cy="408647"/>
            <a:chOff x="1813" y="0"/>
            <a:chExt cx="809173" cy="812800"/>
          </a:xfrm>
        </p:grpSpPr>
        <p:sp>
          <p:nvSpPr>
            <p:cNvPr id="497" name="Google Shape;497;p2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24"/>
          <p:cNvGrpSpPr/>
          <p:nvPr/>
        </p:nvGrpSpPr>
        <p:grpSpPr>
          <a:xfrm>
            <a:off x="17234359" y="670137"/>
            <a:ext cx="406823" cy="408647"/>
            <a:chOff x="1813" y="0"/>
            <a:chExt cx="809173" cy="812800"/>
          </a:xfrm>
        </p:grpSpPr>
        <p:sp>
          <p:nvSpPr>
            <p:cNvPr id="500" name="Google Shape;500;p2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24"/>
          <p:cNvGrpSpPr/>
          <p:nvPr/>
        </p:nvGrpSpPr>
        <p:grpSpPr>
          <a:xfrm>
            <a:off x="-3499828" y="5979520"/>
            <a:ext cx="6999655" cy="8614961"/>
            <a:chOff x="0" y="0"/>
            <a:chExt cx="9332874" cy="11486614"/>
          </a:xfrm>
        </p:grpSpPr>
        <p:grpSp>
          <p:nvGrpSpPr>
            <p:cNvPr id="503" name="Google Shape;503;p24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504" name="Google Shape;504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24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507" name="Google Shape;507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24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510" name="Google Shape;510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"/>
          <p:cNvSpPr txBox="1"/>
          <p:nvPr/>
        </p:nvSpPr>
        <p:spPr>
          <a:xfrm>
            <a:off x="1028700" y="457200"/>
            <a:ext cx="1623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Șase modele: complex vs. eficient</a:t>
            </a:r>
            <a:endParaRPr/>
          </a:p>
        </p:txBody>
      </p:sp>
      <p:grpSp>
        <p:nvGrpSpPr>
          <p:cNvPr id="601" name="Google Shape;601;p27"/>
          <p:cNvGrpSpPr/>
          <p:nvPr/>
        </p:nvGrpSpPr>
        <p:grpSpPr>
          <a:xfrm>
            <a:off x="2030534" y="2348199"/>
            <a:ext cx="14226933" cy="6910101"/>
            <a:chOff x="0" y="-38100"/>
            <a:chExt cx="4068654" cy="1976168"/>
          </a:xfrm>
        </p:grpSpPr>
        <p:sp>
          <p:nvSpPr>
            <p:cNvPr id="602" name="Google Shape;602;p27"/>
            <p:cNvSpPr/>
            <p:nvPr/>
          </p:nvSpPr>
          <p:spPr>
            <a:xfrm>
              <a:off x="0" y="0"/>
              <a:ext cx="4068654" cy="1938068"/>
            </a:xfrm>
            <a:custGeom>
              <a:rect b="b" l="l" r="r" t="t"/>
              <a:pathLst>
                <a:path extrusionOk="0" h="1938068" w="4068654">
                  <a:moveTo>
                    <a:pt x="26120" y="0"/>
                  </a:moveTo>
                  <a:lnTo>
                    <a:pt x="4042533" y="0"/>
                  </a:lnTo>
                  <a:cubicBezTo>
                    <a:pt x="4056959" y="0"/>
                    <a:pt x="4068654" y="11694"/>
                    <a:pt x="4068654" y="26120"/>
                  </a:cubicBezTo>
                  <a:lnTo>
                    <a:pt x="4068654" y="1911948"/>
                  </a:lnTo>
                  <a:cubicBezTo>
                    <a:pt x="4068654" y="1926374"/>
                    <a:pt x="4056959" y="1938068"/>
                    <a:pt x="4042533" y="1938068"/>
                  </a:cubicBezTo>
                  <a:lnTo>
                    <a:pt x="26120" y="1938068"/>
                  </a:lnTo>
                  <a:cubicBezTo>
                    <a:pt x="11694" y="1938068"/>
                    <a:pt x="0" y="1926374"/>
                    <a:pt x="0" y="1911948"/>
                  </a:cubicBezTo>
                  <a:lnTo>
                    <a:pt x="0" y="26120"/>
                  </a:lnTo>
                  <a:cubicBezTo>
                    <a:pt x="0" y="11694"/>
                    <a:pt x="11694" y="0"/>
                    <a:pt x="261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4" name="Google Shape;604;p27"/>
          <p:cNvSpPr txBox="1"/>
          <p:nvPr/>
        </p:nvSpPr>
        <p:spPr>
          <a:xfrm>
            <a:off x="3145771" y="3205201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BERT-base</a:t>
            </a:r>
            <a:endParaRPr/>
          </a:p>
        </p:txBody>
      </p:sp>
      <p:sp>
        <p:nvSpPr>
          <p:cNvPr id="605" name="Google Shape;605;p27"/>
          <p:cNvSpPr txBox="1"/>
          <p:nvPr/>
        </p:nvSpPr>
        <p:spPr>
          <a:xfrm>
            <a:off x="9062177" y="3157576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Text · complex · 109M parametri, cea mai bună acuratețe</a:t>
            </a:r>
            <a:endParaRPr/>
          </a:p>
        </p:txBody>
      </p:sp>
      <p:sp>
        <p:nvSpPr>
          <p:cNvPr id="606" name="Google Shape;606;p27"/>
          <p:cNvSpPr txBox="1"/>
          <p:nvPr/>
        </p:nvSpPr>
        <p:spPr>
          <a:xfrm>
            <a:off x="3145771" y="4185870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DistilBERT</a:t>
            </a:r>
            <a:endParaRPr/>
          </a:p>
        </p:txBody>
      </p:sp>
      <p:sp>
        <p:nvSpPr>
          <p:cNvPr id="607" name="Google Shape;607;p27"/>
          <p:cNvSpPr txBox="1"/>
          <p:nvPr/>
        </p:nvSpPr>
        <p:spPr>
          <a:xfrm>
            <a:off x="9062177" y="4138245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Text · eficient · 66M (−40%), inferență ~½</a:t>
            </a:r>
            <a:endParaRPr/>
          </a:p>
        </p:txBody>
      </p:sp>
      <p:sp>
        <p:nvSpPr>
          <p:cNvPr id="608" name="Google Shape;608;p27"/>
          <p:cNvSpPr txBox="1"/>
          <p:nvPr/>
        </p:nvSpPr>
        <p:spPr>
          <a:xfrm>
            <a:off x="3145771" y="5166539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wav2vec2-base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9062177" y="5118914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Audio · complex · codificator self-supervised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3145771" y="6147208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DistilHuBERT</a:t>
            </a:r>
            <a:endParaRPr/>
          </a:p>
        </p:txBody>
      </p:sp>
      <p:sp>
        <p:nvSpPr>
          <p:cNvPr id="611" name="Google Shape;611;p27"/>
          <p:cNvSpPr txBox="1"/>
          <p:nvPr/>
        </p:nvSpPr>
        <p:spPr>
          <a:xfrm>
            <a:off x="9062177" y="6099583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Audio · eficient · ~4× mai puțini parametri</a:t>
            </a:r>
            <a:endParaRPr/>
          </a:p>
        </p:txBody>
      </p:sp>
      <p:sp>
        <p:nvSpPr>
          <p:cNvPr id="612" name="Google Shape;612;p27"/>
          <p:cNvSpPr txBox="1"/>
          <p:nvPr/>
        </p:nvSpPr>
        <p:spPr>
          <a:xfrm>
            <a:off x="3145771" y="7127877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ViT-B/16</a:t>
            </a:r>
            <a:endParaRPr/>
          </a:p>
        </p:txBody>
      </p:sp>
      <p:sp>
        <p:nvSpPr>
          <p:cNvPr id="613" name="Google Shape;613;p27"/>
          <p:cNvSpPr txBox="1"/>
          <p:nvPr/>
        </p:nvSpPr>
        <p:spPr>
          <a:xfrm>
            <a:off x="9062177" y="7080252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Imagine · complex · transformer vizual</a:t>
            </a:r>
            <a:endParaRPr/>
          </a:p>
        </p:txBody>
      </p:sp>
      <p:sp>
        <p:nvSpPr>
          <p:cNvPr id="614" name="Google Shape;614;p27"/>
          <p:cNvSpPr txBox="1"/>
          <p:nvPr/>
        </p:nvSpPr>
        <p:spPr>
          <a:xfrm>
            <a:off x="3145771" y="8108547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MobileNetV3-Small</a:t>
            </a:r>
            <a:endParaRPr/>
          </a:p>
        </p:txBody>
      </p:sp>
      <p:sp>
        <p:nvSpPr>
          <p:cNvPr id="615" name="Google Shape;615;p27"/>
          <p:cNvSpPr txBox="1"/>
          <p:nvPr/>
        </p:nvSpPr>
        <p:spPr>
          <a:xfrm>
            <a:off x="9062177" y="8060922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Imagine · eficient · optimizat pentru dispozitive edge</a:t>
            </a:r>
            <a:endParaRPr/>
          </a:p>
        </p:txBody>
      </p:sp>
      <p:cxnSp>
        <p:nvCxnSpPr>
          <p:cNvPr id="616" name="Google Shape;616;p27"/>
          <p:cNvCxnSpPr/>
          <p:nvPr/>
        </p:nvCxnSpPr>
        <p:spPr>
          <a:xfrm>
            <a:off x="6982994" y="3436454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4DA1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7"/>
          <p:cNvCxnSpPr/>
          <p:nvPr/>
        </p:nvCxnSpPr>
        <p:spPr>
          <a:xfrm>
            <a:off x="6982994" y="4398073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7"/>
          <p:cNvCxnSpPr/>
          <p:nvPr/>
        </p:nvCxnSpPr>
        <p:spPr>
          <a:xfrm>
            <a:off x="6982994" y="5397792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687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27"/>
          <p:cNvCxnSpPr/>
          <p:nvPr/>
        </p:nvCxnSpPr>
        <p:spPr>
          <a:xfrm>
            <a:off x="6982994" y="6378461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4DA1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27"/>
          <p:cNvCxnSpPr/>
          <p:nvPr/>
        </p:nvCxnSpPr>
        <p:spPr>
          <a:xfrm>
            <a:off x="6982994" y="7359130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27"/>
          <p:cNvCxnSpPr/>
          <p:nvPr/>
        </p:nvCxnSpPr>
        <p:spPr>
          <a:xfrm>
            <a:off x="6982994" y="8301700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6874E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2" name="Google Shape;622;p27"/>
          <p:cNvGrpSpPr/>
          <p:nvPr/>
        </p:nvGrpSpPr>
        <p:grpSpPr>
          <a:xfrm>
            <a:off x="16743241" y="4185870"/>
            <a:ext cx="6045617" cy="7440760"/>
            <a:chOff x="0" y="0"/>
            <a:chExt cx="8060823" cy="9921013"/>
          </a:xfrm>
        </p:grpSpPr>
        <p:grpSp>
          <p:nvGrpSpPr>
            <p:cNvPr id="623" name="Google Shape;623;p27"/>
            <p:cNvGrpSpPr/>
            <p:nvPr/>
          </p:nvGrpSpPr>
          <p:grpSpPr>
            <a:xfrm>
              <a:off x="0" y="0"/>
              <a:ext cx="8060823" cy="9921013"/>
              <a:chOff x="0" y="0"/>
              <a:chExt cx="660400" cy="812800"/>
            </a:xfrm>
          </p:grpSpPr>
          <p:sp>
            <p:nvSpPr>
              <p:cNvPr id="624" name="Google Shape;624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6" name="Google Shape;626;p27"/>
            <p:cNvGrpSpPr/>
            <p:nvPr/>
          </p:nvGrpSpPr>
          <p:grpSpPr>
            <a:xfrm>
              <a:off x="470923" y="579598"/>
              <a:ext cx="7118977" cy="8761817"/>
              <a:chOff x="0" y="0"/>
              <a:chExt cx="660400" cy="812800"/>
            </a:xfrm>
          </p:grpSpPr>
          <p:sp>
            <p:nvSpPr>
              <p:cNvPr id="627" name="Google Shape;627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9" name="Google Shape;629;p27"/>
            <p:cNvGrpSpPr/>
            <p:nvPr/>
          </p:nvGrpSpPr>
          <p:grpSpPr>
            <a:xfrm>
              <a:off x="935823" y="1151782"/>
              <a:ext cx="6189177" cy="7617449"/>
              <a:chOff x="0" y="0"/>
              <a:chExt cx="660400" cy="812800"/>
            </a:xfrm>
          </p:grpSpPr>
          <p:sp>
            <p:nvSpPr>
              <p:cNvPr id="630" name="Google Shape;630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27"/>
          <p:cNvGrpSpPr/>
          <p:nvPr/>
        </p:nvGrpSpPr>
        <p:grpSpPr>
          <a:xfrm rot="10800000">
            <a:off x="-3996916" y="-910903"/>
            <a:ext cx="5734716" cy="7058111"/>
            <a:chOff x="0" y="0"/>
            <a:chExt cx="7646287" cy="9410815"/>
          </a:xfrm>
        </p:grpSpPr>
        <p:grpSp>
          <p:nvGrpSpPr>
            <p:cNvPr id="633" name="Google Shape;633;p27"/>
            <p:cNvGrpSpPr/>
            <p:nvPr/>
          </p:nvGrpSpPr>
          <p:grpSpPr>
            <a:xfrm>
              <a:off x="0" y="0"/>
              <a:ext cx="7646287" cy="9410815"/>
              <a:chOff x="0" y="0"/>
              <a:chExt cx="660400" cy="812800"/>
            </a:xfrm>
          </p:grpSpPr>
          <p:sp>
            <p:nvSpPr>
              <p:cNvPr id="634" name="Google Shape;634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" name="Google Shape;636;p27"/>
            <p:cNvGrpSpPr/>
            <p:nvPr/>
          </p:nvGrpSpPr>
          <p:grpSpPr>
            <a:xfrm>
              <a:off x="446706" y="549792"/>
              <a:ext cx="6752876" cy="8311232"/>
              <a:chOff x="0" y="0"/>
              <a:chExt cx="660400" cy="812800"/>
            </a:xfrm>
          </p:grpSpPr>
          <p:sp>
            <p:nvSpPr>
              <p:cNvPr id="637" name="Google Shape;637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27"/>
            <p:cNvGrpSpPr/>
            <p:nvPr/>
          </p:nvGrpSpPr>
          <p:grpSpPr>
            <a:xfrm>
              <a:off x="887697" y="1092550"/>
              <a:ext cx="5870893" cy="7225714"/>
              <a:chOff x="0" y="0"/>
              <a:chExt cx="660400" cy="812800"/>
            </a:xfrm>
          </p:grpSpPr>
          <p:sp>
            <p:nvSpPr>
              <p:cNvPr id="640" name="Google Shape;640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25"/>
          <p:cNvPicPr preferRelativeResize="0"/>
          <p:nvPr/>
        </p:nvPicPr>
        <p:blipFill rotWithShape="1">
          <a:blip r:embed="rId3">
            <a:alphaModFix amt="30000"/>
          </a:blip>
          <a:srcRect b="0" l="22066" r="22065" t="0"/>
          <a:stretch/>
        </p:blipFill>
        <p:spPr>
          <a:xfrm>
            <a:off x="0" y="0"/>
            <a:ext cx="8617841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7" name="Google Shape;517;p25"/>
          <p:cNvGrpSpPr/>
          <p:nvPr/>
        </p:nvGrpSpPr>
        <p:grpSpPr>
          <a:xfrm>
            <a:off x="10751424" y="2104491"/>
            <a:ext cx="6507876" cy="3230767"/>
            <a:chOff x="0" y="-38100"/>
            <a:chExt cx="1714009" cy="850900"/>
          </a:xfrm>
        </p:grpSpPr>
        <p:sp>
          <p:nvSpPr>
            <p:cNvPr id="518" name="Google Shape;518;p25"/>
            <p:cNvSpPr/>
            <p:nvPr/>
          </p:nvSpPr>
          <p:spPr>
            <a:xfrm>
              <a:off x="0" y="0"/>
              <a:ext cx="1714009" cy="269897"/>
            </a:xfrm>
            <a:custGeom>
              <a:rect b="b" l="l" r="r" t="t"/>
              <a:pathLst>
                <a:path extrusionOk="0" h="269897" w="1714009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0" name="Google Shape;520;p25"/>
          <p:cNvSpPr txBox="1"/>
          <p:nvPr/>
        </p:nvSpPr>
        <p:spPr>
          <a:xfrm>
            <a:off x="10862786" y="2493599"/>
            <a:ext cx="6285151" cy="46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Medie simplă sau ponderată a probabilităților. Fără reantrenare.</a:t>
            </a:r>
            <a:endParaRPr/>
          </a:p>
        </p:txBody>
      </p:sp>
      <p:sp>
        <p:nvSpPr>
          <p:cNvPr id="521" name="Google Shape;521;p25"/>
          <p:cNvSpPr txBox="1"/>
          <p:nvPr/>
        </p:nvSpPr>
        <p:spPr>
          <a:xfrm>
            <a:off x="614565" y="6335950"/>
            <a:ext cx="8003276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Trei strategii de fuziune</a:t>
            </a:r>
            <a:endParaRPr/>
          </a:p>
        </p:txBody>
      </p:sp>
      <p:grpSp>
        <p:nvGrpSpPr>
          <p:cNvPr id="522" name="Google Shape;522;p25"/>
          <p:cNvGrpSpPr/>
          <p:nvPr/>
        </p:nvGrpSpPr>
        <p:grpSpPr>
          <a:xfrm>
            <a:off x="10751424" y="664791"/>
            <a:ext cx="6507876" cy="3230758"/>
            <a:chOff x="0" y="-38100"/>
            <a:chExt cx="1714009" cy="850900"/>
          </a:xfrm>
        </p:grpSpPr>
        <p:sp>
          <p:nvSpPr>
            <p:cNvPr id="523" name="Google Shape;523;p25"/>
            <p:cNvSpPr/>
            <p:nvPr/>
          </p:nvSpPr>
          <p:spPr>
            <a:xfrm>
              <a:off x="0" y="0"/>
              <a:ext cx="1714009" cy="340474"/>
            </a:xfrm>
            <a:custGeom>
              <a:rect b="b" l="l" r="r" t="t"/>
              <a:pathLst>
                <a:path extrusionOk="0" h="340474" w="1714009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83372"/>
                  </a:lnTo>
                  <a:cubicBezTo>
                    <a:pt x="1714009" y="298516"/>
                    <a:pt x="1707992" y="313040"/>
                    <a:pt x="1697284" y="323749"/>
                  </a:cubicBezTo>
                  <a:cubicBezTo>
                    <a:pt x="1686575" y="334458"/>
                    <a:pt x="1672051" y="340474"/>
                    <a:pt x="1656907" y="340474"/>
                  </a:cubicBezTo>
                  <a:lnTo>
                    <a:pt x="57102" y="340474"/>
                  </a:lnTo>
                  <a:cubicBezTo>
                    <a:pt x="25565" y="340474"/>
                    <a:pt x="0" y="314908"/>
                    <a:pt x="0" y="283372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5" name="Google Shape;525;p25"/>
          <p:cNvGrpSpPr/>
          <p:nvPr/>
        </p:nvGrpSpPr>
        <p:grpSpPr>
          <a:xfrm>
            <a:off x="11431789" y="-307529"/>
            <a:ext cx="5076190" cy="3520080"/>
            <a:chOff x="0" y="-312087"/>
            <a:chExt cx="1336939" cy="927100"/>
          </a:xfrm>
        </p:grpSpPr>
        <p:sp>
          <p:nvSpPr>
            <p:cNvPr id="526" name="Google Shape;526;p25"/>
            <p:cNvSpPr/>
            <p:nvPr/>
          </p:nvSpPr>
          <p:spPr>
            <a:xfrm>
              <a:off x="0" y="0"/>
              <a:ext cx="1296967" cy="321374"/>
            </a:xfrm>
            <a:custGeom>
              <a:rect b="b" l="l" r="r" t="t"/>
              <a:pathLst>
                <a:path extrusionOk="0" h="321374" w="1296967">
                  <a:moveTo>
                    <a:pt x="0" y="0"/>
                  </a:moveTo>
                  <a:lnTo>
                    <a:pt x="1296967" y="0"/>
                  </a:lnTo>
                  <a:lnTo>
                    <a:pt x="1296967" y="321374"/>
                  </a:lnTo>
                  <a:lnTo>
                    <a:pt x="0" y="3213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7" name="Google Shape;527;p25"/>
            <p:cNvSpPr txBox="1"/>
            <p:nvPr/>
          </p:nvSpPr>
          <p:spPr>
            <a:xfrm>
              <a:off x="39972" y="-312087"/>
              <a:ext cx="1296967" cy="9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3F6FA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Fuziune târzie</a:t>
              </a:r>
              <a:endParaRPr/>
            </a:p>
          </p:txBody>
        </p:sp>
      </p:grpSp>
      <p:grpSp>
        <p:nvGrpSpPr>
          <p:cNvPr id="528" name="Google Shape;528;p25"/>
          <p:cNvGrpSpPr/>
          <p:nvPr/>
        </p:nvGrpSpPr>
        <p:grpSpPr>
          <a:xfrm>
            <a:off x="10751424" y="5007107"/>
            <a:ext cx="6507876" cy="3230767"/>
            <a:chOff x="0" y="-38100"/>
            <a:chExt cx="1714009" cy="850900"/>
          </a:xfrm>
        </p:grpSpPr>
        <p:sp>
          <p:nvSpPr>
            <p:cNvPr id="529" name="Google Shape;529;p25"/>
            <p:cNvSpPr/>
            <p:nvPr/>
          </p:nvSpPr>
          <p:spPr>
            <a:xfrm>
              <a:off x="0" y="0"/>
              <a:ext cx="1714009" cy="269897"/>
            </a:xfrm>
            <a:custGeom>
              <a:rect b="b" l="l" r="r" t="t"/>
              <a:pathLst>
                <a:path extrusionOk="0" h="269897" w="1714009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1" name="Google Shape;531;p25"/>
          <p:cNvSpPr txBox="1"/>
          <p:nvPr/>
        </p:nvSpPr>
        <p:spPr>
          <a:xfrm>
            <a:off x="10862786" y="5396215"/>
            <a:ext cx="6285151" cy="46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MLP ușor (~334K) peste reprezentările interne ale rețelelor.</a:t>
            </a:r>
            <a:endParaRPr/>
          </a:p>
        </p:txBody>
      </p:sp>
      <p:grpSp>
        <p:nvGrpSpPr>
          <p:cNvPr id="532" name="Google Shape;532;p25"/>
          <p:cNvGrpSpPr/>
          <p:nvPr/>
        </p:nvGrpSpPr>
        <p:grpSpPr>
          <a:xfrm>
            <a:off x="10751424" y="3567407"/>
            <a:ext cx="6507876" cy="3230758"/>
            <a:chOff x="0" y="-38100"/>
            <a:chExt cx="1714009" cy="850900"/>
          </a:xfrm>
        </p:grpSpPr>
        <p:sp>
          <p:nvSpPr>
            <p:cNvPr id="533" name="Google Shape;533;p25"/>
            <p:cNvSpPr/>
            <p:nvPr/>
          </p:nvSpPr>
          <p:spPr>
            <a:xfrm>
              <a:off x="0" y="0"/>
              <a:ext cx="1714009" cy="340474"/>
            </a:xfrm>
            <a:custGeom>
              <a:rect b="b" l="l" r="r" t="t"/>
              <a:pathLst>
                <a:path extrusionOk="0" h="340474" w="1714009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83372"/>
                  </a:lnTo>
                  <a:cubicBezTo>
                    <a:pt x="1714009" y="298516"/>
                    <a:pt x="1707992" y="313040"/>
                    <a:pt x="1697284" y="323749"/>
                  </a:cubicBezTo>
                  <a:cubicBezTo>
                    <a:pt x="1686575" y="334458"/>
                    <a:pt x="1672051" y="340474"/>
                    <a:pt x="1656907" y="340474"/>
                  </a:cubicBezTo>
                  <a:lnTo>
                    <a:pt x="57102" y="340474"/>
                  </a:lnTo>
                  <a:cubicBezTo>
                    <a:pt x="25565" y="340474"/>
                    <a:pt x="0" y="314908"/>
                    <a:pt x="0" y="283372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5"/>
          <p:cNvGrpSpPr/>
          <p:nvPr/>
        </p:nvGrpSpPr>
        <p:grpSpPr>
          <a:xfrm>
            <a:off x="11431789" y="2608353"/>
            <a:ext cx="5035783" cy="3520080"/>
            <a:chOff x="0" y="-308593"/>
            <a:chExt cx="1326297" cy="927100"/>
          </a:xfrm>
        </p:grpSpPr>
        <p:sp>
          <p:nvSpPr>
            <p:cNvPr id="536" name="Google Shape;536;p25"/>
            <p:cNvSpPr/>
            <p:nvPr/>
          </p:nvSpPr>
          <p:spPr>
            <a:xfrm>
              <a:off x="0" y="0"/>
              <a:ext cx="1296967" cy="321374"/>
            </a:xfrm>
            <a:custGeom>
              <a:rect b="b" l="l" r="r" t="t"/>
              <a:pathLst>
                <a:path extrusionOk="0" h="321374" w="1296967">
                  <a:moveTo>
                    <a:pt x="0" y="0"/>
                  </a:moveTo>
                  <a:lnTo>
                    <a:pt x="1296967" y="0"/>
                  </a:lnTo>
                  <a:lnTo>
                    <a:pt x="1296967" y="321374"/>
                  </a:lnTo>
                  <a:lnTo>
                    <a:pt x="0" y="3213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7" name="Google Shape;537;p25"/>
            <p:cNvSpPr txBox="1"/>
            <p:nvPr/>
          </p:nvSpPr>
          <p:spPr>
            <a:xfrm>
              <a:off x="29330" y="-308593"/>
              <a:ext cx="1296967" cy="9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3F6FA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Fuziune intermediară</a:t>
              </a:r>
              <a:endParaRPr/>
            </a:p>
          </p:txBody>
        </p:sp>
      </p:grpSp>
      <p:grpSp>
        <p:nvGrpSpPr>
          <p:cNvPr id="538" name="Google Shape;538;p25"/>
          <p:cNvGrpSpPr/>
          <p:nvPr/>
        </p:nvGrpSpPr>
        <p:grpSpPr>
          <a:xfrm>
            <a:off x="10751424" y="7909723"/>
            <a:ext cx="6507876" cy="3230767"/>
            <a:chOff x="0" y="-38100"/>
            <a:chExt cx="1714009" cy="850900"/>
          </a:xfrm>
        </p:grpSpPr>
        <p:sp>
          <p:nvSpPr>
            <p:cNvPr id="539" name="Google Shape;539;p25"/>
            <p:cNvSpPr/>
            <p:nvPr/>
          </p:nvSpPr>
          <p:spPr>
            <a:xfrm>
              <a:off x="0" y="0"/>
              <a:ext cx="1714009" cy="269897"/>
            </a:xfrm>
            <a:custGeom>
              <a:rect b="b" l="l" r="r" t="t"/>
              <a:pathLst>
                <a:path extrusionOk="0" h="269897" w="1714009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1" name="Google Shape;541;p25"/>
          <p:cNvSpPr txBox="1"/>
          <p:nvPr/>
        </p:nvSpPr>
        <p:spPr>
          <a:xfrm>
            <a:off x="10862786" y="8298831"/>
            <a:ext cx="6285151" cy="46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Ponderi calculate pentru fiecare exemplu (GMU / Transformer).</a:t>
            </a:r>
            <a:endParaRPr/>
          </a:p>
        </p:txBody>
      </p:sp>
      <p:grpSp>
        <p:nvGrpSpPr>
          <p:cNvPr id="542" name="Google Shape;542;p25"/>
          <p:cNvGrpSpPr/>
          <p:nvPr/>
        </p:nvGrpSpPr>
        <p:grpSpPr>
          <a:xfrm>
            <a:off x="10751424" y="6470023"/>
            <a:ext cx="6507876" cy="3230758"/>
            <a:chOff x="0" y="-38100"/>
            <a:chExt cx="1714009" cy="850900"/>
          </a:xfrm>
        </p:grpSpPr>
        <p:sp>
          <p:nvSpPr>
            <p:cNvPr id="543" name="Google Shape;543;p25"/>
            <p:cNvSpPr/>
            <p:nvPr/>
          </p:nvSpPr>
          <p:spPr>
            <a:xfrm>
              <a:off x="0" y="0"/>
              <a:ext cx="1714009" cy="340474"/>
            </a:xfrm>
            <a:custGeom>
              <a:rect b="b" l="l" r="r" t="t"/>
              <a:pathLst>
                <a:path extrusionOk="0" h="340474" w="1714009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83372"/>
                  </a:lnTo>
                  <a:cubicBezTo>
                    <a:pt x="1714009" y="298516"/>
                    <a:pt x="1707992" y="313040"/>
                    <a:pt x="1697284" y="323749"/>
                  </a:cubicBezTo>
                  <a:cubicBezTo>
                    <a:pt x="1686575" y="334458"/>
                    <a:pt x="1672051" y="340474"/>
                    <a:pt x="1656907" y="340474"/>
                  </a:cubicBezTo>
                  <a:lnTo>
                    <a:pt x="57102" y="340474"/>
                  </a:lnTo>
                  <a:cubicBezTo>
                    <a:pt x="25565" y="340474"/>
                    <a:pt x="0" y="314908"/>
                    <a:pt x="0" y="283372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5" name="Google Shape;545;p25"/>
          <p:cNvGrpSpPr/>
          <p:nvPr/>
        </p:nvGrpSpPr>
        <p:grpSpPr>
          <a:xfrm>
            <a:off x="11431789" y="5532725"/>
            <a:ext cx="5147146" cy="3520080"/>
            <a:chOff x="0" y="-302863"/>
            <a:chExt cx="1355627" cy="927100"/>
          </a:xfrm>
        </p:grpSpPr>
        <p:sp>
          <p:nvSpPr>
            <p:cNvPr id="546" name="Google Shape;546;p25"/>
            <p:cNvSpPr/>
            <p:nvPr/>
          </p:nvSpPr>
          <p:spPr>
            <a:xfrm>
              <a:off x="0" y="0"/>
              <a:ext cx="1296967" cy="321374"/>
            </a:xfrm>
            <a:custGeom>
              <a:rect b="b" l="l" r="r" t="t"/>
              <a:pathLst>
                <a:path extrusionOk="0" h="321374" w="1296967">
                  <a:moveTo>
                    <a:pt x="0" y="0"/>
                  </a:moveTo>
                  <a:lnTo>
                    <a:pt x="1296967" y="0"/>
                  </a:lnTo>
                  <a:lnTo>
                    <a:pt x="1296967" y="321374"/>
                  </a:lnTo>
                  <a:lnTo>
                    <a:pt x="0" y="3213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7" name="Google Shape;547;p25"/>
            <p:cNvSpPr txBox="1"/>
            <p:nvPr/>
          </p:nvSpPr>
          <p:spPr>
            <a:xfrm>
              <a:off x="58660" y="-302863"/>
              <a:ext cx="1296967" cy="9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F3F6FA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Fuziune bazată pe porți</a:t>
              </a:r>
              <a:endParaRPr/>
            </a:p>
          </p:txBody>
        </p:sp>
      </p:grpSp>
      <p:grpSp>
        <p:nvGrpSpPr>
          <p:cNvPr id="548" name="Google Shape;548;p25"/>
          <p:cNvGrpSpPr/>
          <p:nvPr/>
        </p:nvGrpSpPr>
        <p:grpSpPr>
          <a:xfrm rot="10800000">
            <a:off x="-1918964" y="-3067444"/>
            <a:ext cx="5563581" cy="6847485"/>
            <a:chOff x="0" y="0"/>
            <a:chExt cx="660400" cy="812800"/>
          </a:xfrm>
        </p:grpSpPr>
        <p:sp>
          <p:nvSpPr>
            <p:cNvPr id="549" name="Google Shape;549;p25"/>
            <p:cNvSpPr/>
            <p:nvPr/>
          </p:nvSpPr>
          <p:spPr>
            <a:xfrm>
              <a:off x="0" y="0"/>
              <a:ext cx="660400" cy="812800"/>
            </a:xfrm>
            <a:custGeom>
              <a:rect b="b" l="l" r="r" t="t"/>
              <a:pathLst>
                <a:path extrusionOk="0"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B13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5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25"/>
          <p:cNvGrpSpPr/>
          <p:nvPr/>
        </p:nvGrpSpPr>
        <p:grpSpPr>
          <a:xfrm rot="10800000">
            <a:off x="-1593932" y="-2667405"/>
            <a:ext cx="4913519" cy="6047407"/>
            <a:chOff x="0" y="0"/>
            <a:chExt cx="660400" cy="812800"/>
          </a:xfrm>
        </p:grpSpPr>
        <p:sp>
          <p:nvSpPr>
            <p:cNvPr id="552" name="Google Shape;552;p25"/>
            <p:cNvSpPr/>
            <p:nvPr/>
          </p:nvSpPr>
          <p:spPr>
            <a:xfrm>
              <a:off x="0" y="0"/>
              <a:ext cx="660400" cy="812800"/>
            </a:xfrm>
            <a:custGeom>
              <a:rect b="b" l="l" r="r" t="t"/>
              <a:pathLst>
                <a:path extrusionOk="0"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B13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5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" name="Google Shape;554;p25"/>
          <p:cNvGrpSpPr/>
          <p:nvPr/>
        </p:nvGrpSpPr>
        <p:grpSpPr>
          <a:xfrm rot="10800000">
            <a:off x="-1273059" y="-2272484"/>
            <a:ext cx="4271771" cy="5257564"/>
            <a:chOff x="0" y="0"/>
            <a:chExt cx="660400" cy="812800"/>
          </a:xfrm>
        </p:grpSpPr>
        <p:sp>
          <p:nvSpPr>
            <p:cNvPr id="555" name="Google Shape;555;p25"/>
            <p:cNvSpPr/>
            <p:nvPr/>
          </p:nvSpPr>
          <p:spPr>
            <a:xfrm>
              <a:off x="0" y="0"/>
              <a:ext cx="660400" cy="812800"/>
            </a:xfrm>
            <a:custGeom>
              <a:rect b="b" l="l" r="r" t="t"/>
              <a:pathLst>
                <a:path extrusionOk="0"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B13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2" name="Google Shape;1162;p42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9326880" y="2264047"/>
            <a:ext cx="8412480" cy="5347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3" name="Google Shape;1163;p42"/>
          <p:cNvGrpSpPr/>
          <p:nvPr/>
        </p:nvGrpSpPr>
        <p:grpSpPr>
          <a:xfrm>
            <a:off x="514350" y="709899"/>
            <a:ext cx="7754183" cy="3696765"/>
            <a:chOff x="0" y="0"/>
            <a:chExt cx="10338910" cy="4929020"/>
          </a:xfrm>
        </p:grpSpPr>
        <p:sp>
          <p:nvSpPr>
            <p:cNvPr id="1164" name="Google Shape;1164;p42"/>
            <p:cNvSpPr txBox="1"/>
            <p:nvPr/>
          </p:nvSpPr>
          <p:spPr>
            <a:xfrm>
              <a:off x="0" y="0"/>
              <a:ext cx="1033891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400" u="none" cap="none" strike="noStrike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Fuziunea câștigă, dar puțin</a:t>
              </a:r>
              <a:endParaRPr/>
            </a:p>
          </p:txBody>
        </p:sp>
        <p:sp>
          <p:nvSpPr>
            <p:cNvPr id="1165" name="Google Shape;1165;p42"/>
            <p:cNvSpPr txBox="1"/>
            <p:nvPr/>
          </p:nvSpPr>
          <p:spPr>
            <a:xfrm>
              <a:off x="0" y="3416662"/>
              <a:ext cx="7849378" cy="1512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Cel mai bun: fuziune târzie ponderată (complexă) — 45,97% macro-F1 și 63,3% acuratețe, cu +1,7 puncte peste BERT.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1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10421057" y="1188720"/>
            <a:ext cx="5675485" cy="8412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1"/>
          <p:cNvSpPr txBox="1"/>
          <p:nvPr/>
        </p:nvSpPr>
        <p:spPr>
          <a:xfrm>
            <a:off x="1028700" y="3246088"/>
            <a:ext cx="7363108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 xml:space="preserve">Analiza pe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modalități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1028700" y="5894737"/>
            <a:ext cx="56692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Text — cel mai stabil. Audio — ratează clasele rare, iar varianta mică prezice des neutru. Imagine — cea mai afectată de micșorare.</a:t>
            </a:r>
            <a:endParaRPr/>
          </a:p>
        </p:txBody>
      </p:sp>
      <p:grpSp>
        <p:nvGrpSpPr>
          <p:cNvPr id="366" name="Google Shape;366;p21"/>
          <p:cNvGrpSpPr/>
          <p:nvPr/>
        </p:nvGrpSpPr>
        <p:grpSpPr>
          <a:xfrm>
            <a:off x="14353073" y="6880240"/>
            <a:ext cx="6999655" cy="8614961"/>
            <a:chOff x="0" y="0"/>
            <a:chExt cx="9332874" cy="11486614"/>
          </a:xfrm>
        </p:grpSpPr>
        <p:grpSp>
          <p:nvGrpSpPr>
            <p:cNvPr id="367" name="Google Shape;367;p21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68" name="Google Shape;36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21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71" name="Google Shape;37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21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74" name="Google Shape;37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6" name="Google Shape;376;p21"/>
          <p:cNvGrpSpPr/>
          <p:nvPr/>
        </p:nvGrpSpPr>
        <p:grpSpPr>
          <a:xfrm>
            <a:off x="-3548742" y="8354719"/>
            <a:ext cx="6039488" cy="7433216"/>
            <a:chOff x="0" y="0"/>
            <a:chExt cx="8052650" cy="9910954"/>
          </a:xfrm>
        </p:grpSpPr>
        <p:grpSp>
          <p:nvGrpSpPr>
            <p:cNvPr id="377" name="Google Shape;377;p21"/>
            <p:cNvGrpSpPr/>
            <p:nvPr/>
          </p:nvGrpSpPr>
          <p:grpSpPr>
            <a:xfrm>
              <a:off x="0" y="0"/>
              <a:ext cx="8052650" cy="9910954"/>
              <a:chOff x="0" y="0"/>
              <a:chExt cx="660400" cy="812800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21"/>
            <p:cNvGrpSpPr/>
            <p:nvPr/>
          </p:nvGrpSpPr>
          <p:grpSpPr>
            <a:xfrm>
              <a:off x="470446" y="579010"/>
              <a:ext cx="7111758" cy="8752934"/>
              <a:chOff x="0" y="0"/>
              <a:chExt cx="660400" cy="812800"/>
            </a:xfrm>
          </p:grpSpPr>
          <p:sp>
            <p:nvSpPr>
              <p:cNvPr id="381" name="Google Shape;38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21"/>
            <p:cNvGrpSpPr/>
            <p:nvPr/>
          </p:nvGrpSpPr>
          <p:grpSpPr>
            <a:xfrm>
              <a:off x="934874" y="1150614"/>
              <a:ext cx="6182902" cy="7609726"/>
              <a:chOff x="0" y="0"/>
              <a:chExt cx="660400" cy="812800"/>
            </a:xfrm>
          </p:grpSpPr>
          <p:sp>
            <p:nvSpPr>
              <p:cNvPr id="384" name="Google Shape;38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21"/>
          <p:cNvGrpSpPr/>
          <p:nvPr/>
        </p:nvGrpSpPr>
        <p:grpSpPr>
          <a:xfrm rot="10800000">
            <a:off x="7191530" y="-2403040"/>
            <a:ext cx="3904939" cy="4806079"/>
            <a:chOff x="0" y="0"/>
            <a:chExt cx="5206586" cy="6408106"/>
          </a:xfrm>
        </p:grpSpPr>
        <p:grpSp>
          <p:nvGrpSpPr>
            <p:cNvPr id="387" name="Google Shape;387;p21"/>
            <p:cNvGrpSpPr/>
            <p:nvPr/>
          </p:nvGrpSpPr>
          <p:grpSpPr>
            <a:xfrm>
              <a:off x="0" y="0"/>
              <a:ext cx="5206586" cy="6408106"/>
              <a:chOff x="0" y="0"/>
              <a:chExt cx="660400" cy="812800"/>
            </a:xfrm>
          </p:grpSpPr>
          <p:sp>
            <p:nvSpPr>
              <p:cNvPr id="388" name="Google Shape;38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1"/>
            <p:cNvGrpSpPr/>
            <p:nvPr/>
          </p:nvGrpSpPr>
          <p:grpSpPr>
            <a:xfrm>
              <a:off x="304175" y="374370"/>
              <a:ext cx="4598236" cy="5659367"/>
              <a:chOff x="0" y="0"/>
              <a:chExt cx="660400" cy="812800"/>
            </a:xfrm>
          </p:grpSpPr>
          <p:sp>
            <p:nvSpPr>
              <p:cNvPr id="391" name="Google Shape;39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21"/>
            <p:cNvGrpSpPr/>
            <p:nvPr/>
          </p:nvGrpSpPr>
          <p:grpSpPr>
            <a:xfrm>
              <a:off x="604460" y="743950"/>
              <a:ext cx="3997667" cy="4920205"/>
              <a:chOff x="0" y="0"/>
              <a:chExt cx="660400" cy="812800"/>
            </a:xfrm>
          </p:grpSpPr>
          <p:sp>
            <p:nvSpPr>
              <p:cNvPr id="394" name="Google Shape;39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6" name="Google Shape;396;p21"/>
          <p:cNvGrpSpPr/>
          <p:nvPr/>
        </p:nvGrpSpPr>
        <p:grpSpPr>
          <a:xfrm>
            <a:off x="1029612" y="2663965"/>
            <a:ext cx="406823" cy="408647"/>
            <a:chOff x="1813" y="0"/>
            <a:chExt cx="809173" cy="812800"/>
          </a:xfrm>
        </p:grpSpPr>
        <p:sp>
          <p:nvSpPr>
            <p:cNvPr id="397" name="Google Shape;397;p21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1"/>
          <p:cNvGrpSpPr/>
          <p:nvPr/>
        </p:nvGrpSpPr>
        <p:grpSpPr>
          <a:xfrm>
            <a:off x="1593286" y="2663965"/>
            <a:ext cx="406823" cy="408647"/>
            <a:chOff x="1813" y="0"/>
            <a:chExt cx="809173" cy="812800"/>
          </a:xfrm>
        </p:grpSpPr>
        <p:sp>
          <p:nvSpPr>
            <p:cNvPr id="400" name="Google Shape;400;p21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2154334" y="2663965"/>
            <a:ext cx="406823" cy="408647"/>
            <a:chOff x="1813" y="0"/>
            <a:chExt cx="809173" cy="812800"/>
          </a:xfrm>
        </p:grpSpPr>
        <p:sp>
          <p:nvSpPr>
            <p:cNvPr id="403" name="Google Shape;403;p21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24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5505244" y="5852160"/>
            <a:ext cx="7277510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4"/>
          <p:cNvSpPr txBox="1"/>
          <p:nvPr/>
        </p:nvSpPr>
        <p:spPr>
          <a:xfrm>
            <a:off x="1912327" y="1402268"/>
            <a:ext cx="582537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Fuziune: complexă vs. eficientă</a:t>
            </a:r>
            <a:endParaRPr/>
          </a:p>
        </p:txBody>
      </p:sp>
      <p:grpSp>
        <p:nvGrpSpPr>
          <p:cNvPr id="480" name="Google Shape;480;p24"/>
          <p:cNvGrpSpPr/>
          <p:nvPr/>
        </p:nvGrpSpPr>
        <p:grpSpPr>
          <a:xfrm>
            <a:off x="8480825" y="3975743"/>
            <a:ext cx="4364549" cy="1541324"/>
            <a:chOff x="0" y="0"/>
            <a:chExt cx="5819400" cy="2055099"/>
          </a:xfrm>
        </p:grpSpPr>
        <p:sp>
          <p:nvSpPr>
            <p:cNvPr id="481" name="Google Shape;481;p24"/>
            <p:cNvSpPr txBox="1"/>
            <p:nvPr/>
          </p:nvSpPr>
          <p:spPr>
            <a:xfrm>
              <a:off x="0" y="0"/>
              <a:ext cx="58194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B1320"/>
                  </a:solidFill>
                </a:rPr>
                <a:t>Ponderată &gt; medie</a:t>
              </a:r>
              <a:endParaRPr b="1"/>
            </a:p>
          </p:txBody>
        </p:sp>
        <p:sp>
          <p:nvSpPr>
            <p:cNvPr id="482" name="Google Shape;482;p24"/>
            <p:cNvSpPr txBox="1"/>
            <p:nvPr/>
          </p:nvSpPr>
          <p:spPr>
            <a:xfrm>
              <a:off x="0" y="1020794"/>
              <a:ext cx="5819390" cy="1034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Reduce zgomotul din audio și imagine.</a:t>
              </a:r>
              <a:endParaRPr/>
            </a:p>
          </p:txBody>
        </p:sp>
      </p:grpSp>
      <p:grpSp>
        <p:nvGrpSpPr>
          <p:cNvPr id="483" name="Google Shape;483;p24"/>
          <p:cNvGrpSpPr/>
          <p:nvPr/>
        </p:nvGrpSpPr>
        <p:grpSpPr>
          <a:xfrm>
            <a:off x="13277552" y="3975743"/>
            <a:ext cx="4364549" cy="1541324"/>
            <a:chOff x="0" y="0"/>
            <a:chExt cx="5819400" cy="2055099"/>
          </a:xfrm>
        </p:grpSpPr>
        <p:sp>
          <p:nvSpPr>
            <p:cNvPr id="484" name="Google Shape;484;p24"/>
            <p:cNvSpPr txBox="1"/>
            <p:nvPr/>
          </p:nvSpPr>
          <p:spPr>
            <a:xfrm>
              <a:off x="0" y="0"/>
              <a:ext cx="58194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B1320"/>
                  </a:solidFill>
                </a:rPr>
                <a:t>Nu e magie</a:t>
              </a:r>
              <a:endParaRPr b="1"/>
            </a:p>
          </p:txBody>
        </p:sp>
        <p:sp>
          <p:nvSpPr>
            <p:cNvPr id="485" name="Google Shape;485;p24"/>
            <p:cNvSpPr txBox="1"/>
            <p:nvPr/>
          </p:nvSpPr>
          <p:spPr>
            <a:xfrm>
              <a:off x="0" y="1020794"/>
              <a:ext cx="5819390" cy="1034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O modalitate slabă trebuie estompată.</a:t>
              </a:r>
              <a:endParaRPr/>
            </a:p>
          </p:txBody>
        </p:sp>
      </p:grpSp>
      <p:grpSp>
        <p:nvGrpSpPr>
          <p:cNvPr id="486" name="Google Shape;486;p24"/>
          <p:cNvGrpSpPr/>
          <p:nvPr/>
        </p:nvGrpSpPr>
        <p:grpSpPr>
          <a:xfrm>
            <a:off x="8480825" y="1755060"/>
            <a:ext cx="4364549" cy="1541324"/>
            <a:chOff x="0" y="0"/>
            <a:chExt cx="5819400" cy="2055099"/>
          </a:xfrm>
        </p:grpSpPr>
        <p:sp>
          <p:nvSpPr>
            <p:cNvPr id="487" name="Google Shape;487;p24"/>
            <p:cNvSpPr txBox="1"/>
            <p:nvPr/>
          </p:nvSpPr>
          <p:spPr>
            <a:xfrm>
              <a:off x="0" y="0"/>
              <a:ext cx="58194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B1320"/>
                  </a:solidFill>
                </a:rPr>
                <a:t>Complexă = stabilă</a:t>
              </a:r>
              <a:endParaRPr b="1"/>
            </a:p>
          </p:txBody>
        </p:sp>
        <p:sp>
          <p:nvSpPr>
            <p:cNvPr id="488" name="Google Shape;488;p24"/>
            <p:cNvSpPr txBox="1"/>
            <p:nvPr/>
          </p:nvSpPr>
          <p:spPr>
            <a:xfrm>
              <a:off x="0" y="1020794"/>
              <a:ext cx="5819390" cy="1034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Diagonală mai fermă pe clasele rare.</a:t>
              </a:r>
              <a:endParaRPr/>
            </a:p>
          </p:txBody>
        </p:sp>
      </p:grpSp>
      <p:grpSp>
        <p:nvGrpSpPr>
          <p:cNvPr id="489" name="Google Shape;489;p24"/>
          <p:cNvGrpSpPr/>
          <p:nvPr/>
        </p:nvGrpSpPr>
        <p:grpSpPr>
          <a:xfrm>
            <a:off x="13277552" y="1755060"/>
            <a:ext cx="4364549" cy="1541324"/>
            <a:chOff x="0" y="0"/>
            <a:chExt cx="5819400" cy="2055099"/>
          </a:xfrm>
        </p:grpSpPr>
        <p:sp>
          <p:nvSpPr>
            <p:cNvPr id="490" name="Google Shape;490;p24"/>
            <p:cNvSpPr txBox="1"/>
            <p:nvPr/>
          </p:nvSpPr>
          <p:spPr>
            <a:xfrm>
              <a:off x="0" y="0"/>
              <a:ext cx="58194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B1320"/>
                  </a:solidFill>
                </a:rPr>
                <a:t>Eficientă e competitivă</a:t>
              </a:r>
              <a:endParaRPr b="1"/>
            </a:p>
          </p:txBody>
        </p:sp>
        <p:sp>
          <p:nvSpPr>
            <p:cNvPr id="491" name="Google Shape;491;p24"/>
            <p:cNvSpPr txBox="1"/>
            <p:nvPr/>
          </p:nvSpPr>
          <p:spPr>
            <a:xfrm>
              <a:off x="0" y="1020794"/>
              <a:ext cx="5819390" cy="1034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B1320"/>
                  </a:solidFill>
                  <a:latin typeface="Roboto"/>
                  <a:ea typeface="Roboto"/>
                  <a:cs typeface="Roboto"/>
                  <a:sym typeface="Roboto"/>
                </a:rPr>
                <a:t xml:space="preserve">Rezultate apropiate, la cost mult mai mic.</a:t>
              </a:r>
              <a:endParaRPr/>
            </a:p>
          </p:txBody>
        </p:sp>
      </p:grpSp>
      <p:cxnSp>
        <p:nvCxnSpPr>
          <p:cNvPr id="492" name="Google Shape;492;p24"/>
          <p:cNvCxnSpPr/>
          <p:nvPr/>
        </p:nvCxnSpPr>
        <p:spPr>
          <a:xfrm>
            <a:off x="1912327" y="874461"/>
            <a:ext cx="13312135" cy="0"/>
          </a:xfrm>
          <a:prstGeom prst="straightConnector1">
            <a:avLst/>
          </a:prstGeom>
          <a:noFill/>
          <a:ln cap="flat" cmpd="sng" w="38100">
            <a:solidFill>
              <a:srgbClr val="0B132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3" name="Google Shape;493;p24"/>
          <p:cNvGrpSpPr/>
          <p:nvPr/>
        </p:nvGrpSpPr>
        <p:grpSpPr>
          <a:xfrm>
            <a:off x="16109637" y="670137"/>
            <a:ext cx="406823" cy="408647"/>
            <a:chOff x="1813" y="0"/>
            <a:chExt cx="809173" cy="812800"/>
          </a:xfrm>
        </p:grpSpPr>
        <p:sp>
          <p:nvSpPr>
            <p:cNvPr id="494" name="Google Shape;494;p2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24"/>
          <p:cNvGrpSpPr/>
          <p:nvPr/>
        </p:nvGrpSpPr>
        <p:grpSpPr>
          <a:xfrm>
            <a:off x="16673311" y="670137"/>
            <a:ext cx="406823" cy="408647"/>
            <a:chOff x="1813" y="0"/>
            <a:chExt cx="809173" cy="812800"/>
          </a:xfrm>
        </p:grpSpPr>
        <p:sp>
          <p:nvSpPr>
            <p:cNvPr id="497" name="Google Shape;497;p2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24"/>
          <p:cNvGrpSpPr/>
          <p:nvPr/>
        </p:nvGrpSpPr>
        <p:grpSpPr>
          <a:xfrm>
            <a:off x="17234359" y="670137"/>
            <a:ext cx="406823" cy="408647"/>
            <a:chOff x="1813" y="0"/>
            <a:chExt cx="809173" cy="812800"/>
          </a:xfrm>
        </p:grpSpPr>
        <p:sp>
          <p:nvSpPr>
            <p:cNvPr id="500" name="Google Shape;500;p2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24"/>
          <p:cNvGrpSpPr/>
          <p:nvPr/>
        </p:nvGrpSpPr>
        <p:grpSpPr>
          <a:xfrm>
            <a:off x="-3499828" y="5979520"/>
            <a:ext cx="6999655" cy="8614961"/>
            <a:chOff x="0" y="0"/>
            <a:chExt cx="9332874" cy="11486614"/>
          </a:xfrm>
        </p:grpSpPr>
        <p:grpSp>
          <p:nvGrpSpPr>
            <p:cNvPr id="503" name="Google Shape;503;p24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504" name="Google Shape;504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24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507" name="Google Shape;507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24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510" name="Google Shape;510;p2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34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8439523" y="320040"/>
            <a:ext cx="8541272" cy="4617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34"/>
          <p:cNvPicPr preferRelativeResize="0"/>
          <p:nvPr/>
        </p:nvPicPr>
        <p:blipFill rotWithShape="1">
          <a:blip r:embed="rId4">
            <a:alphaModFix/>
          </a:blip>
          <a:stretch/>
        </p:blipFill>
        <p:spPr>
          <a:xfrm>
            <a:off x="8495454" y="5257800"/>
            <a:ext cx="8429410" cy="46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34"/>
          <p:cNvSpPr txBox="1"/>
          <p:nvPr/>
        </p:nvSpPr>
        <p:spPr>
          <a:xfrm>
            <a:off x="533304" y="8589645"/>
            <a:ext cx="5334000" cy="1261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Explicabilitate: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ce „văd” modelele</a:t>
            </a:r>
            <a:endParaRPr/>
          </a:p>
        </p:txBody>
      </p:sp>
      <p:cxnSp>
        <p:nvCxnSpPr>
          <p:cNvPr id="827" name="Google Shape;827;p34"/>
          <p:cNvCxnSpPr/>
          <p:nvPr/>
        </p:nvCxnSpPr>
        <p:spPr>
          <a:xfrm>
            <a:off x="533304" y="8105343"/>
            <a:ext cx="5334000" cy="0"/>
          </a:xfrm>
          <a:prstGeom prst="straightConnector1">
            <a:avLst/>
          </a:prstGeom>
          <a:noFill/>
          <a:ln cap="flat" cmpd="sng" w="38100">
            <a:solidFill>
              <a:srgbClr val="0B132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8" name="Google Shape;828;p34"/>
          <p:cNvGrpSpPr/>
          <p:nvPr/>
        </p:nvGrpSpPr>
        <p:grpSpPr>
          <a:xfrm rot="10800000">
            <a:off x="-2277889" y="-1858514"/>
            <a:ext cx="6613177" cy="8139295"/>
            <a:chOff x="0" y="0"/>
            <a:chExt cx="8817569" cy="10852393"/>
          </a:xfrm>
        </p:grpSpPr>
        <p:grpSp>
          <p:nvGrpSpPr>
            <p:cNvPr id="829" name="Google Shape;829;p34"/>
            <p:cNvGrpSpPr/>
            <p:nvPr/>
          </p:nvGrpSpPr>
          <p:grpSpPr>
            <a:xfrm>
              <a:off x="0" y="0"/>
              <a:ext cx="8817569" cy="10852393"/>
              <a:chOff x="0" y="0"/>
              <a:chExt cx="660400" cy="812800"/>
            </a:xfrm>
          </p:grpSpPr>
          <p:sp>
            <p:nvSpPr>
              <p:cNvPr id="830" name="Google Shape;830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2" name="Google Shape;832;p34"/>
            <p:cNvGrpSpPr/>
            <p:nvPr/>
          </p:nvGrpSpPr>
          <p:grpSpPr>
            <a:xfrm>
              <a:off x="515133" y="634010"/>
              <a:ext cx="7787303" cy="9584373"/>
              <a:chOff x="0" y="0"/>
              <a:chExt cx="660400" cy="812800"/>
            </a:xfrm>
          </p:grpSpPr>
          <p:sp>
            <p:nvSpPr>
              <p:cNvPr id="833" name="Google Shape;833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5" name="Google Shape;835;p34"/>
            <p:cNvGrpSpPr/>
            <p:nvPr/>
          </p:nvGrpSpPr>
          <p:grpSpPr>
            <a:xfrm>
              <a:off x="1023677" y="1259911"/>
              <a:ext cx="6770215" cy="8332572"/>
              <a:chOff x="0" y="0"/>
              <a:chExt cx="660400" cy="812800"/>
            </a:xfrm>
          </p:grpSpPr>
          <p:sp>
            <p:nvSpPr>
              <p:cNvPr id="836" name="Google Shape;836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8" name="Google Shape;838;p34"/>
          <p:cNvGrpSpPr/>
          <p:nvPr/>
        </p:nvGrpSpPr>
        <p:grpSpPr>
          <a:xfrm>
            <a:off x="16344503" y="3645603"/>
            <a:ext cx="6613177" cy="8139295"/>
            <a:chOff x="0" y="0"/>
            <a:chExt cx="8817569" cy="10852393"/>
          </a:xfrm>
        </p:grpSpPr>
        <p:grpSp>
          <p:nvGrpSpPr>
            <p:cNvPr id="839" name="Google Shape;839;p34"/>
            <p:cNvGrpSpPr/>
            <p:nvPr/>
          </p:nvGrpSpPr>
          <p:grpSpPr>
            <a:xfrm>
              <a:off x="0" y="0"/>
              <a:ext cx="8817569" cy="10852393"/>
              <a:chOff x="0" y="0"/>
              <a:chExt cx="660400" cy="812800"/>
            </a:xfrm>
          </p:grpSpPr>
          <p:sp>
            <p:nvSpPr>
              <p:cNvPr id="840" name="Google Shape;840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2" name="Google Shape;842;p34"/>
            <p:cNvGrpSpPr/>
            <p:nvPr/>
          </p:nvGrpSpPr>
          <p:grpSpPr>
            <a:xfrm>
              <a:off x="515133" y="634010"/>
              <a:ext cx="7787303" cy="9584373"/>
              <a:chOff x="0" y="0"/>
              <a:chExt cx="660400" cy="812800"/>
            </a:xfrm>
          </p:grpSpPr>
          <p:sp>
            <p:nvSpPr>
              <p:cNvPr id="843" name="Google Shape;843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5" name="Google Shape;845;p34"/>
            <p:cNvGrpSpPr/>
            <p:nvPr/>
          </p:nvGrpSpPr>
          <p:grpSpPr>
            <a:xfrm>
              <a:off x="1023677" y="1259911"/>
              <a:ext cx="6770215" cy="8332572"/>
              <a:chOff x="0" y="0"/>
              <a:chExt cx="660400" cy="812800"/>
            </a:xfrm>
          </p:grpSpPr>
          <p:sp>
            <p:nvSpPr>
              <p:cNvPr id="846" name="Google Shape;846;p34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4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8" name="Google Shape;848;p34"/>
          <p:cNvGrpSpPr/>
          <p:nvPr/>
        </p:nvGrpSpPr>
        <p:grpSpPr>
          <a:xfrm>
            <a:off x="6701827" y="4939176"/>
            <a:ext cx="406823" cy="408647"/>
            <a:chOff x="1813" y="0"/>
            <a:chExt cx="809173" cy="812800"/>
          </a:xfrm>
        </p:grpSpPr>
        <p:sp>
          <p:nvSpPr>
            <p:cNvPr id="849" name="Google Shape;849;p3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1" name="Google Shape;851;p34"/>
          <p:cNvGrpSpPr/>
          <p:nvPr/>
        </p:nvGrpSpPr>
        <p:grpSpPr>
          <a:xfrm>
            <a:off x="7265502" y="4939176"/>
            <a:ext cx="406823" cy="408647"/>
            <a:chOff x="1813" y="0"/>
            <a:chExt cx="809173" cy="812800"/>
          </a:xfrm>
        </p:grpSpPr>
        <p:sp>
          <p:nvSpPr>
            <p:cNvPr id="852" name="Google Shape;852;p3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4" name="Google Shape;854;p34"/>
          <p:cNvGrpSpPr/>
          <p:nvPr/>
        </p:nvGrpSpPr>
        <p:grpSpPr>
          <a:xfrm>
            <a:off x="7826549" y="4939176"/>
            <a:ext cx="406823" cy="408647"/>
            <a:chOff x="1813" y="0"/>
            <a:chExt cx="809173" cy="812800"/>
          </a:xfrm>
        </p:grpSpPr>
        <p:sp>
          <p:nvSpPr>
            <p:cNvPr id="855" name="Google Shape;855;p3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30"/>
          <p:cNvPicPr preferRelativeResize="0"/>
          <p:nvPr/>
        </p:nvPicPr>
        <p:blipFill rotWithShape="1">
          <a:blip r:embed="rId3">
            <a:alphaModFix/>
          </a:blip>
          <a:srcRect b="25641" l="0" r="0" t="25641"/>
          <a:stretch/>
        </p:blipFill>
        <p:spPr>
          <a:xfrm>
            <a:off x="0" y="0"/>
            <a:ext cx="18288000" cy="5941314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30"/>
          <p:cNvSpPr txBox="1"/>
          <p:nvPr/>
        </p:nvSpPr>
        <p:spPr>
          <a:xfrm>
            <a:off x="336219" y="8415618"/>
            <a:ext cx="522833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timpul de inferență al DistilBERT, la 93% din acuratețea BERT</a:t>
            </a:r>
            <a:endParaRPr/>
          </a:p>
        </p:txBody>
      </p:sp>
      <p:grpSp>
        <p:nvGrpSpPr>
          <p:cNvPr id="721" name="Google Shape;721;p30"/>
          <p:cNvGrpSpPr/>
          <p:nvPr/>
        </p:nvGrpSpPr>
        <p:grpSpPr>
          <a:xfrm>
            <a:off x="243948" y="5188971"/>
            <a:ext cx="5857395" cy="4062560"/>
            <a:chOff x="0" y="-257175"/>
            <a:chExt cx="1542688" cy="1069975"/>
          </a:xfrm>
        </p:grpSpPr>
        <p:sp>
          <p:nvSpPr>
            <p:cNvPr id="722" name="Google Shape;722;p30"/>
            <p:cNvSpPr/>
            <p:nvPr/>
          </p:nvSpPr>
          <p:spPr>
            <a:xfrm>
              <a:off x="0" y="0"/>
              <a:ext cx="1377009" cy="597659"/>
            </a:xfrm>
            <a:custGeom>
              <a:rect b="b" l="l" r="r" t="t"/>
              <a:pathLst>
                <a:path extrusionOk="0" h="597659" w="1377009">
                  <a:moveTo>
                    <a:pt x="0" y="0"/>
                  </a:moveTo>
                  <a:lnTo>
                    <a:pt x="1377009" y="0"/>
                  </a:lnTo>
                  <a:lnTo>
                    <a:pt x="1377009" y="597659"/>
                  </a:lnTo>
                  <a:lnTo>
                    <a:pt x="0" y="597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23" name="Google Shape;723;p30"/>
            <p:cNvSpPr txBox="1"/>
            <p:nvPr/>
          </p:nvSpPr>
          <p:spPr>
            <a:xfrm>
              <a:off x="0" y="-257175"/>
              <a:ext cx="1542688" cy="1069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0" u="none" cap="none" strike="noStrike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~½</a:t>
              </a:r>
              <a:endParaRPr/>
            </a:p>
          </p:txBody>
        </p:sp>
      </p:grpSp>
      <p:grpSp>
        <p:nvGrpSpPr>
          <p:cNvPr id="724" name="Google Shape;724;p30"/>
          <p:cNvGrpSpPr/>
          <p:nvPr/>
        </p:nvGrpSpPr>
        <p:grpSpPr>
          <a:xfrm>
            <a:off x="6694647" y="5188971"/>
            <a:ext cx="4226270" cy="4062560"/>
            <a:chOff x="0" y="-257175"/>
            <a:chExt cx="1113092" cy="1069975"/>
          </a:xfrm>
        </p:grpSpPr>
        <p:sp>
          <p:nvSpPr>
            <p:cNvPr id="725" name="Google Shape;725;p30"/>
            <p:cNvSpPr/>
            <p:nvPr/>
          </p:nvSpPr>
          <p:spPr>
            <a:xfrm>
              <a:off x="0" y="0"/>
              <a:ext cx="1113092" cy="597659"/>
            </a:xfrm>
            <a:custGeom>
              <a:rect b="b" l="l" r="r" t="t"/>
              <a:pathLst>
                <a:path extrusionOk="0" h="597659" w="1113092">
                  <a:moveTo>
                    <a:pt x="0" y="0"/>
                  </a:moveTo>
                  <a:lnTo>
                    <a:pt x="1113092" y="0"/>
                  </a:lnTo>
                  <a:lnTo>
                    <a:pt x="1113092" y="597659"/>
                  </a:lnTo>
                  <a:lnTo>
                    <a:pt x="0" y="597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26" name="Google Shape;726;p30"/>
            <p:cNvSpPr txBox="1"/>
            <p:nvPr/>
          </p:nvSpPr>
          <p:spPr>
            <a:xfrm>
              <a:off x="0" y="-257175"/>
              <a:ext cx="812800" cy="1069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0" u="none" cap="none" strike="noStrike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3×</a:t>
              </a:r>
              <a:endParaRPr/>
            </a:p>
          </p:txBody>
        </p:sp>
      </p:grpSp>
      <p:grpSp>
        <p:nvGrpSpPr>
          <p:cNvPr id="727" name="Google Shape;727;p30"/>
          <p:cNvGrpSpPr/>
          <p:nvPr/>
        </p:nvGrpSpPr>
        <p:grpSpPr>
          <a:xfrm>
            <a:off x="11853182" y="5143499"/>
            <a:ext cx="6098599" cy="4062560"/>
            <a:chOff x="-51994" y="-270031"/>
            <a:chExt cx="1606215" cy="1069975"/>
          </a:xfrm>
        </p:grpSpPr>
        <p:sp>
          <p:nvSpPr>
            <p:cNvPr id="728" name="Google Shape;728;p30"/>
            <p:cNvSpPr/>
            <p:nvPr/>
          </p:nvSpPr>
          <p:spPr>
            <a:xfrm>
              <a:off x="0" y="0"/>
              <a:ext cx="1554221" cy="597659"/>
            </a:xfrm>
            <a:custGeom>
              <a:rect b="b" l="l" r="r" t="t"/>
              <a:pathLst>
                <a:path extrusionOk="0" h="597659" w="1554221">
                  <a:moveTo>
                    <a:pt x="0" y="0"/>
                  </a:moveTo>
                  <a:lnTo>
                    <a:pt x="1554221" y="0"/>
                  </a:lnTo>
                  <a:lnTo>
                    <a:pt x="1554221" y="597659"/>
                  </a:lnTo>
                  <a:lnTo>
                    <a:pt x="0" y="5976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29" name="Google Shape;729;p30"/>
            <p:cNvSpPr txBox="1"/>
            <p:nvPr/>
          </p:nvSpPr>
          <p:spPr>
            <a:xfrm>
              <a:off x="-51994" y="-270031"/>
              <a:ext cx="1597629" cy="1069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0" u="none" cap="none" strike="noStrike">
                  <a:solidFill>
                    <a:srgbClr val="0B1320"/>
                  </a:solidFill>
                  <a:latin typeface="Playfair Display Black"/>
                  <a:ea typeface="Playfair Display Black"/>
                  <a:cs typeface="Playfair Display Black"/>
                  <a:sym typeface="Playfair Display Black"/>
                </a:rPr>
                <a:t>0,48 ms</a:t>
              </a:r>
              <a:endParaRPr/>
            </a:p>
          </p:txBody>
        </p:sp>
      </p:grpSp>
      <p:grpSp>
        <p:nvGrpSpPr>
          <p:cNvPr id="730" name="Google Shape;730;p30"/>
          <p:cNvGrpSpPr/>
          <p:nvPr/>
        </p:nvGrpSpPr>
        <p:grpSpPr>
          <a:xfrm>
            <a:off x="0" y="-216991"/>
            <a:ext cx="18287996" cy="6158305"/>
            <a:chOff x="0" y="-57150"/>
            <a:chExt cx="4816592" cy="1621941"/>
          </a:xfrm>
        </p:grpSpPr>
        <p:sp>
          <p:nvSpPr>
            <p:cNvPr id="731" name="Google Shape;731;p30"/>
            <p:cNvSpPr/>
            <p:nvPr/>
          </p:nvSpPr>
          <p:spPr>
            <a:xfrm>
              <a:off x="0" y="0"/>
              <a:ext cx="4816592" cy="1564791"/>
            </a:xfrm>
            <a:custGeom>
              <a:rect b="b" l="l" r="r" t="t"/>
              <a:pathLst>
                <a:path extrusionOk="0" h="15647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64791"/>
                  </a:lnTo>
                  <a:lnTo>
                    <a:pt x="0" y="1564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32" name="Google Shape;732;p30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3" name="Google Shape;733;p30"/>
          <p:cNvSpPr txBox="1"/>
          <p:nvPr/>
        </p:nvSpPr>
        <p:spPr>
          <a:xfrm>
            <a:off x="6193616" y="8418959"/>
            <a:ext cx="522833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mai rapid DistilHuBERT decât wav2vec2, cu energie proporțional mai mică</a:t>
            </a:r>
            <a:endParaRPr/>
          </a:p>
        </p:txBody>
      </p:sp>
      <p:sp>
        <p:nvSpPr>
          <p:cNvPr id="734" name="Google Shape;734;p30"/>
          <p:cNvSpPr txBox="1"/>
          <p:nvPr/>
        </p:nvSpPr>
        <p:spPr>
          <a:xfrm>
            <a:off x="12050597" y="8418959"/>
            <a:ext cx="522833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MobileNetV3 față de 15 ms la ViT — dar peste 5 puncte sub el la acuratețe</a:t>
            </a:r>
            <a:endParaRPr/>
          </a:p>
        </p:txBody>
      </p:sp>
      <p:grpSp>
        <p:nvGrpSpPr>
          <p:cNvPr id="735" name="Google Shape;735;p30"/>
          <p:cNvGrpSpPr/>
          <p:nvPr/>
        </p:nvGrpSpPr>
        <p:grpSpPr>
          <a:xfrm rot="10800000">
            <a:off x="14695973" y="-1752539"/>
            <a:ext cx="3255809" cy="4007149"/>
            <a:chOff x="0" y="0"/>
            <a:chExt cx="660400" cy="812800"/>
          </a:xfrm>
        </p:grpSpPr>
        <p:sp>
          <p:nvSpPr>
            <p:cNvPr id="736" name="Google Shape;736;p30"/>
            <p:cNvSpPr/>
            <p:nvPr/>
          </p:nvSpPr>
          <p:spPr>
            <a:xfrm>
              <a:off x="0" y="0"/>
              <a:ext cx="660400" cy="812800"/>
            </a:xfrm>
            <a:custGeom>
              <a:rect b="b" l="l" r="r" t="t"/>
              <a:pathLst>
                <a:path extrusionOk="0"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F3F6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0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8" name="Google Shape;738;p30"/>
          <p:cNvGrpSpPr/>
          <p:nvPr/>
        </p:nvGrpSpPr>
        <p:grpSpPr>
          <a:xfrm rot="10800000">
            <a:off x="14886181" y="-1518437"/>
            <a:ext cx="2875392" cy="3538944"/>
            <a:chOff x="0" y="0"/>
            <a:chExt cx="660400" cy="812800"/>
          </a:xfrm>
        </p:grpSpPr>
        <p:sp>
          <p:nvSpPr>
            <p:cNvPr id="739" name="Google Shape;739;p30"/>
            <p:cNvSpPr/>
            <p:nvPr/>
          </p:nvSpPr>
          <p:spPr>
            <a:xfrm>
              <a:off x="0" y="0"/>
              <a:ext cx="660400" cy="812800"/>
            </a:xfrm>
            <a:custGeom>
              <a:rect b="b" l="l" r="r" t="t"/>
              <a:pathLst>
                <a:path extrusionOk="0"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F3F6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0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1" name="Google Shape;741;p30"/>
          <p:cNvGrpSpPr/>
          <p:nvPr/>
        </p:nvGrpSpPr>
        <p:grpSpPr>
          <a:xfrm rot="10800000">
            <a:off x="15073957" y="-1287328"/>
            <a:ext cx="2499841" cy="3076728"/>
            <a:chOff x="0" y="0"/>
            <a:chExt cx="660400" cy="812800"/>
          </a:xfrm>
        </p:grpSpPr>
        <p:sp>
          <p:nvSpPr>
            <p:cNvPr id="742" name="Google Shape;742;p30"/>
            <p:cNvSpPr/>
            <p:nvPr/>
          </p:nvSpPr>
          <p:spPr>
            <a:xfrm>
              <a:off x="0" y="0"/>
              <a:ext cx="660400" cy="812800"/>
            </a:xfrm>
            <a:custGeom>
              <a:rect b="b" l="l" r="r" t="t"/>
              <a:pathLst>
                <a:path extrusionOk="0"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F3F6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0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"/>
          <p:cNvSpPr txBox="1"/>
          <p:nvPr/>
        </p:nvSpPr>
        <p:spPr>
          <a:xfrm>
            <a:off x="1028700" y="457200"/>
            <a:ext cx="1623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Concluzii și direcții viitoare</a:t>
            </a:r>
            <a:endParaRPr/>
          </a:p>
        </p:txBody>
      </p:sp>
      <p:grpSp>
        <p:nvGrpSpPr>
          <p:cNvPr id="601" name="Google Shape;601;p27"/>
          <p:cNvGrpSpPr/>
          <p:nvPr/>
        </p:nvGrpSpPr>
        <p:grpSpPr>
          <a:xfrm>
            <a:off x="2030534" y="2348199"/>
            <a:ext cx="14226933" cy="6910101"/>
            <a:chOff x="0" y="-38100"/>
            <a:chExt cx="4068654" cy="1976168"/>
          </a:xfrm>
        </p:grpSpPr>
        <p:sp>
          <p:nvSpPr>
            <p:cNvPr id="602" name="Google Shape;602;p27"/>
            <p:cNvSpPr/>
            <p:nvPr/>
          </p:nvSpPr>
          <p:spPr>
            <a:xfrm>
              <a:off x="0" y="0"/>
              <a:ext cx="4068654" cy="1938068"/>
            </a:xfrm>
            <a:custGeom>
              <a:rect b="b" l="l" r="r" t="t"/>
              <a:pathLst>
                <a:path extrusionOk="0" h="1938068" w="4068654">
                  <a:moveTo>
                    <a:pt x="26120" y="0"/>
                  </a:moveTo>
                  <a:lnTo>
                    <a:pt x="4042533" y="0"/>
                  </a:lnTo>
                  <a:cubicBezTo>
                    <a:pt x="4056959" y="0"/>
                    <a:pt x="4068654" y="11694"/>
                    <a:pt x="4068654" y="26120"/>
                  </a:cubicBezTo>
                  <a:lnTo>
                    <a:pt x="4068654" y="1911948"/>
                  </a:lnTo>
                  <a:cubicBezTo>
                    <a:pt x="4068654" y="1926374"/>
                    <a:pt x="4056959" y="1938068"/>
                    <a:pt x="4042533" y="1938068"/>
                  </a:cubicBezTo>
                  <a:lnTo>
                    <a:pt x="26120" y="1938068"/>
                  </a:lnTo>
                  <a:cubicBezTo>
                    <a:pt x="11694" y="1938068"/>
                    <a:pt x="0" y="1926374"/>
                    <a:pt x="0" y="1911948"/>
                  </a:cubicBezTo>
                  <a:lnTo>
                    <a:pt x="0" y="26120"/>
                  </a:lnTo>
                  <a:cubicBezTo>
                    <a:pt x="0" y="11694"/>
                    <a:pt x="11694" y="0"/>
                    <a:pt x="261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4" name="Google Shape;604;p27"/>
          <p:cNvSpPr txBox="1"/>
          <p:nvPr/>
        </p:nvSpPr>
        <p:spPr>
          <a:xfrm>
            <a:off x="3145771" y="3205201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Textul domină</a:t>
            </a:r>
            <a:endParaRPr/>
          </a:p>
        </p:txBody>
      </p:sp>
      <p:sp>
        <p:nvSpPr>
          <p:cNvPr id="605" name="Google Shape;605;p27"/>
          <p:cNvSpPr txBox="1"/>
          <p:nvPr/>
        </p:nvSpPr>
        <p:spPr>
          <a:xfrm>
            <a:off x="9062177" y="3157576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cel mai puternic semnal; audio și fața rămân dificile din cauza zgomotului.</a:t>
            </a:r>
            <a:endParaRPr/>
          </a:p>
        </p:txBody>
      </p:sp>
      <p:sp>
        <p:nvSpPr>
          <p:cNvPr id="606" name="Google Shape;606;p27"/>
          <p:cNvSpPr txBox="1"/>
          <p:nvPr/>
        </p:nvSpPr>
        <p:spPr>
          <a:xfrm>
            <a:off x="3145771" y="4185870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Fuziunea ajută</a:t>
            </a:r>
            <a:endParaRPr/>
          </a:p>
        </p:txBody>
      </p:sp>
      <p:sp>
        <p:nvSpPr>
          <p:cNvPr id="607" name="Google Shape;607;p27"/>
          <p:cNvSpPr txBox="1"/>
          <p:nvPr/>
        </p:nvSpPr>
        <p:spPr>
          <a:xfrm>
            <a:off x="9062177" y="4138245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combinarea modalităților îmbunătățește clar rezultatele — sunt complementare.</a:t>
            </a:r>
            <a:endParaRPr/>
          </a:p>
        </p:txBody>
      </p:sp>
      <p:sp>
        <p:nvSpPr>
          <p:cNvPr id="608" name="Google Shape;608;p27"/>
          <p:cNvSpPr txBox="1"/>
          <p:nvPr/>
        </p:nvSpPr>
        <p:spPr>
          <a:xfrm>
            <a:off x="3145771" y="5166539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Eficient ≈ complex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9062177" y="5118914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modelele mici ating performanțe apropiate cu resurse mult mai mici.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3145771" y="6147208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→ Fața</a:t>
            </a:r>
            <a:endParaRPr/>
          </a:p>
        </p:txBody>
      </p:sp>
      <p:sp>
        <p:nvSpPr>
          <p:cNvPr id="611" name="Google Shape;611;p27"/>
          <p:cNvSpPr txBox="1"/>
          <p:nvPr/>
        </p:nvSpPr>
        <p:spPr>
          <a:xfrm>
            <a:off x="9062177" y="6099583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extragere mai precisă a vorbitorului (mișcarea gurii corelată cu sunetul).</a:t>
            </a:r>
            <a:endParaRPr/>
          </a:p>
        </p:txBody>
      </p:sp>
      <p:sp>
        <p:nvSpPr>
          <p:cNvPr id="612" name="Google Shape;612;p27"/>
          <p:cNvSpPr txBox="1"/>
          <p:nvPr/>
        </p:nvSpPr>
        <p:spPr>
          <a:xfrm>
            <a:off x="3145771" y="7127877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→ Audio</a:t>
            </a:r>
            <a:endParaRPr/>
          </a:p>
        </p:txBody>
      </p:sp>
      <p:sp>
        <p:nvSpPr>
          <p:cNvPr id="613" name="Google Shape;613;p27"/>
          <p:cNvSpPr txBox="1"/>
          <p:nvPr/>
        </p:nvSpPr>
        <p:spPr>
          <a:xfrm>
            <a:off x="9062177" y="7080252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eliminarea râsetelor din fundal; modelarea dinamicii temporale a feței.</a:t>
            </a:r>
            <a:endParaRPr/>
          </a:p>
        </p:txBody>
      </p:sp>
      <p:sp>
        <p:nvSpPr>
          <p:cNvPr id="614" name="Google Shape;614;p27"/>
          <p:cNvSpPr txBox="1"/>
          <p:nvPr/>
        </p:nvSpPr>
        <p:spPr>
          <a:xfrm>
            <a:off x="3145771" y="8108547"/>
            <a:ext cx="3837223" cy="46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6" u="none" cap="none" strike="noStrike">
                <a:solidFill>
                  <a:srgbClr val="0B1320"/>
                </a:solidFill>
                <a:latin typeface="Arial"/>
                <a:ea typeface="Arial"/>
                <a:cs typeface="Arial"/>
                <a:sym typeface="Arial"/>
              </a:rPr>
              <a:t>→ Fuziune</a:t>
            </a:r>
            <a:endParaRPr/>
          </a:p>
        </p:txBody>
      </p:sp>
      <p:sp>
        <p:nvSpPr>
          <p:cNvPr id="615" name="Google Shape;615;p27"/>
          <p:cNvSpPr txBox="1"/>
          <p:nvPr/>
        </p:nvSpPr>
        <p:spPr>
          <a:xfrm>
            <a:off x="9062177" y="8060922"/>
            <a:ext cx="6800628" cy="38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 xml:space="preserve">strategii adaptive, care favorizează modalitatea mai clară la fiecare exemplu.</a:t>
            </a:r>
            <a:endParaRPr/>
          </a:p>
        </p:txBody>
      </p:sp>
      <p:cxnSp>
        <p:nvCxnSpPr>
          <p:cNvPr id="616" name="Google Shape;616;p27"/>
          <p:cNvCxnSpPr/>
          <p:nvPr/>
        </p:nvCxnSpPr>
        <p:spPr>
          <a:xfrm>
            <a:off x="6982994" y="3436454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4DA1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7"/>
          <p:cNvCxnSpPr/>
          <p:nvPr/>
        </p:nvCxnSpPr>
        <p:spPr>
          <a:xfrm>
            <a:off x="6982994" y="4398073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7"/>
          <p:cNvCxnSpPr/>
          <p:nvPr/>
        </p:nvCxnSpPr>
        <p:spPr>
          <a:xfrm>
            <a:off x="6982994" y="5397792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687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27"/>
          <p:cNvCxnSpPr/>
          <p:nvPr/>
        </p:nvCxnSpPr>
        <p:spPr>
          <a:xfrm>
            <a:off x="6982994" y="6378461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4DA1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27"/>
          <p:cNvCxnSpPr/>
          <p:nvPr/>
        </p:nvCxnSpPr>
        <p:spPr>
          <a:xfrm>
            <a:off x="6982994" y="7359130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27"/>
          <p:cNvCxnSpPr/>
          <p:nvPr/>
        </p:nvCxnSpPr>
        <p:spPr>
          <a:xfrm>
            <a:off x="6982994" y="8301700"/>
            <a:ext cx="1595070" cy="0"/>
          </a:xfrm>
          <a:prstGeom prst="straightConnector1">
            <a:avLst/>
          </a:prstGeom>
          <a:noFill/>
          <a:ln cap="flat" cmpd="sng" w="38100">
            <a:solidFill>
              <a:srgbClr val="6874E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2" name="Google Shape;622;p27"/>
          <p:cNvGrpSpPr/>
          <p:nvPr/>
        </p:nvGrpSpPr>
        <p:grpSpPr>
          <a:xfrm>
            <a:off x="16743241" y="4185870"/>
            <a:ext cx="6045617" cy="7440760"/>
            <a:chOff x="0" y="0"/>
            <a:chExt cx="8060823" cy="9921013"/>
          </a:xfrm>
        </p:grpSpPr>
        <p:grpSp>
          <p:nvGrpSpPr>
            <p:cNvPr id="623" name="Google Shape;623;p27"/>
            <p:cNvGrpSpPr/>
            <p:nvPr/>
          </p:nvGrpSpPr>
          <p:grpSpPr>
            <a:xfrm>
              <a:off x="0" y="0"/>
              <a:ext cx="8060823" cy="9921013"/>
              <a:chOff x="0" y="0"/>
              <a:chExt cx="660400" cy="812800"/>
            </a:xfrm>
          </p:grpSpPr>
          <p:sp>
            <p:nvSpPr>
              <p:cNvPr id="624" name="Google Shape;624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6" name="Google Shape;626;p27"/>
            <p:cNvGrpSpPr/>
            <p:nvPr/>
          </p:nvGrpSpPr>
          <p:grpSpPr>
            <a:xfrm>
              <a:off x="470923" y="579598"/>
              <a:ext cx="7118977" cy="8761817"/>
              <a:chOff x="0" y="0"/>
              <a:chExt cx="660400" cy="812800"/>
            </a:xfrm>
          </p:grpSpPr>
          <p:sp>
            <p:nvSpPr>
              <p:cNvPr id="627" name="Google Shape;627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9" name="Google Shape;629;p27"/>
            <p:cNvGrpSpPr/>
            <p:nvPr/>
          </p:nvGrpSpPr>
          <p:grpSpPr>
            <a:xfrm>
              <a:off x="935823" y="1151782"/>
              <a:ext cx="6189177" cy="7617449"/>
              <a:chOff x="0" y="0"/>
              <a:chExt cx="660400" cy="812800"/>
            </a:xfrm>
          </p:grpSpPr>
          <p:sp>
            <p:nvSpPr>
              <p:cNvPr id="630" name="Google Shape;630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27"/>
          <p:cNvGrpSpPr/>
          <p:nvPr/>
        </p:nvGrpSpPr>
        <p:grpSpPr>
          <a:xfrm rot="10800000">
            <a:off x="-3996916" y="-910903"/>
            <a:ext cx="5734716" cy="7058111"/>
            <a:chOff x="0" y="0"/>
            <a:chExt cx="7646287" cy="9410815"/>
          </a:xfrm>
        </p:grpSpPr>
        <p:grpSp>
          <p:nvGrpSpPr>
            <p:cNvPr id="633" name="Google Shape;633;p27"/>
            <p:cNvGrpSpPr/>
            <p:nvPr/>
          </p:nvGrpSpPr>
          <p:grpSpPr>
            <a:xfrm>
              <a:off x="0" y="0"/>
              <a:ext cx="7646287" cy="9410815"/>
              <a:chOff x="0" y="0"/>
              <a:chExt cx="660400" cy="812800"/>
            </a:xfrm>
          </p:grpSpPr>
          <p:sp>
            <p:nvSpPr>
              <p:cNvPr id="634" name="Google Shape;634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4DA1A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" name="Google Shape;636;p27"/>
            <p:cNvGrpSpPr/>
            <p:nvPr/>
          </p:nvGrpSpPr>
          <p:grpSpPr>
            <a:xfrm>
              <a:off x="446706" y="549792"/>
              <a:ext cx="6752876" cy="8311232"/>
              <a:chOff x="0" y="0"/>
              <a:chExt cx="660400" cy="812800"/>
            </a:xfrm>
          </p:grpSpPr>
          <p:sp>
            <p:nvSpPr>
              <p:cNvPr id="637" name="Google Shape;637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27"/>
            <p:cNvGrpSpPr/>
            <p:nvPr/>
          </p:nvGrpSpPr>
          <p:grpSpPr>
            <a:xfrm>
              <a:off x="887697" y="1092550"/>
              <a:ext cx="5870893" cy="7225714"/>
              <a:chOff x="0" y="0"/>
              <a:chExt cx="660400" cy="812800"/>
            </a:xfrm>
          </p:grpSpPr>
          <p:sp>
            <p:nvSpPr>
              <p:cNvPr id="640" name="Google Shape;640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35"/>
          <p:cNvPicPr preferRelativeResize="0"/>
          <p:nvPr/>
        </p:nvPicPr>
        <p:blipFill rotWithShape="1">
          <a:blip r:embed="rId3">
            <a:alphaModFix/>
          </a:blip>
          <a:srcRect b="7824" l="0" r="0" t="7825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2" name="Google Shape;862;p35"/>
          <p:cNvGrpSpPr/>
          <p:nvPr/>
        </p:nvGrpSpPr>
        <p:grpSpPr>
          <a:xfrm>
            <a:off x="3729073" y="2503986"/>
            <a:ext cx="10767979" cy="5555793"/>
            <a:chOff x="0" y="-38100"/>
            <a:chExt cx="4274726" cy="2205567"/>
          </a:xfrm>
        </p:grpSpPr>
        <p:sp>
          <p:nvSpPr>
            <p:cNvPr id="863" name="Google Shape;863;p35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34511" y="0"/>
                  </a:moveTo>
                  <a:lnTo>
                    <a:pt x="4240215" y="0"/>
                  </a:lnTo>
                  <a:cubicBezTo>
                    <a:pt x="4249368" y="0"/>
                    <a:pt x="4258146" y="3636"/>
                    <a:pt x="4264618" y="10108"/>
                  </a:cubicBezTo>
                  <a:cubicBezTo>
                    <a:pt x="4271090" y="16580"/>
                    <a:pt x="4274726" y="25358"/>
                    <a:pt x="4274726" y="34511"/>
                  </a:cubicBezTo>
                  <a:lnTo>
                    <a:pt x="4274726" y="2132956"/>
                  </a:lnTo>
                  <a:cubicBezTo>
                    <a:pt x="4274726" y="2142109"/>
                    <a:pt x="4271090" y="2150887"/>
                    <a:pt x="4264618" y="2157359"/>
                  </a:cubicBezTo>
                  <a:cubicBezTo>
                    <a:pt x="4258146" y="2163831"/>
                    <a:pt x="4249368" y="2167467"/>
                    <a:pt x="4240215" y="2167467"/>
                  </a:cubicBezTo>
                  <a:lnTo>
                    <a:pt x="34511" y="2167467"/>
                  </a:lnTo>
                  <a:cubicBezTo>
                    <a:pt x="25358" y="2167467"/>
                    <a:pt x="16580" y="2163831"/>
                    <a:pt x="10108" y="2157359"/>
                  </a:cubicBezTo>
                  <a:cubicBezTo>
                    <a:pt x="3636" y="2150887"/>
                    <a:pt x="0" y="2142109"/>
                    <a:pt x="0" y="2132956"/>
                  </a:cubicBezTo>
                  <a:lnTo>
                    <a:pt x="0" y="34511"/>
                  </a:lnTo>
                  <a:cubicBezTo>
                    <a:pt x="0" y="25358"/>
                    <a:pt x="3636" y="16580"/>
                    <a:pt x="10108" y="10108"/>
                  </a:cubicBezTo>
                  <a:cubicBezTo>
                    <a:pt x="16580" y="3636"/>
                    <a:pt x="25358" y="0"/>
                    <a:pt x="34511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5" name="Google Shape;865;p35"/>
          <p:cNvSpPr txBox="1"/>
          <p:nvPr/>
        </p:nvSpPr>
        <p:spPr>
          <a:xfrm>
            <a:off x="4484260" y="3539458"/>
            <a:ext cx="9319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Mulțumesc!</a:t>
            </a:r>
            <a:endParaRPr/>
          </a:p>
        </p:txBody>
      </p:sp>
      <p:sp>
        <p:nvSpPr>
          <p:cNvPr id="866" name="Google Shape;866;p35"/>
          <p:cNvSpPr txBox="1"/>
          <p:nvPr/>
        </p:nvSpPr>
        <p:spPr>
          <a:xfrm>
            <a:off x="5969958" y="5282244"/>
            <a:ext cx="6348084" cy="1146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Întrebări?  ·  Ionașcu Andrei  ·  FMI, iunie 2026</a:t>
            </a:r>
            <a:endParaRPr/>
          </a:p>
        </p:txBody>
      </p:sp>
      <p:grpSp>
        <p:nvGrpSpPr>
          <p:cNvPr id="867" name="Google Shape;867;p35"/>
          <p:cNvGrpSpPr/>
          <p:nvPr/>
        </p:nvGrpSpPr>
        <p:grpSpPr>
          <a:xfrm>
            <a:off x="8378227" y="7049528"/>
            <a:ext cx="406823" cy="408647"/>
            <a:chOff x="1813" y="0"/>
            <a:chExt cx="809173" cy="812800"/>
          </a:xfrm>
        </p:grpSpPr>
        <p:sp>
          <p:nvSpPr>
            <p:cNvPr id="868" name="Google Shape;868;p35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0" name="Google Shape;870;p35"/>
          <p:cNvGrpSpPr/>
          <p:nvPr/>
        </p:nvGrpSpPr>
        <p:grpSpPr>
          <a:xfrm>
            <a:off x="8941902" y="7049528"/>
            <a:ext cx="406823" cy="408647"/>
            <a:chOff x="1813" y="0"/>
            <a:chExt cx="809173" cy="812800"/>
          </a:xfrm>
        </p:grpSpPr>
        <p:sp>
          <p:nvSpPr>
            <p:cNvPr id="871" name="Google Shape;871;p35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3" name="Google Shape;873;p35"/>
          <p:cNvGrpSpPr/>
          <p:nvPr/>
        </p:nvGrpSpPr>
        <p:grpSpPr>
          <a:xfrm>
            <a:off x="9502949" y="7049528"/>
            <a:ext cx="406823" cy="408647"/>
            <a:chOff x="1813" y="0"/>
            <a:chExt cx="809173" cy="812800"/>
          </a:xfrm>
        </p:grpSpPr>
        <p:sp>
          <p:nvSpPr>
            <p:cNvPr id="874" name="Google Shape;874;p35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6" name="Google Shape;876;p35"/>
          <p:cNvGrpSpPr/>
          <p:nvPr/>
        </p:nvGrpSpPr>
        <p:grpSpPr>
          <a:xfrm>
            <a:off x="15248741" y="5672661"/>
            <a:ext cx="6078519" cy="7481254"/>
            <a:chOff x="0" y="0"/>
            <a:chExt cx="8104692" cy="9975005"/>
          </a:xfrm>
        </p:grpSpPr>
        <p:grpSp>
          <p:nvGrpSpPr>
            <p:cNvPr id="877" name="Google Shape;877;p35"/>
            <p:cNvGrpSpPr/>
            <p:nvPr/>
          </p:nvGrpSpPr>
          <p:grpSpPr>
            <a:xfrm>
              <a:off x="0" y="0"/>
              <a:ext cx="8104692" cy="9975005"/>
              <a:chOff x="0" y="0"/>
              <a:chExt cx="660400" cy="812800"/>
            </a:xfrm>
          </p:grpSpPr>
          <p:sp>
            <p:nvSpPr>
              <p:cNvPr id="878" name="Google Shape;878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35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0" name="Google Shape;880;p35"/>
            <p:cNvGrpSpPr/>
            <p:nvPr/>
          </p:nvGrpSpPr>
          <p:grpSpPr>
            <a:xfrm>
              <a:off x="473486" y="582752"/>
              <a:ext cx="7157719" cy="8809501"/>
              <a:chOff x="0" y="0"/>
              <a:chExt cx="660400" cy="812800"/>
            </a:xfrm>
          </p:grpSpPr>
          <p:sp>
            <p:nvSpPr>
              <p:cNvPr id="881" name="Google Shape;881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5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3" name="Google Shape;883;p35"/>
            <p:cNvGrpSpPr/>
            <p:nvPr/>
          </p:nvGrpSpPr>
          <p:grpSpPr>
            <a:xfrm>
              <a:off x="940916" y="1158050"/>
              <a:ext cx="6222860" cy="7658905"/>
              <a:chOff x="0" y="0"/>
              <a:chExt cx="660400" cy="812800"/>
            </a:xfrm>
          </p:grpSpPr>
          <p:sp>
            <p:nvSpPr>
              <p:cNvPr id="884" name="Google Shape;884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6874E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5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6" name="Google Shape;886;p35"/>
          <p:cNvGrpSpPr/>
          <p:nvPr/>
        </p:nvGrpSpPr>
        <p:grpSpPr>
          <a:xfrm rot="10800000">
            <a:off x="-2349446" y="-3255996"/>
            <a:ext cx="6078519" cy="7481254"/>
            <a:chOff x="0" y="0"/>
            <a:chExt cx="8104692" cy="9975005"/>
          </a:xfrm>
        </p:grpSpPr>
        <p:grpSp>
          <p:nvGrpSpPr>
            <p:cNvPr id="887" name="Google Shape;887;p35"/>
            <p:cNvGrpSpPr/>
            <p:nvPr/>
          </p:nvGrpSpPr>
          <p:grpSpPr>
            <a:xfrm>
              <a:off x="0" y="0"/>
              <a:ext cx="8104692" cy="9975005"/>
              <a:chOff x="0" y="0"/>
              <a:chExt cx="660400" cy="812800"/>
            </a:xfrm>
          </p:grpSpPr>
          <p:sp>
            <p:nvSpPr>
              <p:cNvPr id="888" name="Google Shape;888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35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0" name="Google Shape;890;p35"/>
            <p:cNvGrpSpPr/>
            <p:nvPr/>
          </p:nvGrpSpPr>
          <p:grpSpPr>
            <a:xfrm>
              <a:off x="473486" y="582752"/>
              <a:ext cx="7157719" cy="8809501"/>
              <a:chOff x="0" y="0"/>
              <a:chExt cx="660400" cy="812800"/>
            </a:xfrm>
          </p:grpSpPr>
          <p:sp>
            <p:nvSpPr>
              <p:cNvPr id="891" name="Google Shape;891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35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3" name="Google Shape;893;p35"/>
            <p:cNvGrpSpPr/>
            <p:nvPr/>
          </p:nvGrpSpPr>
          <p:grpSpPr>
            <a:xfrm>
              <a:off x="940916" y="1158050"/>
              <a:ext cx="6222860" cy="7658905"/>
              <a:chOff x="0" y="0"/>
              <a:chExt cx="660400" cy="812800"/>
            </a:xfrm>
          </p:grpSpPr>
          <p:sp>
            <p:nvSpPr>
              <p:cNvPr id="894" name="Google Shape;894;p35"/>
              <p:cNvSpPr/>
              <p:nvPr/>
            </p:nvSpPr>
            <p:spPr>
              <a:xfrm>
                <a:off x="0" y="0"/>
                <a:ext cx="660400" cy="812800"/>
              </a:xfrm>
              <a:custGeom>
                <a:rect b="b" l="l" r="r" t="t"/>
                <a:pathLst>
                  <a:path extrusionOk="0"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38100">
                <a:solidFill>
                  <a:srgbClr val="FF9F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35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