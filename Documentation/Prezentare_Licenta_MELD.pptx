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9BA7BC"/>
                </a:solidFill>
                <a:latin typeface="Arial"/>
              </a:defRPr>
            </a:pPr>
            <a:r>
              <a:rPr sz="1200" b="0" i="0" u="none" strike="noStrike">
                <a:solidFill>
                  <a:srgbClr val="9BA7BC"/>
                </a:solidFill>
                <a:latin typeface="Arial"/>
              </a:rPr>
              <a:t>Distribuția emoțiilor (% din date)</a:t>
            </a:r>
          </a:p>
        </c:rich>
      </c:tx>
      <c:layout/>
      <c:overlay val="0"/>
    </c:title>
    <c:autoTitleDeleted val="0"/>
    <c:plotArea>
      <c:layout/>
      <c:barChart>
        <c:barDir val="bar"/>
        <c:grouping val="clustered"/>
        <c:varyColors val="0"/>
        <c:ser>
          <c:idx val="0"/>
          <c:order val="0"/>
          <c:tx>
            <c:strRef>
              <c:f>Sheet1!$B$1</c:f>
              <c:strCache>
                <c:ptCount val="1"/>
                <c:pt idx="0">
                  <c:v>% replici</c:v>
                </c:pt>
              </c:strCache>
            </c:strRef>
          </c:tx>
          <c:spPr>
            <a:solidFill>
              <a:srgbClr val="2DD4BF"/>
            </a:solidFill>
            <a:effectLst/>
          </c:spPr>
          <c:invertIfNegative val="0"/>
          <c:dLbls>
            <c:numFmt formatCode="#,##0" sourceLinked="0"/>
            <c:txPr>
              <a:bodyPr/>
              <a:lstStyle/>
              <a:p>
                <a:pPr>
                  <a:defRPr b="1" i="0" strike="noStrike" sz="1100" u="none">
                    <a:solidFill>
                      <a:srgbClr val="F4F7FB"/>
                    </a:solidFill>
                    <a:latin typeface="Arial"/>
                  </a:defRPr>
                </a:pPr>
              </a:p>
            </c:txPr>
            <c:showLegendKey val="0"/>
            <c:showVal val="1"/>
            <c:showCatName val="0"/>
            <c:showSerName val="0"/>
            <c:showPercent val="0"/>
            <c:showBubbleSize val="0"/>
            <c:showLeaderLines val="0"/>
          </c:dLbls>
          <c:cat>
            <c:multiLvlStrRef>
              <c:f>Sheet1!$A$2:$A$8</c:f>
              <c:multiLvlStrCache>
                <c:ptCount val="7"/>
                <c:lvl>
                  <c:pt idx="0">
                    <c:v>neutral</c:v>
                  </c:pt>
                  <c:pt idx="1">
                    <c:v>fericire</c:v>
                  </c:pt>
                  <c:pt idx="2">
                    <c:v>surpriză</c:v>
                  </c:pt>
                  <c:pt idx="3">
                    <c:v>furie</c:v>
                  </c:pt>
                  <c:pt idx="4">
                    <c:v>tristețe</c:v>
                  </c:pt>
                  <c:pt idx="5">
                    <c:v>dezgust</c:v>
                  </c:pt>
                  <c:pt idx="6">
                    <c:v>frică</c:v>
                  </c:pt>
                </c:lvl>
              </c:multiLvlStrCache>
            </c:multiLvlStrRef>
          </c:cat>
          <c:val>
            <c:numRef>
              <c:f>Sheet1!$B$2:$B$8</c:f>
              <c:numCache>
                <c:formatCode>General</c:formatCode>
                <c:ptCount val="7"/>
                <c:pt idx="0">
                  <c:v>47</c:v>
                </c:pt>
                <c:pt idx="1">
                  <c:v>16.8</c:v>
                </c:pt>
                <c:pt idx="2">
                  <c:v>11.9</c:v>
                </c:pt>
                <c:pt idx="3">
                  <c:v>11.7</c:v>
                </c:pt>
                <c:pt idx="4">
                  <c:v>7.3</c:v>
                </c:pt>
                <c:pt idx="5">
                  <c:v>2.6</c:v>
                </c:pt>
                <c:pt idx="6">
                  <c:v>2.6</c:v>
                </c:pt>
              </c:numCache>
            </c:numRef>
          </c:val>
        </c:ser>
        <c:dLbls>
          <c:numFmt formatCode="#,##0" sourceLinked="0"/>
          <c:txPr>
            <a:bodyPr/>
            <a:lstStyle/>
            <a:p>
              <a:pPr>
                <a:defRPr b="1" i="0" strike="noStrike" sz="1100" u="none">
                  <a:solidFill>
                    <a:srgbClr val="F4F7F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BA7BC"/>
                </a:solidFill>
                <a:latin typeface="Arial"/>
              </a:defRPr>
            </a:pPr>
            <a:endParaRPr lang="en-US"/>
          </a:p>
        </c:txPr>
        <c:crossAx val="2094734552"/>
        <c:crosses val="autoZero"/>
        <c:auto val="1"/>
        <c:lblAlgn val="ctr"/>
        <c:noMultiLvlLbl val="1"/>
      </c:catAx>
      <c:valAx>
        <c:axId val="2094734552"/>
        <c:scaling>
          <c:orientation val="minMax"/>
          <c:max val="5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F1422"/>
        </a:solidFill>
        <a:ln>
          <a:noFill/>
        </a:ln>
        <a:effectLst/>
      </c:spPr>
    </c:plotArea>
    <c:plotVisOnly val="1"/>
    <c:dispBlanksAs val="span"/>
  </c:chart>
  <c:spPr>
    <a:solidFill>
      <a:srgbClr val="0F142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9BA7BC"/>
                </a:solidFill>
                <a:latin typeface="Arial"/>
              </a:defRPr>
            </a:pPr>
            <a:r>
              <a:rPr sz="1250" b="0" i="0" u="none" strike="noStrike">
                <a:solidFill>
                  <a:srgbClr val="9BA7BC"/>
                </a:solidFill>
                <a:latin typeface="Arial"/>
              </a:rPr>
              <a:t>macro-F1 (%) — modele unimodale pe MELD</a:t>
            </a:r>
          </a:p>
        </c:rich>
      </c:tx>
      <c:layout/>
      <c:overlay val="0"/>
    </c:title>
    <c:autoTitleDeleted val="0"/>
    <c:plotArea>
      <c:layout/>
      <c:barChart>
        <c:barDir val="col"/>
        <c:grouping val="clustered"/>
        <c:varyColors val="0"/>
        <c:ser>
          <c:idx val="0"/>
          <c:order val="0"/>
          <c:tx>
            <c:strRef>
              <c:f>Sheet1!$B$1</c:f>
              <c:strCache>
                <c:ptCount val="1"/>
                <c:pt idx="0">
                  <c:v>macro-F1</c:v>
                </c:pt>
              </c:strCache>
            </c:strRef>
          </c:tx>
          <c:spPr>
            <a:solidFill>
              <a:srgbClr val="2DD4BF"/>
            </a:solidFill>
            <a:effectLst/>
          </c:spPr>
          <c:invertIfNegative val="0"/>
          <c:dLbls>
            <c:numFmt formatCode="#,##0" sourceLinked="0"/>
            <c:txPr>
              <a:bodyPr/>
              <a:lstStyle/>
              <a:p>
                <a:pPr>
                  <a:defRPr b="1" i="0" strike="noStrike" sz="1200" u="none">
                    <a:solidFill>
                      <a:srgbClr val="F4F7FB"/>
                    </a:solidFill>
                    <a:latin typeface="Arial"/>
                  </a:defRPr>
                </a:pPr>
              </a:p>
            </c:txPr>
            <c:showLegendKey val="0"/>
            <c:showVal val="1"/>
            <c:showCatName val="0"/>
            <c:showSerName val="0"/>
            <c:showPercent val="0"/>
            <c:showBubbleSize val="0"/>
            <c:showLeaderLines val="0"/>
          </c:dLbls>
          <c:dPt>
            <c:idx val="0"/>
            <c:invertIfNegative val="0"/>
            <c:bubble3D val="0"/>
            <c:spPr>
              <a:solidFill>
                <a:srgbClr val="2DD4BF"/>
              </a:solidFill>
              <a:effectLst/>
            </c:spPr>
          </c:dPt>
          <c:dPt>
            <c:idx val="1"/>
            <c:invertIfNegative val="0"/>
            <c:bubble3D val="0"/>
            <c:spPr>
              <a:solidFill>
                <a:srgbClr val="2DD4BF"/>
              </a:solidFill>
              <a:effectLst/>
            </c:spPr>
          </c:dPt>
          <c:dPt>
            <c:idx val="2"/>
            <c:invertIfNegative val="0"/>
            <c:bubble3D val="0"/>
            <c:spPr>
              <a:solidFill>
                <a:srgbClr val="FBBF24"/>
              </a:solidFill>
              <a:effectLst/>
            </c:spPr>
          </c:dPt>
          <c:dPt>
            <c:idx val="3"/>
            <c:invertIfNegative val="0"/>
            <c:bubble3D val="0"/>
            <c:spPr>
              <a:solidFill>
                <a:srgbClr val="FBBF24"/>
              </a:solidFill>
              <a:effectLst/>
            </c:spPr>
          </c:dPt>
          <c:dPt>
            <c:idx val="4"/>
            <c:invertIfNegative val="0"/>
            <c:bubble3D val="0"/>
            <c:spPr>
              <a:solidFill>
                <a:srgbClr val="F25C54"/>
              </a:solidFill>
              <a:effectLst/>
            </c:spPr>
          </c:dPt>
          <c:dPt>
            <c:idx val="5"/>
            <c:invertIfNegative val="0"/>
            <c:bubble3D val="0"/>
            <c:spPr>
              <a:solidFill>
                <a:srgbClr val="F25C54"/>
              </a:solidFill>
              <a:effectLst/>
            </c:spPr>
          </c:dPt>
          <c:cat>
            <c:multiLvlStrRef>
              <c:f>Sheet1!$A$2:$A$7</c:f>
              <c:multiLvlStrCache>
                <c:ptCount val="6"/>
                <c:lvl>
                  <c:pt idx="0">
                    <c:v>BERT</c:v>
                  </c:pt>
                  <c:pt idx="1">
                    <c:v>DistilBERT</c:v>
                  </c:pt>
                  <c:pt idx="2">
                    <c:v>wav2vec2</c:v>
                  </c:pt>
                  <c:pt idx="3">
                    <c:v>DistilHuBERT</c:v>
                  </c:pt>
                  <c:pt idx="4">
                    <c:v>ViT-B/16</c:v>
                  </c:pt>
                  <c:pt idx="5">
                    <c:v>MobileNetV3</c:v>
                  </c:pt>
                </c:lvl>
              </c:multiLvlStrCache>
            </c:multiLvlStrRef>
          </c:cat>
          <c:val>
            <c:numRef>
              <c:f>Sheet1!$B$2:$B$7</c:f>
              <c:numCache>
                <c:formatCode>General</c:formatCode>
                <c:ptCount val="6"/>
                <c:pt idx="0">
                  <c:v>44.28</c:v>
                </c:pt>
                <c:pt idx="1">
                  <c:v>41.23</c:v>
                </c:pt>
                <c:pt idx="2">
                  <c:v>25.07</c:v>
                </c:pt>
                <c:pt idx="3">
                  <c:v>22.26</c:v>
                </c:pt>
                <c:pt idx="4">
                  <c:v>23.89</c:v>
                </c:pt>
                <c:pt idx="5">
                  <c:v>18.26</c:v>
                </c:pt>
              </c:numCache>
            </c:numRef>
          </c:val>
        </c:ser>
        <c:dLbls>
          <c:numFmt formatCode="#,##0" sourceLinked="0"/>
          <c:txPr>
            <a:bodyPr/>
            <a:lstStyle/>
            <a:p>
              <a:pPr>
                <a:defRPr b="1" i="0" strike="noStrike" sz="1200" u="none">
                  <a:solidFill>
                    <a:srgbClr val="F4F7FB"/>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F4F7FB"/>
                </a:solidFill>
                <a:latin typeface="Arial"/>
              </a:defRPr>
            </a:pPr>
            <a:endParaRPr lang="en-US"/>
          </a:p>
        </c:txPr>
        <c:crossAx val="2094734552"/>
        <c:crosses val="autoZero"/>
        <c:auto val="1"/>
        <c:lblAlgn val="ctr"/>
        <c:noMultiLvlLbl val="1"/>
      </c:catAx>
      <c:valAx>
        <c:axId val="2094734552"/>
        <c:scaling>
          <c:orientation val="minMax"/>
          <c:max val="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F1422"/>
        </a:solidFill>
        <a:ln>
          <a:noFill/>
        </a:ln>
        <a:effectLst/>
      </c:spPr>
    </c:plotArea>
    <c:plotVisOnly val="1"/>
    <c:dispBlanksAs val="span"/>
  </c:chart>
  <c:spPr>
    <a:solidFill>
      <a:srgbClr val="0F142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9BA7BC"/>
                </a:solidFill>
                <a:latin typeface="Arial"/>
              </a:defRPr>
            </a:pPr>
            <a:r>
              <a:rPr sz="1250" b="0" i="0" u="none" strike="noStrike">
                <a:solidFill>
                  <a:srgbClr val="9BA7BC"/>
                </a:solidFill>
                <a:latin typeface="Arial"/>
              </a:rPr>
              <a:t>macro-F1 (%) — config. de top vs. cel mai bun unimodal</a:t>
            </a:r>
          </a:p>
        </c:rich>
      </c:tx>
      <c:layout/>
      <c:overlay val="0"/>
    </c:title>
    <c:autoTitleDeleted val="0"/>
    <c:plotArea>
      <c:layout/>
      <c:barChart>
        <c:barDir val="col"/>
        <c:grouping val="clustered"/>
        <c:varyColors val="0"/>
        <c:ser>
          <c:idx val="0"/>
          <c:order val="0"/>
          <c:tx>
            <c:strRef>
              <c:f>Sheet1!$B$1</c:f>
              <c:strCache>
                <c:ptCount val="1"/>
                <c:pt idx="0">
                  <c:v>macro-F1</c:v>
                </c:pt>
              </c:strCache>
            </c:strRef>
          </c:tx>
          <c:spPr>
            <a:solidFill>
              <a:srgbClr val="A78BFA"/>
            </a:solidFill>
            <a:effectLst/>
          </c:spPr>
          <c:invertIfNegative val="0"/>
          <c:dLbls>
            <c:numFmt formatCode="#,##0" sourceLinked="0"/>
            <c:txPr>
              <a:bodyPr/>
              <a:lstStyle/>
              <a:p>
                <a:pPr>
                  <a:defRPr b="1" i="0" strike="noStrike" sz="1300" u="none">
                    <a:solidFill>
                      <a:srgbClr val="F4F7FB"/>
                    </a:solidFill>
                    <a:latin typeface="Arial"/>
                  </a:defRPr>
                </a:pPr>
              </a:p>
            </c:txPr>
            <c:showLegendKey val="0"/>
            <c:showVal val="1"/>
            <c:showCatName val="0"/>
            <c:showSerName val="0"/>
            <c:showPercent val="0"/>
            <c:showBubbleSize val="0"/>
            <c:showLeaderLines val="0"/>
          </c:dLbls>
          <c:dPt>
            <c:idx val="0"/>
            <c:invertIfNegative val="0"/>
            <c:bubble3D val="0"/>
            <c:spPr>
              <a:solidFill>
                <a:srgbClr val="A78BFA"/>
              </a:solidFill>
              <a:effectLst/>
            </c:spPr>
          </c:dPt>
          <c:dPt>
            <c:idx val="1"/>
            <c:invertIfNegative val="0"/>
            <c:bubble3D val="0"/>
            <c:spPr>
              <a:solidFill>
                <a:srgbClr val="A78BFA"/>
              </a:solidFill>
              <a:effectLst/>
            </c:spPr>
          </c:dPt>
          <c:dPt>
            <c:idx val="2"/>
            <c:invertIfNegative val="0"/>
            <c:bubble3D val="0"/>
            <c:spPr>
              <a:solidFill>
                <a:srgbClr val="A78BFA"/>
              </a:solidFill>
              <a:effectLst/>
            </c:spPr>
          </c:dPt>
          <c:dPt>
            <c:idx val="3"/>
            <c:invertIfNegative val="0"/>
            <c:bubble3D val="0"/>
            <c:spPr>
              <a:solidFill>
                <a:srgbClr val="6D5BB8"/>
              </a:solidFill>
              <a:effectLst/>
            </c:spPr>
          </c:dPt>
          <c:dPt>
            <c:idx val="4"/>
            <c:invertIfNegative val="0"/>
            <c:bubble3D val="0"/>
            <c:spPr>
              <a:solidFill>
                <a:srgbClr val="2DD4BF"/>
              </a:solidFill>
              <a:effectLst/>
            </c:spPr>
          </c:dPt>
          <c:cat>
            <c:multiLvlStrRef>
              <c:f>Sheet1!$A$2:$A$6</c:f>
              <c:multiLvlStrCache>
                <c:ptCount val="5"/>
                <c:lvl>
                  <c:pt idx="0">
                    <c:v>Late ponderată
(complex)</c:v>
                  </c:pt>
                  <c:pt idx="1">
                    <c:v>MLP intermediar
(complex)</c:v>
                  </c:pt>
                  <c:pt idx="2">
                    <c:v>Transformer
porți</c:v>
                  </c:pt>
                  <c:pt idx="3">
                    <c:v>Late ponderată
(eficient)</c:v>
                  </c:pt>
                  <c:pt idx="4">
                    <c:v>BERT
(unimodal)</c:v>
                  </c:pt>
                </c:lvl>
              </c:multiLvlStrCache>
            </c:multiLvlStrRef>
          </c:cat>
          <c:val>
            <c:numRef>
              <c:f>Sheet1!$B$2:$B$6</c:f>
              <c:numCache>
                <c:formatCode>General</c:formatCode>
                <c:ptCount val="5"/>
                <c:pt idx="0">
                  <c:v>45.97</c:v>
                </c:pt>
                <c:pt idx="1">
                  <c:v>45.33</c:v>
                </c:pt>
                <c:pt idx="2">
                  <c:v>43.22</c:v>
                </c:pt>
                <c:pt idx="3">
                  <c:v>41.55</c:v>
                </c:pt>
                <c:pt idx="4">
                  <c:v>44.28</c:v>
                </c:pt>
              </c:numCache>
            </c:numRef>
          </c:val>
        </c:ser>
        <c:dLbls>
          <c:numFmt formatCode="#,##0" sourceLinked="0"/>
          <c:txPr>
            <a:bodyPr/>
            <a:lstStyle/>
            <a:p>
              <a:pPr>
                <a:defRPr b="1" i="0" strike="noStrike" sz="1300" u="none">
                  <a:solidFill>
                    <a:srgbClr val="F4F7F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F4F7FB"/>
                </a:solidFill>
                <a:latin typeface="Arial"/>
              </a:defRPr>
            </a:pPr>
            <a:endParaRPr lang="en-US"/>
          </a:p>
        </c:txPr>
        <c:crossAx val="2094734552"/>
        <c:crosses val="autoZero"/>
        <c:auto val="1"/>
        <c:lblAlgn val="ctr"/>
        <c:noMultiLvlLbl val="1"/>
      </c:catAx>
      <c:valAx>
        <c:axId val="2094734552"/>
        <c:scaling>
          <c:orientation val="minMax"/>
          <c:max val="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F1422"/>
        </a:solidFill>
        <a:ln>
          <a:noFill/>
        </a:ln>
        <a:effectLst/>
      </c:spPr>
    </c:plotArea>
    <c:plotVisOnly val="1"/>
    <c:dispBlanksAs val="span"/>
  </c:chart>
  <c:spPr>
    <a:solidFill>
      <a:srgbClr val="0F1422"/>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cazuri</c:v>
                </c:pt>
              </c:strCache>
            </c:strRef>
          </c:tx>
          <c:spPr>
            <a:solidFill>
              <a:schemeClr val="accent1"/>
            </a:solidFill>
            <a:ln w="9525" cap="flat">
              <a:solidFill>
                <a:srgbClr val="F9F9F9"/>
              </a:solidFill>
              <a:prstDash val="solid"/>
              <a:round/>
            </a:ln>
            <a:effectLst/>
          </c:spPr>
          <c:dPt>
            <c:idx val="0"/>
            <c:bubble3D val="0"/>
            <c:spPr>
              <a:solidFill>
                <a:srgbClr val="3C496E"/>
              </a:solidFill>
              <a:effectLst/>
            </c:spPr>
          </c:dPt>
          <c:dPt>
            <c:idx val="1"/>
            <c:bubble3D val="0"/>
            <c:spPr>
              <a:solidFill>
                <a:srgbClr val="566179"/>
              </a:solidFill>
              <a:effectLst/>
            </c:spPr>
          </c:dPt>
          <c:dPt>
            <c:idx val="2"/>
            <c:bubble3D val="0"/>
            <c:spPr>
              <a:solidFill>
                <a:srgbClr val="2DD4BF"/>
              </a:solidFill>
              <a:effectLst/>
            </c:spPr>
          </c:dPt>
          <c:dPt>
            <c:idx val="3"/>
            <c:bubble3D val="0"/>
            <c:spPr>
              <a:solidFill>
                <a:srgbClr val="F25C54"/>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Ambele corecte (textul e suficient)</c:v>
                </c:pt>
                <c:pt idx="1">
                  <c:v>Ambele greșesc (cazuri grele)</c:v>
                </c:pt>
                <c:pt idx="2">
                  <c:v>Fuziunea REPARĂ BERT</c:v>
                </c:pt>
                <c:pt idx="3">
                  <c:v>Fuziunea STRICĂ BERT</c:v>
                </c:pt>
              </c:strCache>
            </c:strRef>
          </c:cat>
          <c:val>
            <c:numRef>
              <c:f>Sheet1!$B$2:$B$5</c:f>
              <c:numCache>
                <c:ptCount val="4"/>
                <c:pt idx="0">
                  <c:v>58.36</c:v>
                </c:pt>
                <c:pt idx="1">
                  <c:v>32.41</c:v>
                </c:pt>
                <c:pt idx="2">
                  <c:v>6.01</c:v>
                </c:pt>
                <c:pt idx="3">
                  <c:v>3.22</c:v>
                </c:pt>
              </c:numCache>
            </c:numRef>
          </c:val>
        </c:ser>
        <c:firstSliceAng val="0"/>
        <c:holeSize val="58"/>
      </c:doughnutChart>
      <c:spPr>
        <a:noFill/>
        <a:ln>
          <a:noFill/>
        </a:ln>
        <a:effectLst/>
      </c:spPr>
    </c:plotArea>
    <c:plotVisOnly val="1"/>
    <c:dispBlanksAs val="span"/>
  </c:chart>
  <c:spPr>
    <a:solidFill>
      <a:srgbClr val="0F142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Bună ziua. Numele meu este Andrei Ionașcu și vă voi prezenta lucrarea de licență „Recunoașterea emoțiilor printr-o abordare multimodală”, realizată sub coordonarea domnului conferențiar Bogdan Alexe. Pe scurt, am construit un sistem care încearcă să recunoască emoția dintr-o replică de conversație folosind trei surse de informație: ceea ce se spune (text), cum se spune (audio) și expresia feței (imagine). Pe lângă acuratețe, m-au interesat două lucruri pe care literatura le tratează adesea separat: cât de explicabile sunt deciziile modelelor și cât de eficiente sunt. Prezentarea durează aproximativ 10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Recunoașterea emoțiilor a evoluat enorm, dar în scenarii conversaționale reale rămân trei tensiuni. Prima: o singură modalitate este adesea insuficientă. Aceeași propoziție, „I'm so sorry”, poate fi tristețe sinceră sau sarcasm — diferența o face tonul sau expresia. A doua: cu cât urmărim acuratețe mai mare, cu atât modelele devin mai opace, niște cutii negre în care nici noi nu mai înțelegem de ce iau o decizie; iar fără înțelegere nu există încredere. A treia: aceste modele sunt costisitoare, iar pe dispozitive cu resurse limitate un model mai mic și mai rapid poate fi mai valoros decât unul puțin mai precis. Lucrarea atacă exact aceste trei puncte: multimodalitate, explicabilitate și eficiență.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Toate experimentele rulează pe MELD, Multimodal EmotionLines Dataset — fragmente din serialul Friends, peste treisprezece mii de replici, fiecare cu una din șapte emoții. Avantajul lui e că seamănă cu o conversație reală; dezavantajul, că vine cu mult zgomot. Replicile sunt sarcastice, peste voci se suprapun râsete adăugate la montaj, fețele nu sunt mereu centrate. Și, cel mai important, distribuția e foarte dezechilibrată: aproape jumătate din replici sunt neutre, în timp ce dezgust și frică au sub trei procente fiecare. De aceea acuratețea simplă e înșelătoare — un model care prezice mereu „neutral” ia deja aproape 48%. Din acest motiv, metrica mea principală este macro-F1, care tratează toate cele șapte emoții la fel și penalizează ignorarea claselor 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Arhitectura experimentului e simplă și deliberată. Pentru fiecare din cele trei modalități am ales două modele: unul complex, orientat pe acuratețe, și unul eficient, mult mai mic. La text, BERT față de DistilBERT; la audio, wav2vec2 față de DistilHuBERT; la imagine, ViT față de MobileNetV3-Small. Ideea perechii e să măsor exact cât pierd când înlocuiesc un model mare cu unul compact, și să observ că pierderea diferă mult de la o modalitate la alta. Reprezentările acestor modele sunt apoi combinate prin trei strategii de fuziune. Peste tot am adăugat un strat de explicabilitate, cu Integrated Gradients ca numitor comun și câte o metodă specifică fiecărei modalități.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Singura modalitate care a cerut o preprocesare serioasă a fost imaginea, pentru că MELD livrează clipuri video, nu fețe gata decupate. Problema e că într-un cadru pot fi mai mulți actori și nu toți exprimă emoția etichetată. Pipeline-ul meu rezolvă asta în patru pași. Întâi detectez toate fețele cu MTCNN. Apoi identific vorbitorul: salvez un embedding facial și aleg, în cadrele următoare, fața cea mai similară prin similaritate cosinus — nu doar pe cea mai mare. Al treilea pas dă fiecărui cadru un scor de calitate cu un EfficientNet antrenat pe filme, înmulțind încrederea modelului cu probabilitatea clasei corecte. În final, după o netezire, păstrez cele mai expresive cinci cadre. Rezultatul e un set de fețe curat, în care fiecare imagine e aliniată cu textul și audio-ul aceleiași replici.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Iată primul rezultat important: ierarhia clară dintre modalități. Textul este de departe cel mai puternic semnal — BERT obține un macro-F1 de 44%, iar varianta eficientă, DistilBERT, rămâne foarte aproape, la 41. Audio-ul cade la 22–25%, iar imaginea e cea mai grea, cel mai bun model facial abia atingând 24%. Explicația ține de natura datelor: cuvintele poartă emoția cel mai explicit, în timp ce semnalul audio e poluat de voci suprapuse și de râsete de montaj, iar imaginile suferă de fețe necentrate, mișcare și expresii ambigue. Observați și codul de culoare pe care îl folosesc în toată prezentarea: turcoaz pentru text, galben pentru audio, corai pentru imagine — bara plină e modelul complex, bara mai transparentă e cel eficient.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Aici e cea mai interesantă concluzie a comparației complex–eficient: reducerea dimensiunii nu afectează toate modalitățile la fel. La text, pierderea e controlată — DistilBERT păstrează vreo 93% din performanță la jumătate din timp; cade doar pe clasele rare, ca fear. La audio, surpriza e că modelul eficient își menține acuratețea, dar nu pentru că generalizează mai bine, ci pentru că prezice mai des clasa dominantă, neutral; practic, trișează — deși e de trei ori mai rapid. La imagine însă avem un colaps real: MobileNet schimbă complet distribuția predicțiilor și pierde peste cinci puncte față de ViT, în schimbul unei viteze de 0,48 milisecunde față de 15. Concluzia: eficiența trebuie raportată mereu la cum se pierde acuratețea, nu doar la scorul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a combina modalitățile am implementat trei strategii, de la simplu la complex. Prima, fuziunea târzie, doar combină probabilitățile finale ale modelelor — ca medie simplă sau ca medie ponderată cu ponderi optimizate pe validare; nu are parametri proprii și nu necesită reantrenare. A doua, fuziunea intermediară, merge mai adânc: ia reprezentările din penultimul strat al fiecărei rețele și antrenează deasupra un MLP ușor, de circa 334 de mii de parametri. A treia, fuziunea bazată pe porți, calculează ponderi pentru fiecare eșantion în parte, fie printr-un mecanism simplu de tip GMU, fie printr-un Transformer cross-modal cu atenție. Un detaliu practic: am pus în cache reprezentările vectoriale, așa că antrenarea capetelor de fuziune durează minute, nu 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Trecem la rezultatele fuziunii. Cea mai bună configurație din toată lucrarea este fuziunea târzie ponderată între modelele complexe, cu un macro-F1 de aproape 46%, urmată foarte aproape de fuziunea intermediară pe MLP. Față de cel mai bun model unimodal, BERT, câștigul net al multimodalității este de aproximativ un punct și șapte zecimi — o îmbunătățire reală, care confirmă complementaritatea celor trei surse. Dar apare o surpriză: fuziunea cea mai sofisticată, cea bazată pe porți cu Transformer și atenție cross-modală, rămâne de fapt SUB cel mai bun model unimodal. Pe acest set de date, complexitatea nu se traduce în performanță — ponderarea simplă, dar bine optimizată, bate atenția complexă. Iar pe slide-ul următor vedem de ce câștigul total e atât de modest.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Acesta e, pentru mine, cel mai interesant rezultat al lucrării. Am luat fiecare din cele două mii șase sute zece cazuri de test și am întrebat: ce face fuziunea față de BERT singur? Răspunsul demontează intuiția că „mai multe modalități = mult mai bine”. În 58% din cazuri, textul singur era deja suficient — ambele corecte. În 32%, toate modalitățile greșesc; sunt cazurile cu adevărat ambigue. Câștigul vine din felia mică, turcoaz: în 6% din cazuri, adică 149 de exemple, fuziunea repară o greșeală a lui BERT — acela e câștigul multimodal real. Dar atenție la felia corai: în 3,2%, adică 80 de cazuri, fuziunea STRICĂ o predicție corectă a textului, din cauza zgomotului din audio sau imagine. Bilanțul net e deci 149 minus 80, adică doar 69 de cazuri câștigate — exact de aici vin cele 1,7 puncte. Iar reparările apar mai ales pe emoțiile grele: tristețe, furie, frică. Concluzia onestă: fuziunea ajută, dar marginal, și trebuie să protejeze modalitatea bună de cele zgomotoase — de aceea ponderarea bate atenția complexă.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Partea de explicabilitate confirmă vizual ce am intuit din cifre. În stânga, Integrated Gradients pe text: pentru replica „I mean, enough of the silliness!”, cuvântul „silliness” trage decizia spre furie — modelul se uită la cuvântul corect. În dreapta, Grad-CAM pe față: pentru o surpriză corect identificată, atenția se concentrează pe ochi și pe gură, exact regiunile pe care psihologia le asociază cu surpriza. Deci modelele învață trăsături reale, nu zgomot de fundal. Dar tot explicabilitatea arată și limitele: același „sorry” e citit ca tristețe, indiferent de context; iar surpriza și frica împart aceiași ochi mari și aceeași tensiune facială, motiv pentru care sunt confundate sistematic. Mesajul: contextul e totul, iar o parte din erori vin din ambiguitatea intrinsecă a emoțiilor, nu din slăbiciunea modelelor.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concluzie, trei idei. Prima: textul e regele — cuvintele sunt cel mai puternic și mai stabil semnal emoțional, în timp ce audio și imaginea rămân grele pe un set zgomotos ca MELD. A doua: fuziunea multimodală chiar ajută, dar onest — un câștig real, însă marginal, de un punct și șapte, pentru că reparările sunt parțial anulate de regresii; iar ponderarea simplă bate mecanismele complexe de atenție. A treia: eficiența nu e gratuită, iar compresia lovește inegal — ușor la text, pe ascuns la audio, sever la imagine. Ca direcții viitoare, văd patru: extragerea mai precisă a vorbitorului prin sincronizarea buzelor cu sunetul, eliminarea râsetelor de fundal, modelarea dinamicii temporale a expresiilor și o fuziune care să acorde atenție per eșantion modalității mai puțin ambigue. Vă mulțumesc pentru atenție și aștept întrebările.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2"/>
        </a:solidFill>
      </p:bgPr>
    </p:bg>
    <p:spTree>
      <p:nvGrpSpPr>
        <p:cNvPr id="1" name=""/>
        <p:cNvGrpSpPr/>
        <p:nvPr/>
      </p:nvGrpSpPr>
      <p:grpSpPr>
        <a:xfrm>
          <a:off x="0" y="0"/>
          <a:ext cx="0" cy="0"/>
          <a:chOff x="0" y="0"/>
          <a:chExt cx="0" cy="0"/>
        </a:xfrm>
      </p:grpSpPr>
      <p:sp>
        <p:nvSpPr>
          <p:cNvPr id="2" name="Shape 0"/>
          <p:cNvSpPr/>
          <p:nvPr/>
        </p:nvSpPr>
        <p:spPr>
          <a:xfrm>
            <a:off x="9784080" y="-1371600"/>
            <a:ext cx="5029200" cy="5029200"/>
          </a:xfrm>
          <a:prstGeom prst="ellipse">
            <a:avLst/>
          </a:prstGeom>
          <a:solidFill>
            <a:srgbClr val="2DD4BF">
              <a:alpha val="14000"/>
            </a:srgbClr>
          </a:solidFill>
          <a:ln/>
        </p:spPr>
      </p:sp>
      <p:sp>
        <p:nvSpPr>
          <p:cNvPr id="3" name="Shape 1"/>
          <p:cNvSpPr/>
          <p:nvPr/>
        </p:nvSpPr>
        <p:spPr>
          <a:xfrm>
            <a:off x="10789920" y="1188720"/>
            <a:ext cx="3840480" cy="3840480"/>
          </a:xfrm>
          <a:prstGeom prst="ellipse">
            <a:avLst/>
          </a:prstGeom>
          <a:solidFill>
            <a:srgbClr val="F25C54">
              <a:alpha val="12000"/>
            </a:srgbClr>
          </a:solidFill>
          <a:ln/>
        </p:spPr>
      </p:sp>
      <p:sp>
        <p:nvSpPr>
          <p:cNvPr id="4" name="Shape 2"/>
          <p:cNvSpPr/>
          <p:nvPr/>
        </p:nvSpPr>
        <p:spPr>
          <a:xfrm>
            <a:off x="9052560" y="3291840"/>
            <a:ext cx="4206240" cy="4206240"/>
          </a:xfrm>
          <a:prstGeom prst="ellipse">
            <a:avLst/>
          </a:prstGeom>
          <a:solidFill>
            <a:srgbClr val="FBBF24">
              <a:alpha val="10000"/>
            </a:srgbClr>
          </a:solidFill>
          <a:ln/>
        </p:spPr>
      </p:sp>
      <p:sp>
        <p:nvSpPr>
          <p:cNvPr id="5" name="Text 3"/>
          <p:cNvSpPr/>
          <p:nvPr/>
        </p:nvSpPr>
        <p:spPr>
          <a:xfrm>
            <a:off x="640080" y="960120"/>
            <a:ext cx="10058400" cy="365760"/>
          </a:xfrm>
          <a:prstGeom prst="rect">
            <a:avLst/>
          </a:prstGeom>
          <a:noFill/>
          <a:ln/>
        </p:spPr>
        <p:txBody>
          <a:bodyPr wrap="square" lIns="0" tIns="0" rIns="0" bIns="0" rtlCol="0" anchor="ctr"/>
          <a:lstStyle/>
          <a:p>
            <a:pPr indent="0" marL="0">
              <a:buNone/>
            </a:pPr>
            <a:r>
              <a:rPr lang="en-US" sz="1300" b="1" spc="200" kern="0" dirty="0">
                <a:solidFill>
                  <a:srgbClr val="2DD4BF"/>
                </a:solidFill>
                <a:latin typeface="Arial" pitchFamily="34" charset="0"/>
                <a:ea typeface="Arial" pitchFamily="34" charset="-122"/>
                <a:cs typeface="Arial" pitchFamily="34" charset="-120"/>
              </a:rPr>
              <a:t>LUCRARE DE LICENȚĂ  ·  FMI, UNIVERSITATEA DIN BUCUREȘTI</a:t>
            </a:r>
            <a:endParaRPr lang="en-US" sz="1300" dirty="0"/>
          </a:p>
        </p:txBody>
      </p:sp>
      <p:sp>
        <p:nvSpPr>
          <p:cNvPr id="6" name="Text 4"/>
          <p:cNvSpPr/>
          <p:nvPr/>
        </p:nvSpPr>
        <p:spPr>
          <a:xfrm>
            <a:off x="594360" y="1737360"/>
            <a:ext cx="10424160" cy="2103120"/>
          </a:xfrm>
          <a:prstGeom prst="rect">
            <a:avLst/>
          </a:prstGeom>
          <a:noFill/>
          <a:ln/>
        </p:spPr>
        <p:txBody>
          <a:bodyPr wrap="square" lIns="0" tIns="0" rIns="0" bIns="0" rtlCol="0" anchor="ctr"/>
          <a:lstStyle/>
          <a:p>
            <a:pPr indent="0" marL="0">
              <a:lnSpc>
                <a:spcPct val="100000"/>
              </a:lnSpc>
              <a:buNone/>
            </a:pPr>
            <a:r>
              <a:rPr lang="en-US" sz="4600" b="1" dirty="0">
                <a:solidFill>
                  <a:srgbClr val="F4F7FB"/>
                </a:solidFill>
                <a:latin typeface="Arial" pitchFamily="34" charset="0"/>
                <a:ea typeface="Arial" pitchFamily="34" charset="-122"/>
                <a:cs typeface="Arial" pitchFamily="34" charset="-120"/>
              </a:rPr>
              <a:t>Recunoașterea emoțiilor printr-o</a:t>
            </a:r>
            <a:endParaRPr lang="en-US" sz="4600" dirty="0"/>
          </a:p>
          <a:p>
            <a:pPr indent="0" marL="0">
              <a:lnSpc>
                <a:spcPct val="100000"/>
              </a:lnSpc>
              <a:buNone/>
            </a:pPr>
            <a:r>
              <a:rPr lang="en-US" sz="4600" b="1" dirty="0">
                <a:solidFill>
                  <a:srgbClr val="F4F7FB"/>
                </a:solidFill>
                <a:latin typeface="Arial" pitchFamily="34" charset="0"/>
                <a:ea typeface="Arial" pitchFamily="34" charset="-122"/>
                <a:cs typeface="Arial" pitchFamily="34" charset="-120"/>
              </a:rPr>
              <a:t>abordare multimodală</a:t>
            </a:r>
            <a:endParaRPr lang="en-US" sz="4600" dirty="0"/>
          </a:p>
        </p:txBody>
      </p:sp>
      <p:sp>
        <p:nvSpPr>
          <p:cNvPr id="7" name="Text 5"/>
          <p:cNvSpPr/>
          <p:nvPr/>
        </p:nvSpPr>
        <p:spPr>
          <a:xfrm>
            <a:off x="640080" y="3794760"/>
            <a:ext cx="9692640" cy="822960"/>
          </a:xfrm>
          <a:prstGeom prst="rect">
            <a:avLst/>
          </a:prstGeom>
          <a:noFill/>
          <a:ln/>
        </p:spPr>
        <p:txBody>
          <a:bodyPr wrap="square" lIns="0" tIns="0" rIns="0" bIns="0" rtlCol="0" anchor="ctr"/>
          <a:lstStyle/>
          <a:p>
            <a:pPr indent="0" marL="0">
              <a:buNone/>
            </a:pPr>
            <a:r>
              <a:rPr lang="en-US" sz="1700" dirty="0">
                <a:solidFill>
                  <a:srgbClr val="9BA7BC"/>
                </a:solidFill>
                <a:latin typeface="Arial" pitchFamily="34" charset="0"/>
                <a:ea typeface="Arial" pitchFamily="34" charset="-122"/>
                <a:cs typeface="Arial" pitchFamily="34" charset="-120"/>
              </a:rPr>
              <a:t>Text · Audio · Imagine — fuziune multimodală, explicabilitate și compromisul acuratețe–eficiență pe setul de date MELD</a:t>
            </a:r>
            <a:endParaRPr lang="en-US" sz="1700" dirty="0"/>
          </a:p>
        </p:txBody>
      </p:sp>
      <p:sp>
        <p:nvSpPr>
          <p:cNvPr id="8" name="Shape 6"/>
          <p:cNvSpPr/>
          <p:nvPr/>
        </p:nvSpPr>
        <p:spPr>
          <a:xfrm>
            <a:off x="640080" y="4800600"/>
            <a:ext cx="1600200" cy="457200"/>
          </a:xfrm>
          <a:prstGeom prst="roundRect">
            <a:avLst>
              <a:gd name="adj" fmla="val 50000"/>
            </a:avLst>
          </a:prstGeom>
          <a:solidFill>
            <a:srgbClr val="1A2236"/>
          </a:solidFill>
          <a:ln w="15875">
            <a:solidFill>
              <a:srgbClr val="2DD4BF"/>
            </a:solidFill>
            <a:prstDash val="solid"/>
          </a:ln>
        </p:spPr>
      </p:sp>
      <p:sp>
        <p:nvSpPr>
          <p:cNvPr id="9" name="Shape 7"/>
          <p:cNvSpPr/>
          <p:nvPr/>
        </p:nvSpPr>
        <p:spPr>
          <a:xfrm>
            <a:off x="841248" y="4956048"/>
            <a:ext cx="146304" cy="146304"/>
          </a:xfrm>
          <a:prstGeom prst="ellipse">
            <a:avLst/>
          </a:prstGeom>
          <a:solidFill>
            <a:srgbClr val="2DD4BF"/>
          </a:solidFill>
          <a:ln/>
        </p:spPr>
      </p:sp>
      <p:sp>
        <p:nvSpPr>
          <p:cNvPr id="10" name="Text 8"/>
          <p:cNvSpPr/>
          <p:nvPr/>
        </p:nvSpPr>
        <p:spPr>
          <a:xfrm>
            <a:off x="1051560" y="4800600"/>
            <a:ext cx="1097280" cy="457200"/>
          </a:xfrm>
          <a:prstGeom prst="rect">
            <a:avLst/>
          </a:prstGeom>
          <a:noFill/>
          <a:ln/>
        </p:spPr>
        <p:txBody>
          <a:bodyPr wrap="square" lIns="0" tIns="0" rIns="0" bIns="0" rtlCol="0" anchor="ctr"/>
          <a:lstStyle/>
          <a:p>
            <a:pPr indent="0" marL="0">
              <a:buNone/>
            </a:pPr>
            <a:r>
              <a:rPr lang="en-US" sz="1300" b="1" dirty="0">
                <a:solidFill>
                  <a:srgbClr val="F4F7FB"/>
                </a:solidFill>
                <a:latin typeface="Arial" pitchFamily="34" charset="0"/>
                <a:ea typeface="Arial" pitchFamily="34" charset="-122"/>
                <a:cs typeface="Arial" pitchFamily="34" charset="-120"/>
              </a:rPr>
              <a:t>Text</a:t>
            </a:r>
            <a:endParaRPr lang="en-US" sz="1300" dirty="0"/>
          </a:p>
        </p:txBody>
      </p:sp>
      <p:sp>
        <p:nvSpPr>
          <p:cNvPr id="11" name="Shape 9"/>
          <p:cNvSpPr/>
          <p:nvPr/>
        </p:nvSpPr>
        <p:spPr>
          <a:xfrm>
            <a:off x="2423160" y="4800600"/>
            <a:ext cx="1600200" cy="457200"/>
          </a:xfrm>
          <a:prstGeom prst="roundRect">
            <a:avLst>
              <a:gd name="adj" fmla="val 50000"/>
            </a:avLst>
          </a:prstGeom>
          <a:solidFill>
            <a:srgbClr val="1A2236"/>
          </a:solidFill>
          <a:ln w="15875">
            <a:solidFill>
              <a:srgbClr val="FBBF24"/>
            </a:solidFill>
            <a:prstDash val="solid"/>
          </a:ln>
        </p:spPr>
      </p:sp>
      <p:sp>
        <p:nvSpPr>
          <p:cNvPr id="12" name="Shape 10"/>
          <p:cNvSpPr/>
          <p:nvPr/>
        </p:nvSpPr>
        <p:spPr>
          <a:xfrm>
            <a:off x="2624328" y="4956048"/>
            <a:ext cx="146304" cy="146304"/>
          </a:xfrm>
          <a:prstGeom prst="ellipse">
            <a:avLst/>
          </a:prstGeom>
          <a:solidFill>
            <a:srgbClr val="FBBF24"/>
          </a:solidFill>
          <a:ln/>
        </p:spPr>
      </p:sp>
      <p:sp>
        <p:nvSpPr>
          <p:cNvPr id="13" name="Text 11"/>
          <p:cNvSpPr/>
          <p:nvPr/>
        </p:nvSpPr>
        <p:spPr>
          <a:xfrm>
            <a:off x="2834640" y="4800600"/>
            <a:ext cx="1097280" cy="457200"/>
          </a:xfrm>
          <a:prstGeom prst="rect">
            <a:avLst/>
          </a:prstGeom>
          <a:noFill/>
          <a:ln/>
        </p:spPr>
        <p:txBody>
          <a:bodyPr wrap="square" lIns="0" tIns="0" rIns="0" bIns="0" rtlCol="0" anchor="ctr"/>
          <a:lstStyle/>
          <a:p>
            <a:pPr indent="0" marL="0">
              <a:buNone/>
            </a:pPr>
            <a:r>
              <a:rPr lang="en-US" sz="1300" b="1" dirty="0">
                <a:solidFill>
                  <a:srgbClr val="F4F7FB"/>
                </a:solidFill>
                <a:latin typeface="Arial" pitchFamily="34" charset="0"/>
                <a:ea typeface="Arial" pitchFamily="34" charset="-122"/>
                <a:cs typeface="Arial" pitchFamily="34" charset="-120"/>
              </a:rPr>
              <a:t>Audio</a:t>
            </a:r>
            <a:endParaRPr lang="en-US" sz="1300" dirty="0"/>
          </a:p>
        </p:txBody>
      </p:sp>
      <p:sp>
        <p:nvSpPr>
          <p:cNvPr id="14" name="Shape 12"/>
          <p:cNvSpPr/>
          <p:nvPr/>
        </p:nvSpPr>
        <p:spPr>
          <a:xfrm>
            <a:off x="4206240" y="4800600"/>
            <a:ext cx="1600200" cy="457200"/>
          </a:xfrm>
          <a:prstGeom prst="roundRect">
            <a:avLst>
              <a:gd name="adj" fmla="val 50000"/>
            </a:avLst>
          </a:prstGeom>
          <a:solidFill>
            <a:srgbClr val="1A2236"/>
          </a:solidFill>
          <a:ln w="15875">
            <a:solidFill>
              <a:srgbClr val="F25C54"/>
            </a:solidFill>
            <a:prstDash val="solid"/>
          </a:ln>
        </p:spPr>
      </p:sp>
      <p:sp>
        <p:nvSpPr>
          <p:cNvPr id="15" name="Shape 13"/>
          <p:cNvSpPr/>
          <p:nvPr/>
        </p:nvSpPr>
        <p:spPr>
          <a:xfrm>
            <a:off x="4407408" y="4956048"/>
            <a:ext cx="146304" cy="146304"/>
          </a:xfrm>
          <a:prstGeom prst="ellipse">
            <a:avLst/>
          </a:prstGeom>
          <a:solidFill>
            <a:srgbClr val="F25C54"/>
          </a:solidFill>
          <a:ln/>
        </p:spPr>
      </p:sp>
      <p:sp>
        <p:nvSpPr>
          <p:cNvPr id="16" name="Text 14"/>
          <p:cNvSpPr/>
          <p:nvPr/>
        </p:nvSpPr>
        <p:spPr>
          <a:xfrm>
            <a:off x="4617720" y="4800600"/>
            <a:ext cx="1097280" cy="457200"/>
          </a:xfrm>
          <a:prstGeom prst="rect">
            <a:avLst/>
          </a:prstGeom>
          <a:noFill/>
          <a:ln/>
        </p:spPr>
        <p:txBody>
          <a:bodyPr wrap="square" lIns="0" tIns="0" rIns="0" bIns="0" rtlCol="0" anchor="ctr"/>
          <a:lstStyle/>
          <a:p>
            <a:pPr indent="0" marL="0">
              <a:buNone/>
            </a:pPr>
            <a:r>
              <a:rPr lang="en-US" sz="1300" b="1" dirty="0">
                <a:solidFill>
                  <a:srgbClr val="F4F7FB"/>
                </a:solidFill>
                <a:latin typeface="Arial" pitchFamily="34" charset="0"/>
                <a:ea typeface="Arial" pitchFamily="34" charset="-122"/>
                <a:cs typeface="Arial" pitchFamily="34" charset="-120"/>
              </a:rPr>
              <a:t>Imagine</a:t>
            </a:r>
            <a:endParaRPr lang="en-US" sz="1300" dirty="0"/>
          </a:p>
        </p:txBody>
      </p:sp>
      <p:sp>
        <p:nvSpPr>
          <p:cNvPr id="17" name="Text 15"/>
          <p:cNvSpPr/>
          <p:nvPr/>
        </p:nvSpPr>
        <p:spPr>
          <a:xfrm>
            <a:off x="640080" y="5989320"/>
            <a:ext cx="10972800" cy="457200"/>
          </a:xfrm>
          <a:prstGeom prst="rect">
            <a:avLst/>
          </a:prstGeom>
          <a:noFill/>
          <a:ln/>
        </p:spPr>
        <p:txBody>
          <a:bodyPr wrap="square" lIns="0" tIns="0" rIns="0" bIns="0" rtlCol="0" anchor="ctr"/>
          <a:lstStyle/>
          <a:p>
            <a:pPr indent="0" marL="0">
              <a:buNone/>
            </a:pPr>
            <a:r>
              <a:rPr lang="en-US" sz="1300" dirty="0">
                <a:solidFill>
                  <a:srgbClr val="9BA7BC"/>
                </a:solidFill>
                <a:latin typeface="Arial" pitchFamily="34" charset="0"/>
                <a:ea typeface="Arial" pitchFamily="34" charset="-122"/>
                <a:cs typeface="Arial" pitchFamily="34" charset="-120"/>
              </a:rPr>
              <a:t>Absolvent:  </a:t>
            </a:r>
            <a:pPr indent="0" marL="0">
              <a:buNone/>
            </a:pPr>
            <a:r>
              <a:rPr lang="en-US" sz="1300" b="1" dirty="0">
                <a:solidFill>
                  <a:srgbClr val="F4F7FB"/>
                </a:solidFill>
                <a:latin typeface="Arial" pitchFamily="34" charset="0"/>
                <a:ea typeface="Arial" pitchFamily="34" charset="-122"/>
                <a:cs typeface="Arial" pitchFamily="34" charset="-120"/>
              </a:rPr>
              <a:t>Ionașcu Andrei</a:t>
            </a:r>
            <a:pPr indent="0" marL="0">
              <a:buNone/>
            </a:pPr>
            <a:r>
              <a:rPr lang="en-US" sz="1300" dirty="0">
                <a:solidFill>
                  <a:srgbClr val="9BA7BC"/>
                </a:solidFill>
                <a:latin typeface="Arial" pitchFamily="34" charset="0"/>
                <a:ea typeface="Arial" pitchFamily="34" charset="-122"/>
                <a:cs typeface="Arial" pitchFamily="34" charset="-120"/>
              </a:rPr>
              <a:t>      Coordonator:  </a:t>
            </a:r>
            <a:pPr indent="0" marL="0">
              <a:buNone/>
            </a:pPr>
            <a:r>
              <a:rPr lang="en-US" sz="1300" b="1" dirty="0">
                <a:solidFill>
                  <a:srgbClr val="F4F7FB"/>
                </a:solidFill>
                <a:latin typeface="Arial" pitchFamily="34" charset="0"/>
                <a:ea typeface="Arial" pitchFamily="34" charset="-122"/>
                <a:cs typeface="Arial" pitchFamily="34" charset="-120"/>
              </a:rPr>
              <a:t>Conf. Univ. Dr. Alexe Dumitru-Bogdan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2DD4BF"/>
                </a:solidFill>
                <a:latin typeface="Arial" pitchFamily="34" charset="0"/>
                <a:ea typeface="Arial" pitchFamily="34" charset="-122"/>
                <a:cs typeface="Arial" pitchFamily="34" charset="-120"/>
              </a:rPr>
              <a:t>MOTIVAȚIE ȘI PROBLEMĂ</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02</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De ce e greu — și de ce contează</a:t>
            </a:r>
            <a:endParaRPr lang="en-US" sz="3200" dirty="0"/>
          </a:p>
        </p:txBody>
      </p:sp>
      <p:sp>
        <p:nvSpPr>
          <p:cNvPr id="6" name="Text 4"/>
          <p:cNvSpPr/>
          <p:nvPr/>
        </p:nvSpPr>
        <p:spPr>
          <a:xfrm>
            <a:off x="548640" y="1554480"/>
            <a:ext cx="10972800" cy="457200"/>
          </a:xfrm>
          <a:prstGeom prst="rect">
            <a:avLst/>
          </a:prstGeom>
          <a:noFill/>
          <a:ln/>
        </p:spPr>
        <p:txBody>
          <a:bodyPr wrap="square" lIns="0" tIns="0" rIns="0" bIns="0" rtlCol="0" anchor="ctr"/>
          <a:lstStyle/>
          <a:p>
            <a:pPr indent="0" marL="0">
              <a:buNone/>
            </a:pPr>
            <a:r>
              <a:rPr lang="en-US" sz="1600" dirty="0">
                <a:solidFill>
                  <a:srgbClr val="9BA7BC"/>
                </a:solidFill>
                <a:latin typeface="Arial" pitchFamily="34" charset="0"/>
                <a:ea typeface="Arial" pitchFamily="34" charset="-122"/>
                <a:cs typeface="Arial" pitchFamily="34" charset="-120"/>
              </a:rPr>
              <a:t>Modelele moderne recunosc emoții bine, dar în conversații reale rămân deschise trei tensiuni:</a:t>
            </a:r>
            <a:endParaRPr lang="en-US" sz="1600" dirty="0"/>
          </a:p>
        </p:txBody>
      </p:sp>
      <p:sp>
        <p:nvSpPr>
          <p:cNvPr id="7" name="Shape 5"/>
          <p:cNvSpPr/>
          <p:nvPr/>
        </p:nvSpPr>
        <p:spPr>
          <a:xfrm>
            <a:off x="548640" y="2286000"/>
            <a:ext cx="3474720" cy="3200400"/>
          </a:xfrm>
          <a:prstGeom prst="roundRect">
            <a:avLst>
              <a:gd name="adj" fmla="val 2571"/>
            </a:avLst>
          </a:prstGeom>
          <a:solidFill>
            <a:srgbClr val="1A2236"/>
          </a:solidFill>
          <a:ln/>
          <a:effectLst>
            <a:outerShdw sx="100000" sy="100000" kx="0" ky="0" algn="bl" rotWithShape="0" blurRad="114300" dist="38100" dir="5400000">
              <a:srgbClr val="000000">
                <a:alpha val="35000"/>
              </a:srgbClr>
            </a:outerShdw>
          </a:effectLst>
        </p:spPr>
      </p:sp>
      <p:sp>
        <p:nvSpPr>
          <p:cNvPr id="8" name="Shape 6"/>
          <p:cNvSpPr/>
          <p:nvPr/>
        </p:nvSpPr>
        <p:spPr>
          <a:xfrm>
            <a:off x="868680" y="2651760"/>
            <a:ext cx="256032" cy="256032"/>
          </a:xfrm>
          <a:prstGeom prst="ellipse">
            <a:avLst/>
          </a:prstGeom>
          <a:solidFill>
            <a:srgbClr val="2DD4BF"/>
          </a:solidFill>
          <a:ln/>
        </p:spPr>
      </p:sp>
      <p:sp>
        <p:nvSpPr>
          <p:cNvPr id="9" name="Text 7"/>
          <p:cNvSpPr/>
          <p:nvPr/>
        </p:nvSpPr>
        <p:spPr>
          <a:xfrm>
            <a:off x="868680" y="3063240"/>
            <a:ext cx="2880360" cy="777240"/>
          </a:xfrm>
          <a:prstGeom prst="rect">
            <a:avLst/>
          </a:prstGeom>
          <a:noFill/>
          <a:ln/>
        </p:spPr>
        <p:txBody>
          <a:bodyPr wrap="square" lIns="0" tIns="0" rIns="0" bIns="0" rtlCol="0" anchor="t"/>
          <a:lstStyle/>
          <a:p>
            <a:pPr indent="0" marL="0">
              <a:buNone/>
            </a:pPr>
            <a:r>
              <a:rPr lang="en-US" sz="1800" b="1" dirty="0">
                <a:solidFill>
                  <a:srgbClr val="F4F7FB"/>
                </a:solidFill>
                <a:latin typeface="Arial" pitchFamily="34" charset="0"/>
                <a:ea typeface="Arial" pitchFamily="34" charset="-122"/>
                <a:cs typeface="Arial" pitchFamily="34" charset="-120"/>
              </a:rPr>
              <a:t>O singură modalitate nu ajunge</a:t>
            </a:r>
            <a:endParaRPr lang="en-US" sz="1800" dirty="0"/>
          </a:p>
        </p:txBody>
      </p:sp>
      <p:sp>
        <p:nvSpPr>
          <p:cNvPr id="10" name="Text 8"/>
          <p:cNvSpPr/>
          <p:nvPr/>
        </p:nvSpPr>
        <p:spPr>
          <a:xfrm>
            <a:off x="868680" y="3886200"/>
            <a:ext cx="2880360" cy="1463040"/>
          </a:xfrm>
          <a:prstGeom prst="rect">
            <a:avLst/>
          </a:prstGeom>
          <a:noFill/>
          <a:ln/>
        </p:spPr>
        <p:txBody>
          <a:bodyPr wrap="square" lIns="0" tIns="0" rIns="0" bIns="0" rtlCol="0" anchor="ctr"/>
          <a:lstStyle/>
          <a:p>
            <a:pPr indent="0" marL="0">
              <a:lnSpc>
                <a:spcPct val="105000"/>
              </a:lnSpc>
              <a:buNone/>
            </a:pPr>
            <a:r>
              <a:rPr lang="en-US" sz="1400" dirty="0">
                <a:solidFill>
                  <a:srgbClr val="9BA7BC"/>
                </a:solidFill>
                <a:latin typeface="Arial" pitchFamily="34" charset="0"/>
                <a:ea typeface="Arial" pitchFamily="34" charset="-122"/>
                <a:cs typeface="Arial" pitchFamily="34" charset="-120"/>
              </a:rPr>
              <a:t>„I'm so sorry” poate fi tristețe sau sarcasm. Sensul real vine din ton și expresie — nu doar din cuvinte.</a:t>
            </a:r>
            <a:endParaRPr lang="en-US" sz="1400" dirty="0"/>
          </a:p>
        </p:txBody>
      </p:sp>
      <p:sp>
        <p:nvSpPr>
          <p:cNvPr id="11" name="Shape 9"/>
          <p:cNvSpPr/>
          <p:nvPr/>
        </p:nvSpPr>
        <p:spPr>
          <a:xfrm>
            <a:off x="4270248" y="2286000"/>
            <a:ext cx="3474720" cy="3200400"/>
          </a:xfrm>
          <a:prstGeom prst="roundRect">
            <a:avLst>
              <a:gd name="adj" fmla="val 2571"/>
            </a:avLst>
          </a:prstGeom>
          <a:solidFill>
            <a:srgbClr val="1A2236"/>
          </a:solidFill>
          <a:ln/>
          <a:effectLst>
            <a:outerShdw sx="100000" sy="100000" kx="0" ky="0" algn="bl" rotWithShape="0" blurRad="114300" dist="38100" dir="5400000">
              <a:srgbClr val="000000">
                <a:alpha val="35000"/>
              </a:srgbClr>
            </a:outerShdw>
          </a:effectLst>
        </p:spPr>
      </p:sp>
      <p:sp>
        <p:nvSpPr>
          <p:cNvPr id="12" name="Shape 10"/>
          <p:cNvSpPr/>
          <p:nvPr/>
        </p:nvSpPr>
        <p:spPr>
          <a:xfrm>
            <a:off x="4590288" y="2651760"/>
            <a:ext cx="256032" cy="256032"/>
          </a:xfrm>
          <a:prstGeom prst="ellipse">
            <a:avLst/>
          </a:prstGeom>
          <a:solidFill>
            <a:srgbClr val="A78BFA"/>
          </a:solidFill>
          <a:ln/>
        </p:spPr>
      </p:sp>
      <p:sp>
        <p:nvSpPr>
          <p:cNvPr id="13" name="Text 11"/>
          <p:cNvSpPr/>
          <p:nvPr/>
        </p:nvSpPr>
        <p:spPr>
          <a:xfrm>
            <a:off x="4590288" y="3063240"/>
            <a:ext cx="2880360" cy="777240"/>
          </a:xfrm>
          <a:prstGeom prst="rect">
            <a:avLst/>
          </a:prstGeom>
          <a:noFill/>
          <a:ln/>
        </p:spPr>
        <p:txBody>
          <a:bodyPr wrap="square" lIns="0" tIns="0" rIns="0" bIns="0" rtlCol="0" anchor="t"/>
          <a:lstStyle/>
          <a:p>
            <a:pPr indent="0" marL="0">
              <a:buNone/>
            </a:pPr>
            <a:r>
              <a:rPr lang="en-US" sz="1800" b="1" dirty="0">
                <a:solidFill>
                  <a:srgbClr val="F4F7FB"/>
                </a:solidFill>
                <a:latin typeface="Arial" pitchFamily="34" charset="0"/>
                <a:ea typeface="Arial" pitchFamily="34" charset="-122"/>
                <a:cs typeface="Arial" pitchFamily="34" charset="-120"/>
              </a:rPr>
              <a:t>Modele de tip black-box</a:t>
            </a:r>
            <a:endParaRPr lang="en-US" sz="1800" dirty="0"/>
          </a:p>
        </p:txBody>
      </p:sp>
      <p:sp>
        <p:nvSpPr>
          <p:cNvPr id="14" name="Text 12"/>
          <p:cNvSpPr/>
          <p:nvPr/>
        </p:nvSpPr>
        <p:spPr>
          <a:xfrm>
            <a:off x="4590288" y="3886200"/>
            <a:ext cx="2880360" cy="1463040"/>
          </a:xfrm>
          <a:prstGeom prst="rect">
            <a:avLst/>
          </a:prstGeom>
          <a:noFill/>
          <a:ln/>
        </p:spPr>
        <p:txBody>
          <a:bodyPr wrap="square" lIns="0" tIns="0" rIns="0" bIns="0" rtlCol="0" anchor="ctr"/>
          <a:lstStyle/>
          <a:p>
            <a:pPr indent="0" marL="0">
              <a:lnSpc>
                <a:spcPct val="105000"/>
              </a:lnSpc>
              <a:buNone/>
            </a:pPr>
            <a:r>
              <a:rPr lang="en-US" sz="1400" dirty="0">
                <a:solidFill>
                  <a:srgbClr val="9BA7BC"/>
                </a:solidFill>
                <a:latin typeface="Arial" pitchFamily="34" charset="0"/>
                <a:ea typeface="Arial" pitchFamily="34" charset="-122"/>
                <a:cs typeface="Arial" pitchFamily="34" charset="-120"/>
              </a:rPr>
              <a:t>Acuratețea maximă duce la modele opace. Fără a înțelege „de ce”, e greu să avem încredere în sistem.</a:t>
            </a:r>
            <a:endParaRPr lang="en-US" sz="1400" dirty="0"/>
          </a:p>
        </p:txBody>
      </p:sp>
      <p:sp>
        <p:nvSpPr>
          <p:cNvPr id="15" name="Shape 13"/>
          <p:cNvSpPr/>
          <p:nvPr/>
        </p:nvSpPr>
        <p:spPr>
          <a:xfrm>
            <a:off x="7991856" y="2286000"/>
            <a:ext cx="3474720" cy="3200400"/>
          </a:xfrm>
          <a:prstGeom prst="roundRect">
            <a:avLst>
              <a:gd name="adj" fmla="val 2571"/>
            </a:avLst>
          </a:prstGeom>
          <a:solidFill>
            <a:srgbClr val="1A2236"/>
          </a:solidFill>
          <a:ln/>
          <a:effectLst>
            <a:outerShdw sx="100000" sy="100000" kx="0" ky="0" algn="bl" rotWithShape="0" blurRad="114300" dist="38100" dir="5400000">
              <a:srgbClr val="000000">
                <a:alpha val="35000"/>
              </a:srgbClr>
            </a:outerShdw>
          </a:effectLst>
        </p:spPr>
      </p:sp>
      <p:sp>
        <p:nvSpPr>
          <p:cNvPr id="16" name="Shape 14"/>
          <p:cNvSpPr/>
          <p:nvPr/>
        </p:nvSpPr>
        <p:spPr>
          <a:xfrm>
            <a:off x="8311896" y="2651760"/>
            <a:ext cx="256032" cy="256032"/>
          </a:xfrm>
          <a:prstGeom prst="ellipse">
            <a:avLst/>
          </a:prstGeom>
          <a:solidFill>
            <a:srgbClr val="FBBF24"/>
          </a:solidFill>
          <a:ln/>
        </p:spPr>
      </p:sp>
      <p:sp>
        <p:nvSpPr>
          <p:cNvPr id="17" name="Text 15"/>
          <p:cNvSpPr/>
          <p:nvPr/>
        </p:nvSpPr>
        <p:spPr>
          <a:xfrm>
            <a:off x="8311896" y="3063240"/>
            <a:ext cx="2880360" cy="777240"/>
          </a:xfrm>
          <a:prstGeom prst="rect">
            <a:avLst/>
          </a:prstGeom>
          <a:noFill/>
          <a:ln/>
        </p:spPr>
        <p:txBody>
          <a:bodyPr wrap="square" lIns="0" tIns="0" rIns="0" bIns="0" rtlCol="0" anchor="t"/>
          <a:lstStyle/>
          <a:p>
            <a:pPr indent="0" marL="0">
              <a:buNone/>
            </a:pPr>
            <a:r>
              <a:rPr lang="en-US" sz="1800" b="1" dirty="0">
                <a:solidFill>
                  <a:srgbClr val="F4F7FB"/>
                </a:solidFill>
                <a:latin typeface="Arial" pitchFamily="34" charset="0"/>
                <a:ea typeface="Arial" pitchFamily="34" charset="-122"/>
                <a:cs typeface="Arial" pitchFamily="34" charset="-120"/>
              </a:rPr>
              <a:t>Cost computațional ridicat</a:t>
            </a:r>
            <a:endParaRPr lang="en-US" sz="1800" dirty="0"/>
          </a:p>
        </p:txBody>
      </p:sp>
      <p:sp>
        <p:nvSpPr>
          <p:cNvPr id="18" name="Text 16"/>
          <p:cNvSpPr/>
          <p:nvPr/>
        </p:nvSpPr>
        <p:spPr>
          <a:xfrm>
            <a:off x="8311896" y="3886200"/>
            <a:ext cx="2880360" cy="1463040"/>
          </a:xfrm>
          <a:prstGeom prst="rect">
            <a:avLst/>
          </a:prstGeom>
          <a:noFill/>
          <a:ln/>
        </p:spPr>
        <p:txBody>
          <a:bodyPr wrap="square" lIns="0" tIns="0" rIns="0" bIns="0" rtlCol="0" anchor="ctr"/>
          <a:lstStyle/>
          <a:p>
            <a:pPr indent="0" marL="0">
              <a:lnSpc>
                <a:spcPct val="105000"/>
              </a:lnSpc>
              <a:buNone/>
            </a:pPr>
            <a:r>
              <a:rPr lang="en-US" sz="1400" dirty="0">
                <a:solidFill>
                  <a:srgbClr val="9BA7BC"/>
                </a:solidFill>
                <a:latin typeface="Arial" pitchFamily="34" charset="0"/>
                <a:ea typeface="Arial" pitchFamily="34" charset="-122"/>
                <a:cs typeface="Arial" pitchFamily="34" charset="-120"/>
              </a:rPr>
              <a:t>Modelele State-of-the-Art sunt scumpe. Pe dispozitive edge, un model rapid și mic poate fi de preferat.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2DD4BF"/>
                </a:solidFill>
                <a:latin typeface="Arial" pitchFamily="34" charset="0"/>
                <a:ea typeface="Arial" pitchFamily="34" charset="-122"/>
                <a:cs typeface="Arial" pitchFamily="34" charset="-120"/>
              </a:rPr>
              <a:t>SETUL DE DATE</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03</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MELD — emoții din serialul Friends</a:t>
            </a:r>
            <a:endParaRPr lang="en-US" sz="3200" dirty="0"/>
          </a:p>
        </p:txBody>
      </p:sp>
      <p:sp>
        <p:nvSpPr>
          <p:cNvPr id="6" name="Text 4"/>
          <p:cNvSpPr/>
          <p:nvPr/>
        </p:nvSpPr>
        <p:spPr>
          <a:xfrm>
            <a:off x="548640" y="1508760"/>
            <a:ext cx="6126480" cy="914400"/>
          </a:xfrm>
          <a:prstGeom prst="rect">
            <a:avLst/>
          </a:prstGeom>
          <a:noFill/>
          <a:ln/>
        </p:spPr>
        <p:txBody>
          <a:bodyPr wrap="square" lIns="0" tIns="0" rIns="0" bIns="0" rtlCol="0" anchor="ctr"/>
          <a:lstStyle/>
          <a:p>
            <a:pPr indent="0" marL="0">
              <a:lnSpc>
                <a:spcPct val="108000"/>
              </a:lnSpc>
              <a:buNone/>
            </a:pPr>
            <a:r>
              <a:rPr lang="en-US" sz="1550" dirty="0">
                <a:solidFill>
                  <a:srgbClr val="9BA7BC"/>
                </a:solidFill>
                <a:latin typeface="Arial" pitchFamily="34" charset="0"/>
                <a:ea typeface="Arial" pitchFamily="34" charset="-122"/>
                <a:cs typeface="Arial" pitchFamily="34" charset="-120"/>
              </a:rPr>
              <a:t>Peste 13.000 de replici din ~1.400 de dialoguri, fiecare adnotată cu una din 7 emoții. Aproape de conversații reale — deci și foarte zgomotos.</a:t>
            </a:r>
            <a:endParaRPr lang="en-US" sz="1550" dirty="0"/>
          </a:p>
        </p:txBody>
      </p:sp>
      <p:sp>
        <p:nvSpPr>
          <p:cNvPr id="7" name="Shape 5"/>
          <p:cNvSpPr/>
          <p:nvPr/>
        </p:nvSpPr>
        <p:spPr>
          <a:xfrm>
            <a:off x="548640" y="2606040"/>
            <a:ext cx="5943600" cy="2926080"/>
          </a:xfrm>
          <a:prstGeom prst="roundRect">
            <a:avLst>
              <a:gd name="adj" fmla="val 2813"/>
            </a:avLst>
          </a:prstGeom>
          <a:solidFill>
            <a:srgbClr val="1A2236"/>
          </a:solidFill>
          <a:ln/>
          <a:effectLst>
            <a:outerShdw sx="100000" sy="100000" kx="0" ky="0" algn="bl" rotWithShape="0" blurRad="114300" dist="38100" dir="5400000">
              <a:srgbClr val="000000">
                <a:alpha val="35000"/>
              </a:srgbClr>
            </a:outerShdw>
          </a:effectLst>
        </p:spPr>
      </p:sp>
      <p:sp>
        <p:nvSpPr>
          <p:cNvPr id="8" name="Text 6"/>
          <p:cNvSpPr/>
          <p:nvPr/>
        </p:nvSpPr>
        <p:spPr>
          <a:xfrm>
            <a:off x="868680" y="2788920"/>
            <a:ext cx="5303520" cy="457200"/>
          </a:xfrm>
          <a:prstGeom prst="rect">
            <a:avLst/>
          </a:prstGeom>
          <a:noFill/>
          <a:ln/>
        </p:spPr>
        <p:txBody>
          <a:bodyPr wrap="square" lIns="0" tIns="0" rIns="0" bIns="0" rtlCol="0" anchor="ctr"/>
          <a:lstStyle/>
          <a:p>
            <a:pPr indent="0" marL="0">
              <a:buNone/>
            </a:pPr>
            <a:r>
              <a:rPr lang="en-US" sz="1700" b="1" dirty="0">
                <a:solidFill>
                  <a:srgbClr val="F4F7FB"/>
                </a:solidFill>
                <a:latin typeface="Arial" pitchFamily="34" charset="0"/>
                <a:ea typeface="Arial" pitchFamily="34" charset="-122"/>
                <a:cs typeface="Arial" pitchFamily="34" charset="-120"/>
              </a:rPr>
              <a:t>Principalele provocări</a:t>
            </a:r>
            <a:endParaRPr lang="en-US" sz="1700" dirty="0"/>
          </a:p>
        </p:txBody>
      </p:sp>
      <p:sp>
        <p:nvSpPr>
          <p:cNvPr id="9" name="Shape 7"/>
          <p:cNvSpPr/>
          <p:nvPr/>
        </p:nvSpPr>
        <p:spPr>
          <a:xfrm>
            <a:off x="896112" y="3300984"/>
            <a:ext cx="146304" cy="146304"/>
          </a:xfrm>
          <a:prstGeom prst="ellipse">
            <a:avLst/>
          </a:prstGeom>
          <a:solidFill>
            <a:srgbClr val="F25C54"/>
          </a:solidFill>
          <a:ln/>
        </p:spPr>
      </p:sp>
      <p:sp>
        <p:nvSpPr>
          <p:cNvPr id="10" name="Text 8"/>
          <p:cNvSpPr/>
          <p:nvPr/>
        </p:nvSpPr>
        <p:spPr>
          <a:xfrm>
            <a:off x="1143000" y="3246120"/>
            <a:ext cx="5212080" cy="4572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Sarcasm  —  </a:t>
            </a:r>
            <a:pPr indent="0" marL="0">
              <a:buNone/>
            </a:pPr>
            <a:r>
              <a:rPr lang="en-US" sz="1350" dirty="0">
                <a:solidFill>
                  <a:srgbClr val="9BA7BC"/>
                </a:solidFill>
                <a:latin typeface="Arial" pitchFamily="34" charset="0"/>
                <a:ea typeface="Arial" pitchFamily="34" charset="-122"/>
                <a:cs typeface="Arial" pitchFamily="34" charset="-120"/>
              </a:rPr>
              <a:t>textul spune una, sensul e altul</a:t>
            </a:r>
            <a:endParaRPr lang="en-US" sz="1350" dirty="0"/>
          </a:p>
        </p:txBody>
      </p:sp>
      <p:sp>
        <p:nvSpPr>
          <p:cNvPr id="11" name="Shape 9"/>
          <p:cNvSpPr/>
          <p:nvPr/>
        </p:nvSpPr>
        <p:spPr>
          <a:xfrm>
            <a:off x="896112" y="3867912"/>
            <a:ext cx="146304" cy="146304"/>
          </a:xfrm>
          <a:prstGeom prst="ellipse">
            <a:avLst/>
          </a:prstGeom>
          <a:solidFill>
            <a:srgbClr val="FBBF24"/>
          </a:solidFill>
          <a:ln/>
        </p:spPr>
      </p:sp>
      <p:sp>
        <p:nvSpPr>
          <p:cNvPr id="12" name="Text 10"/>
          <p:cNvSpPr/>
          <p:nvPr/>
        </p:nvSpPr>
        <p:spPr>
          <a:xfrm>
            <a:off x="1143000" y="3813048"/>
            <a:ext cx="5212080" cy="4572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Râsete în post-producție  —  </a:t>
            </a:r>
            <a:pPr indent="0" marL="0">
              <a:buNone/>
            </a:pPr>
            <a:r>
              <a:rPr lang="en-US" sz="1350" dirty="0">
                <a:solidFill>
                  <a:srgbClr val="9BA7BC"/>
                </a:solidFill>
                <a:latin typeface="Arial" pitchFamily="34" charset="0"/>
                <a:ea typeface="Arial" pitchFamily="34" charset="-122"/>
                <a:cs typeface="Arial" pitchFamily="34" charset="-120"/>
              </a:rPr>
              <a:t>induc în eroare modelele audio</a:t>
            </a:r>
            <a:endParaRPr lang="en-US" sz="1350" dirty="0"/>
          </a:p>
        </p:txBody>
      </p:sp>
      <p:sp>
        <p:nvSpPr>
          <p:cNvPr id="13" name="Shape 11"/>
          <p:cNvSpPr/>
          <p:nvPr/>
        </p:nvSpPr>
        <p:spPr>
          <a:xfrm>
            <a:off x="896112" y="4434840"/>
            <a:ext cx="146304" cy="146304"/>
          </a:xfrm>
          <a:prstGeom prst="ellipse">
            <a:avLst/>
          </a:prstGeom>
          <a:solidFill>
            <a:srgbClr val="2DD4BF"/>
          </a:solidFill>
          <a:ln/>
        </p:spPr>
      </p:sp>
      <p:sp>
        <p:nvSpPr>
          <p:cNvPr id="14" name="Text 12"/>
          <p:cNvSpPr/>
          <p:nvPr/>
        </p:nvSpPr>
        <p:spPr>
          <a:xfrm>
            <a:off x="1143000" y="4379976"/>
            <a:ext cx="5212080" cy="4572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Fețe necentrate / motion blur  —  </a:t>
            </a:r>
            <a:pPr indent="0" marL="0">
              <a:buNone/>
            </a:pPr>
            <a:r>
              <a:rPr lang="en-US" sz="1350" dirty="0">
                <a:solidFill>
                  <a:srgbClr val="9BA7BC"/>
                </a:solidFill>
                <a:latin typeface="Arial" pitchFamily="34" charset="0"/>
                <a:ea typeface="Arial" pitchFamily="34" charset="-122"/>
                <a:cs typeface="Arial" pitchFamily="34" charset="-120"/>
              </a:rPr>
              <a:t>vorbitorul nu e mereu în prim-plan</a:t>
            </a:r>
            <a:endParaRPr lang="en-US" sz="1350" dirty="0"/>
          </a:p>
        </p:txBody>
      </p:sp>
      <p:sp>
        <p:nvSpPr>
          <p:cNvPr id="15" name="Shape 13"/>
          <p:cNvSpPr/>
          <p:nvPr/>
        </p:nvSpPr>
        <p:spPr>
          <a:xfrm>
            <a:off x="896112" y="5001768"/>
            <a:ext cx="146304" cy="146304"/>
          </a:xfrm>
          <a:prstGeom prst="ellipse">
            <a:avLst/>
          </a:prstGeom>
          <a:solidFill>
            <a:srgbClr val="A78BFA"/>
          </a:solidFill>
          <a:ln/>
        </p:spPr>
      </p:sp>
      <p:sp>
        <p:nvSpPr>
          <p:cNvPr id="16" name="Text 14"/>
          <p:cNvSpPr/>
          <p:nvPr/>
        </p:nvSpPr>
        <p:spPr>
          <a:xfrm>
            <a:off x="1143000" y="4946904"/>
            <a:ext cx="5212080" cy="4572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Dezechilibru extrem  —  </a:t>
            </a:r>
            <a:pPr indent="0" marL="0">
              <a:buNone/>
            </a:pPr>
            <a:r>
              <a:rPr lang="en-US" sz="1350" dirty="0">
                <a:solidFill>
                  <a:srgbClr val="9BA7BC"/>
                </a:solidFill>
                <a:latin typeface="Arial" pitchFamily="34" charset="0"/>
                <a:ea typeface="Arial" pitchFamily="34" charset="-122"/>
                <a:cs typeface="Arial" pitchFamily="34" charset="-120"/>
              </a:rPr>
              <a:t>neutral 47% vs. disgust &amp; fear &lt;3%</a:t>
            </a:r>
            <a:endParaRPr lang="en-US" sz="1350" dirty="0"/>
          </a:p>
        </p:txBody>
      </p:sp>
      <p:graphicFrame>
        <p:nvGraphicFramePr>
          <p:cNvPr id="17" name="Chart 0" descr=""/>
          <p:cNvGraphicFramePr/>
          <p:nvPr/>
        </p:nvGraphicFramePr>
        <p:xfrm>
          <a:off x="6812280" y="1874520"/>
          <a:ext cx="4892040" cy="365760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548640" y="5715000"/>
            <a:ext cx="11064240" cy="457200"/>
          </a:xfrm>
          <a:prstGeom prst="rect">
            <a:avLst/>
          </a:prstGeom>
          <a:noFill/>
          <a:ln/>
        </p:spPr>
        <p:txBody>
          <a:bodyPr wrap="square" lIns="0" tIns="0" rIns="0" bIns="0" rtlCol="0" anchor="ctr"/>
          <a:lstStyle/>
          <a:p>
            <a:pPr indent="0" marL="0">
              <a:buNone/>
            </a:pPr>
            <a:r>
              <a:rPr lang="en-US" sz="1350" i="1" dirty="0">
                <a:solidFill>
                  <a:srgbClr val="FBBF24"/>
                </a:solidFill>
                <a:latin typeface="Arial" pitchFamily="34" charset="0"/>
                <a:ea typeface="Arial" pitchFamily="34" charset="-122"/>
                <a:cs typeface="Arial" pitchFamily="34" charset="-120"/>
              </a:rPr>
              <a:t>→ Acuratețea simplă e înșelătoare (un model care zice mereu „neutral” ia ~48%). Metrica principală: macro-F1.</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2DD4BF"/>
                </a:solidFill>
                <a:latin typeface="Arial" pitchFamily="34" charset="0"/>
                <a:ea typeface="Arial" pitchFamily="34" charset="-122"/>
                <a:cs typeface="Arial" pitchFamily="34" charset="-120"/>
              </a:rPr>
              <a:t>ABORDAREA</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04</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Două modele per modalitate, apoi fuziune</a:t>
            </a:r>
            <a:endParaRPr lang="en-US" sz="3200" dirty="0"/>
          </a:p>
        </p:txBody>
      </p:sp>
      <p:sp>
        <p:nvSpPr>
          <p:cNvPr id="6" name="Text 4"/>
          <p:cNvSpPr/>
          <p:nvPr/>
        </p:nvSpPr>
        <p:spPr>
          <a:xfrm>
            <a:off x="548640" y="1481328"/>
            <a:ext cx="11155680" cy="640080"/>
          </a:xfrm>
          <a:prstGeom prst="rect">
            <a:avLst/>
          </a:prstGeom>
          <a:noFill/>
          <a:ln/>
        </p:spPr>
        <p:txBody>
          <a:bodyPr wrap="square" lIns="0" tIns="0" rIns="0" bIns="0" rtlCol="0" anchor="ctr"/>
          <a:lstStyle/>
          <a:p>
            <a:pPr indent="0" marL="0">
              <a:lnSpc>
                <a:spcPct val="105000"/>
              </a:lnSpc>
              <a:buNone/>
            </a:pPr>
            <a:r>
              <a:rPr lang="en-US" sz="1500" dirty="0">
                <a:solidFill>
                  <a:srgbClr val="9BA7BC"/>
                </a:solidFill>
                <a:latin typeface="Arial" pitchFamily="34" charset="0"/>
                <a:ea typeface="Arial" pitchFamily="34" charset="-122"/>
                <a:cs typeface="Arial" pitchFamily="34" charset="-120"/>
              </a:rPr>
              <a:t>Pentru fiecare modalitate antrenez un model „complex” (acuratețe) și unul „eficient” (viteză) — ca să măsor exact ce pierd când reduc dimensiunea.</a:t>
            </a:r>
            <a:endParaRPr lang="en-US" sz="1500" dirty="0"/>
          </a:p>
        </p:txBody>
      </p:sp>
      <p:sp>
        <p:nvSpPr>
          <p:cNvPr id="7" name="Shape 5"/>
          <p:cNvSpPr/>
          <p:nvPr/>
        </p:nvSpPr>
        <p:spPr>
          <a:xfrm>
            <a:off x="548640" y="2331720"/>
            <a:ext cx="2377440" cy="2697480"/>
          </a:xfrm>
          <a:prstGeom prst="roundRect">
            <a:avLst>
              <a:gd name="adj" fmla="val 3462"/>
            </a:avLst>
          </a:prstGeom>
          <a:solidFill>
            <a:srgbClr val="1A2236"/>
          </a:solidFill>
          <a:ln/>
          <a:effectLst>
            <a:outerShdw sx="100000" sy="100000" kx="0" ky="0" algn="bl" rotWithShape="0" blurRad="114300" dist="38100" dir="5400000">
              <a:srgbClr val="000000">
                <a:alpha val="35000"/>
              </a:srgbClr>
            </a:outerShdw>
          </a:effectLst>
        </p:spPr>
      </p:sp>
      <p:sp>
        <p:nvSpPr>
          <p:cNvPr id="8" name="Shape 6"/>
          <p:cNvSpPr/>
          <p:nvPr/>
        </p:nvSpPr>
        <p:spPr>
          <a:xfrm>
            <a:off x="822960" y="2606040"/>
            <a:ext cx="201168" cy="201168"/>
          </a:xfrm>
          <a:prstGeom prst="ellipse">
            <a:avLst/>
          </a:prstGeom>
          <a:solidFill>
            <a:srgbClr val="2DD4BF"/>
          </a:solidFill>
          <a:ln/>
        </p:spPr>
      </p:sp>
      <p:sp>
        <p:nvSpPr>
          <p:cNvPr id="9" name="Text 7"/>
          <p:cNvSpPr/>
          <p:nvPr/>
        </p:nvSpPr>
        <p:spPr>
          <a:xfrm>
            <a:off x="1115568" y="2542032"/>
            <a:ext cx="1645920" cy="365760"/>
          </a:xfrm>
          <a:prstGeom prst="rect">
            <a:avLst/>
          </a:prstGeom>
          <a:noFill/>
          <a:ln/>
        </p:spPr>
        <p:txBody>
          <a:bodyPr wrap="square" lIns="0" tIns="0" rIns="0" bIns="0" rtlCol="0" anchor="ctr"/>
          <a:lstStyle/>
          <a:p>
            <a:pPr indent="0" marL="0">
              <a:buNone/>
            </a:pPr>
            <a:r>
              <a:rPr lang="en-US" sz="1800" b="1" dirty="0">
                <a:solidFill>
                  <a:srgbClr val="F4F7FB"/>
                </a:solidFill>
                <a:latin typeface="Arial" pitchFamily="34" charset="0"/>
                <a:ea typeface="Arial" pitchFamily="34" charset="-122"/>
                <a:cs typeface="Arial" pitchFamily="34" charset="-120"/>
              </a:rPr>
              <a:t>Text</a:t>
            </a:r>
            <a:endParaRPr lang="en-US" sz="1800" dirty="0"/>
          </a:p>
        </p:txBody>
      </p:sp>
      <p:sp>
        <p:nvSpPr>
          <p:cNvPr id="10" name="Shape 8"/>
          <p:cNvSpPr/>
          <p:nvPr/>
        </p:nvSpPr>
        <p:spPr>
          <a:xfrm>
            <a:off x="804672" y="3063240"/>
            <a:ext cx="1874520" cy="713232"/>
          </a:xfrm>
          <a:prstGeom prst="roundRect">
            <a:avLst>
              <a:gd name="adj" fmla="val 7692"/>
            </a:avLst>
          </a:prstGeom>
          <a:solidFill>
            <a:srgbClr val="212B42"/>
          </a:solidFill>
          <a:ln w="12700">
            <a:solidFill>
              <a:srgbClr val="2DD4BF"/>
            </a:solidFill>
            <a:prstDash val="solid"/>
          </a:ln>
        </p:spPr>
      </p:sp>
      <p:sp>
        <p:nvSpPr>
          <p:cNvPr id="11" name="Text 9"/>
          <p:cNvSpPr/>
          <p:nvPr/>
        </p:nvSpPr>
        <p:spPr>
          <a:xfrm>
            <a:off x="804672" y="3063240"/>
            <a:ext cx="1874520" cy="713232"/>
          </a:xfrm>
          <a:prstGeom prst="rect">
            <a:avLst/>
          </a:prstGeom>
          <a:noFill/>
          <a:ln/>
        </p:spPr>
        <p:txBody>
          <a:bodyPr wrap="square" lIns="0" tIns="0" rIns="0" bIns="0" rtlCol="0" anchor="ctr"/>
          <a:lstStyle/>
          <a:p>
            <a:pPr algn="ctr" indent="0" marL="0">
              <a:lnSpc>
                <a:spcPct val="95000"/>
              </a:lnSpc>
              <a:buNone/>
            </a:pPr>
            <a:r>
              <a:rPr lang="en-US" sz="900" b="1" spc="100" kern="0" dirty="0">
                <a:solidFill>
                  <a:srgbClr val="2DD4BF"/>
                </a:solidFill>
                <a:latin typeface="Arial" pitchFamily="34" charset="0"/>
                <a:ea typeface="Arial" pitchFamily="34" charset="-122"/>
                <a:cs typeface="Arial" pitchFamily="34" charset="-120"/>
              </a:rPr>
              <a:t>COMPLEX
</a:t>
            </a:r>
            <a:pPr algn="ctr" indent="0" marL="0">
              <a:lnSpc>
                <a:spcPct val="95000"/>
              </a:lnSpc>
              <a:buNone/>
            </a:pPr>
            <a:r>
              <a:rPr lang="en-US" sz="1300" b="1" dirty="0">
                <a:solidFill>
                  <a:srgbClr val="F4F7FB"/>
                </a:solidFill>
                <a:latin typeface="Arial" pitchFamily="34" charset="0"/>
                <a:ea typeface="Arial" pitchFamily="34" charset="-122"/>
                <a:cs typeface="Arial" pitchFamily="34" charset="-120"/>
              </a:rPr>
              <a:t>BERT-base</a:t>
            </a:r>
            <a:endParaRPr lang="en-US" sz="900" dirty="0"/>
          </a:p>
        </p:txBody>
      </p:sp>
      <p:sp>
        <p:nvSpPr>
          <p:cNvPr id="12" name="Shape 10"/>
          <p:cNvSpPr/>
          <p:nvPr/>
        </p:nvSpPr>
        <p:spPr>
          <a:xfrm>
            <a:off x="804672" y="3931920"/>
            <a:ext cx="1874520" cy="713232"/>
          </a:xfrm>
          <a:prstGeom prst="roundRect">
            <a:avLst>
              <a:gd name="adj" fmla="val 7692"/>
            </a:avLst>
          </a:prstGeom>
          <a:solidFill>
            <a:srgbClr val="212B42"/>
          </a:solidFill>
          <a:ln w="12700">
            <a:solidFill>
              <a:srgbClr val="33405C"/>
            </a:solidFill>
            <a:prstDash val="solid"/>
          </a:ln>
        </p:spPr>
      </p:sp>
      <p:sp>
        <p:nvSpPr>
          <p:cNvPr id="13" name="Text 11"/>
          <p:cNvSpPr/>
          <p:nvPr/>
        </p:nvSpPr>
        <p:spPr>
          <a:xfrm>
            <a:off x="804672" y="3931920"/>
            <a:ext cx="1874520" cy="713232"/>
          </a:xfrm>
          <a:prstGeom prst="rect">
            <a:avLst/>
          </a:prstGeom>
          <a:noFill/>
          <a:ln/>
        </p:spPr>
        <p:txBody>
          <a:bodyPr wrap="square" lIns="0" tIns="0" rIns="0" bIns="0" rtlCol="0" anchor="ctr"/>
          <a:lstStyle/>
          <a:p>
            <a:pPr algn="ctr" indent="0" marL="0">
              <a:lnSpc>
                <a:spcPct val="95000"/>
              </a:lnSpc>
              <a:buNone/>
            </a:pPr>
            <a:r>
              <a:rPr lang="en-US" sz="900" b="1" spc="100" kern="0" dirty="0">
                <a:solidFill>
                  <a:srgbClr val="9BA7BC"/>
                </a:solidFill>
                <a:latin typeface="Arial" pitchFamily="34" charset="0"/>
                <a:ea typeface="Arial" pitchFamily="34" charset="-122"/>
                <a:cs typeface="Arial" pitchFamily="34" charset="-120"/>
              </a:rPr>
              <a:t>EFICIENT
</a:t>
            </a:r>
            <a:pPr algn="ctr" indent="0" marL="0">
              <a:lnSpc>
                <a:spcPct val="95000"/>
              </a:lnSpc>
              <a:buNone/>
            </a:pPr>
            <a:r>
              <a:rPr lang="en-US" sz="1250" b="1" dirty="0">
                <a:solidFill>
                  <a:srgbClr val="F4F7FB"/>
                </a:solidFill>
                <a:latin typeface="Arial" pitchFamily="34" charset="0"/>
                <a:ea typeface="Arial" pitchFamily="34" charset="-122"/>
                <a:cs typeface="Arial" pitchFamily="34" charset="-120"/>
              </a:rPr>
              <a:t>DistilBERT</a:t>
            </a:r>
            <a:endParaRPr lang="en-US" sz="900" dirty="0"/>
          </a:p>
        </p:txBody>
      </p:sp>
      <p:sp>
        <p:nvSpPr>
          <p:cNvPr id="14" name="Shape 12"/>
          <p:cNvSpPr/>
          <p:nvPr/>
        </p:nvSpPr>
        <p:spPr>
          <a:xfrm>
            <a:off x="3154680" y="2331720"/>
            <a:ext cx="2377440" cy="2697480"/>
          </a:xfrm>
          <a:prstGeom prst="roundRect">
            <a:avLst>
              <a:gd name="adj" fmla="val 3462"/>
            </a:avLst>
          </a:prstGeom>
          <a:solidFill>
            <a:srgbClr val="1A2236"/>
          </a:solidFill>
          <a:ln/>
          <a:effectLst>
            <a:outerShdw sx="100000" sy="100000" kx="0" ky="0" algn="bl" rotWithShape="0" blurRad="114300" dist="38100" dir="5400000">
              <a:srgbClr val="000000">
                <a:alpha val="35000"/>
              </a:srgbClr>
            </a:outerShdw>
          </a:effectLst>
        </p:spPr>
      </p:sp>
      <p:sp>
        <p:nvSpPr>
          <p:cNvPr id="15" name="Shape 13"/>
          <p:cNvSpPr/>
          <p:nvPr/>
        </p:nvSpPr>
        <p:spPr>
          <a:xfrm>
            <a:off x="3429000" y="2606040"/>
            <a:ext cx="201168" cy="201168"/>
          </a:xfrm>
          <a:prstGeom prst="ellipse">
            <a:avLst/>
          </a:prstGeom>
          <a:solidFill>
            <a:srgbClr val="FBBF24"/>
          </a:solidFill>
          <a:ln/>
        </p:spPr>
      </p:sp>
      <p:sp>
        <p:nvSpPr>
          <p:cNvPr id="16" name="Text 14"/>
          <p:cNvSpPr/>
          <p:nvPr/>
        </p:nvSpPr>
        <p:spPr>
          <a:xfrm>
            <a:off x="3721608" y="2542032"/>
            <a:ext cx="1645920" cy="365760"/>
          </a:xfrm>
          <a:prstGeom prst="rect">
            <a:avLst/>
          </a:prstGeom>
          <a:noFill/>
          <a:ln/>
        </p:spPr>
        <p:txBody>
          <a:bodyPr wrap="square" lIns="0" tIns="0" rIns="0" bIns="0" rtlCol="0" anchor="ctr"/>
          <a:lstStyle/>
          <a:p>
            <a:pPr indent="0" marL="0">
              <a:buNone/>
            </a:pPr>
            <a:r>
              <a:rPr lang="en-US" sz="1800" b="1" dirty="0">
                <a:solidFill>
                  <a:srgbClr val="F4F7FB"/>
                </a:solidFill>
                <a:latin typeface="Arial" pitchFamily="34" charset="0"/>
                <a:ea typeface="Arial" pitchFamily="34" charset="-122"/>
                <a:cs typeface="Arial" pitchFamily="34" charset="-120"/>
              </a:rPr>
              <a:t>Audio</a:t>
            </a:r>
            <a:endParaRPr lang="en-US" sz="1800" dirty="0"/>
          </a:p>
        </p:txBody>
      </p:sp>
      <p:sp>
        <p:nvSpPr>
          <p:cNvPr id="17" name="Shape 15"/>
          <p:cNvSpPr/>
          <p:nvPr/>
        </p:nvSpPr>
        <p:spPr>
          <a:xfrm>
            <a:off x="3410712" y="3063240"/>
            <a:ext cx="1874520" cy="713232"/>
          </a:xfrm>
          <a:prstGeom prst="roundRect">
            <a:avLst>
              <a:gd name="adj" fmla="val 7692"/>
            </a:avLst>
          </a:prstGeom>
          <a:solidFill>
            <a:srgbClr val="212B42"/>
          </a:solidFill>
          <a:ln w="12700">
            <a:solidFill>
              <a:srgbClr val="FBBF24"/>
            </a:solidFill>
            <a:prstDash val="solid"/>
          </a:ln>
        </p:spPr>
      </p:sp>
      <p:sp>
        <p:nvSpPr>
          <p:cNvPr id="18" name="Text 16"/>
          <p:cNvSpPr/>
          <p:nvPr/>
        </p:nvSpPr>
        <p:spPr>
          <a:xfrm>
            <a:off x="3410712" y="3063240"/>
            <a:ext cx="1874520" cy="713232"/>
          </a:xfrm>
          <a:prstGeom prst="rect">
            <a:avLst/>
          </a:prstGeom>
          <a:noFill/>
          <a:ln/>
        </p:spPr>
        <p:txBody>
          <a:bodyPr wrap="square" lIns="0" tIns="0" rIns="0" bIns="0" rtlCol="0" anchor="ctr"/>
          <a:lstStyle/>
          <a:p>
            <a:pPr algn="ctr" indent="0" marL="0">
              <a:lnSpc>
                <a:spcPct val="95000"/>
              </a:lnSpc>
              <a:buNone/>
            </a:pPr>
            <a:r>
              <a:rPr lang="en-US" sz="900" b="1" spc="100" kern="0" dirty="0">
                <a:solidFill>
                  <a:srgbClr val="FBBF24"/>
                </a:solidFill>
                <a:latin typeface="Arial" pitchFamily="34" charset="0"/>
                <a:ea typeface="Arial" pitchFamily="34" charset="-122"/>
                <a:cs typeface="Arial" pitchFamily="34" charset="-120"/>
              </a:rPr>
              <a:t>COMPLEX
</a:t>
            </a:r>
            <a:pPr algn="ctr" indent="0" marL="0">
              <a:lnSpc>
                <a:spcPct val="95000"/>
              </a:lnSpc>
              <a:buNone/>
            </a:pPr>
            <a:r>
              <a:rPr lang="en-US" sz="1300" b="1" dirty="0">
                <a:solidFill>
                  <a:srgbClr val="F4F7FB"/>
                </a:solidFill>
                <a:latin typeface="Arial" pitchFamily="34" charset="0"/>
                <a:ea typeface="Arial" pitchFamily="34" charset="-122"/>
                <a:cs typeface="Arial" pitchFamily="34" charset="-120"/>
              </a:rPr>
              <a:t>wav2vec2-base</a:t>
            </a:r>
            <a:endParaRPr lang="en-US" sz="900" dirty="0"/>
          </a:p>
        </p:txBody>
      </p:sp>
      <p:sp>
        <p:nvSpPr>
          <p:cNvPr id="19" name="Shape 17"/>
          <p:cNvSpPr/>
          <p:nvPr/>
        </p:nvSpPr>
        <p:spPr>
          <a:xfrm>
            <a:off x="3410712" y="3931920"/>
            <a:ext cx="1874520" cy="713232"/>
          </a:xfrm>
          <a:prstGeom prst="roundRect">
            <a:avLst>
              <a:gd name="adj" fmla="val 7692"/>
            </a:avLst>
          </a:prstGeom>
          <a:solidFill>
            <a:srgbClr val="212B42"/>
          </a:solidFill>
          <a:ln w="12700">
            <a:solidFill>
              <a:srgbClr val="33405C"/>
            </a:solidFill>
            <a:prstDash val="solid"/>
          </a:ln>
        </p:spPr>
      </p:sp>
      <p:sp>
        <p:nvSpPr>
          <p:cNvPr id="20" name="Text 18"/>
          <p:cNvSpPr/>
          <p:nvPr/>
        </p:nvSpPr>
        <p:spPr>
          <a:xfrm>
            <a:off x="3410712" y="3931920"/>
            <a:ext cx="1874520" cy="713232"/>
          </a:xfrm>
          <a:prstGeom prst="rect">
            <a:avLst/>
          </a:prstGeom>
          <a:noFill/>
          <a:ln/>
        </p:spPr>
        <p:txBody>
          <a:bodyPr wrap="square" lIns="0" tIns="0" rIns="0" bIns="0" rtlCol="0" anchor="ctr"/>
          <a:lstStyle/>
          <a:p>
            <a:pPr algn="ctr" indent="0" marL="0">
              <a:lnSpc>
                <a:spcPct val="95000"/>
              </a:lnSpc>
              <a:buNone/>
            </a:pPr>
            <a:r>
              <a:rPr lang="en-US" sz="900" b="1" spc="100" kern="0" dirty="0">
                <a:solidFill>
                  <a:srgbClr val="9BA7BC"/>
                </a:solidFill>
                <a:latin typeface="Arial" pitchFamily="34" charset="0"/>
                <a:ea typeface="Arial" pitchFamily="34" charset="-122"/>
                <a:cs typeface="Arial" pitchFamily="34" charset="-120"/>
              </a:rPr>
              <a:t>EFICIENT
</a:t>
            </a:r>
            <a:pPr algn="ctr" indent="0" marL="0">
              <a:lnSpc>
                <a:spcPct val="95000"/>
              </a:lnSpc>
              <a:buNone/>
            </a:pPr>
            <a:r>
              <a:rPr lang="en-US" sz="1250" b="1" dirty="0">
                <a:solidFill>
                  <a:srgbClr val="F4F7FB"/>
                </a:solidFill>
                <a:latin typeface="Arial" pitchFamily="34" charset="0"/>
                <a:ea typeface="Arial" pitchFamily="34" charset="-122"/>
                <a:cs typeface="Arial" pitchFamily="34" charset="-120"/>
              </a:rPr>
              <a:t>DistilHuBERT</a:t>
            </a:r>
            <a:endParaRPr lang="en-US" sz="900" dirty="0"/>
          </a:p>
        </p:txBody>
      </p:sp>
      <p:sp>
        <p:nvSpPr>
          <p:cNvPr id="21" name="Shape 19"/>
          <p:cNvSpPr/>
          <p:nvPr/>
        </p:nvSpPr>
        <p:spPr>
          <a:xfrm>
            <a:off x="5760720" y="2331720"/>
            <a:ext cx="2377440" cy="2697480"/>
          </a:xfrm>
          <a:prstGeom prst="roundRect">
            <a:avLst>
              <a:gd name="adj" fmla="val 3462"/>
            </a:avLst>
          </a:prstGeom>
          <a:solidFill>
            <a:srgbClr val="1A2236"/>
          </a:solidFill>
          <a:ln/>
          <a:effectLst>
            <a:outerShdw sx="100000" sy="100000" kx="0" ky="0" algn="bl" rotWithShape="0" blurRad="114300" dist="38100" dir="5400000">
              <a:srgbClr val="000000">
                <a:alpha val="35000"/>
              </a:srgbClr>
            </a:outerShdw>
          </a:effectLst>
        </p:spPr>
      </p:sp>
      <p:sp>
        <p:nvSpPr>
          <p:cNvPr id="22" name="Shape 20"/>
          <p:cNvSpPr/>
          <p:nvPr/>
        </p:nvSpPr>
        <p:spPr>
          <a:xfrm>
            <a:off x="6035040" y="2606040"/>
            <a:ext cx="201168" cy="201168"/>
          </a:xfrm>
          <a:prstGeom prst="ellipse">
            <a:avLst/>
          </a:prstGeom>
          <a:solidFill>
            <a:srgbClr val="F25C54"/>
          </a:solidFill>
          <a:ln/>
        </p:spPr>
      </p:sp>
      <p:sp>
        <p:nvSpPr>
          <p:cNvPr id="23" name="Text 21"/>
          <p:cNvSpPr/>
          <p:nvPr/>
        </p:nvSpPr>
        <p:spPr>
          <a:xfrm>
            <a:off x="6327648" y="2542032"/>
            <a:ext cx="1645920" cy="365760"/>
          </a:xfrm>
          <a:prstGeom prst="rect">
            <a:avLst/>
          </a:prstGeom>
          <a:noFill/>
          <a:ln/>
        </p:spPr>
        <p:txBody>
          <a:bodyPr wrap="square" lIns="0" tIns="0" rIns="0" bIns="0" rtlCol="0" anchor="ctr"/>
          <a:lstStyle/>
          <a:p>
            <a:pPr indent="0" marL="0">
              <a:buNone/>
            </a:pPr>
            <a:r>
              <a:rPr lang="en-US" sz="1800" b="1" dirty="0">
                <a:solidFill>
                  <a:srgbClr val="F4F7FB"/>
                </a:solidFill>
                <a:latin typeface="Arial" pitchFamily="34" charset="0"/>
                <a:ea typeface="Arial" pitchFamily="34" charset="-122"/>
                <a:cs typeface="Arial" pitchFamily="34" charset="-120"/>
              </a:rPr>
              <a:t>Imagine</a:t>
            </a:r>
            <a:endParaRPr lang="en-US" sz="1800" dirty="0"/>
          </a:p>
        </p:txBody>
      </p:sp>
      <p:sp>
        <p:nvSpPr>
          <p:cNvPr id="24" name="Shape 22"/>
          <p:cNvSpPr/>
          <p:nvPr/>
        </p:nvSpPr>
        <p:spPr>
          <a:xfrm>
            <a:off x="6016752" y="3063240"/>
            <a:ext cx="1874520" cy="713232"/>
          </a:xfrm>
          <a:prstGeom prst="roundRect">
            <a:avLst>
              <a:gd name="adj" fmla="val 7692"/>
            </a:avLst>
          </a:prstGeom>
          <a:solidFill>
            <a:srgbClr val="212B42"/>
          </a:solidFill>
          <a:ln w="12700">
            <a:solidFill>
              <a:srgbClr val="F25C54"/>
            </a:solidFill>
            <a:prstDash val="solid"/>
          </a:ln>
        </p:spPr>
      </p:sp>
      <p:sp>
        <p:nvSpPr>
          <p:cNvPr id="25" name="Text 23"/>
          <p:cNvSpPr/>
          <p:nvPr/>
        </p:nvSpPr>
        <p:spPr>
          <a:xfrm>
            <a:off x="6016752" y="3063240"/>
            <a:ext cx="1874520" cy="713232"/>
          </a:xfrm>
          <a:prstGeom prst="rect">
            <a:avLst/>
          </a:prstGeom>
          <a:noFill/>
          <a:ln/>
        </p:spPr>
        <p:txBody>
          <a:bodyPr wrap="square" lIns="0" tIns="0" rIns="0" bIns="0" rtlCol="0" anchor="ctr"/>
          <a:lstStyle/>
          <a:p>
            <a:pPr algn="ctr" indent="0" marL="0">
              <a:lnSpc>
                <a:spcPct val="95000"/>
              </a:lnSpc>
              <a:buNone/>
            </a:pPr>
            <a:r>
              <a:rPr lang="en-US" sz="900" b="1" spc="100" kern="0" dirty="0">
                <a:solidFill>
                  <a:srgbClr val="F25C54"/>
                </a:solidFill>
                <a:latin typeface="Arial" pitchFamily="34" charset="0"/>
                <a:ea typeface="Arial" pitchFamily="34" charset="-122"/>
                <a:cs typeface="Arial" pitchFamily="34" charset="-120"/>
              </a:rPr>
              <a:t>COMPLEX
</a:t>
            </a:r>
            <a:pPr algn="ctr" indent="0" marL="0">
              <a:lnSpc>
                <a:spcPct val="95000"/>
              </a:lnSpc>
              <a:buNone/>
            </a:pPr>
            <a:r>
              <a:rPr lang="en-US" sz="1300" b="1" dirty="0">
                <a:solidFill>
                  <a:srgbClr val="F4F7FB"/>
                </a:solidFill>
                <a:latin typeface="Arial" pitchFamily="34" charset="0"/>
                <a:ea typeface="Arial" pitchFamily="34" charset="-122"/>
                <a:cs typeface="Arial" pitchFamily="34" charset="-120"/>
              </a:rPr>
              <a:t>ViT-B/16</a:t>
            </a:r>
            <a:endParaRPr lang="en-US" sz="900" dirty="0"/>
          </a:p>
        </p:txBody>
      </p:sp>
      <p:sp>
        <p:nvSpPr>
          <p:cNvPr id="26" name="Shape 24"/>
          <p:cNvSpPr/>
          <p:nvPr/>
        </p:nvSpPr>
        <p:spPr>
          <a:xfrm>
            <a:off x="6016752" y="3931920"/>
            <a:ext cx="1874520" cy="713232"/>
          </a:xfrm>
          <a:prstGeom prst="roundRect">
            <a:avLst>
              <a:gd name="adj" fmla="val 7692"/>
            </a:avLst>
          </a:prstGeom>
          <a:solidFill>
            <a:srgbClr val="212B42"/>
          </a:solidFill>
          <a:ln w="12700">
            <a:solidFill>
              <a:srgbClr val="33405C"/>
            </a:solidFill>
            <a:prstDash val="solid"/>
          </a:ln>
        </p:spPr>
      </p:sp>
      <p:sp>
        <p:nvSpPr>
          <p:cNvPr id="27" name="Text 25"/>
          <p:cNvSpPr/>
          <p:nvPr/>
        </p:nvSpPr>
        <p:spPr>
          <a:xfrm>
            <a:off x="6016752" y="3931920"/>
            <a:ext cx="1874520" cy="713232"/>
          </a:xfrm>
          <a:prstGeom prst="rect">
            <a:avLst/>
          </a:prstGeom>
          <a:noFill/>
          <a:ln/>
        </p:spPr>
        <p:txBody>
          <a:bodyPr wrap="square" lIns="0" tIns="0" rIns="0" bIns="0" rtlCol="0" anchor="ctr"/>
          <a:lstStyle/>
          <a:p>
            <a:pPr algn="ctr" indent="0" marL="0">
              <a:lnSpc>
                <a:spcPct val="95000"/>
              </a:lnSpc>
              <a:buNone/>
            </a:pPr>
            <a:r>
              <a:rPr lang="en-US" sz="900" b="1" spc="100" kern="0" dirty="0">
                <a:solidFill>
                  <a:srgbClr val="9BA7BC"/>
                </a:solidFill>
                <a:latin typeface="Arial" pitchFamily="34" charset="0"/>
                <a:ea typeface="Arial" pitchFamily="34" charset="-122"/>
                <a:cs typeface="Arial" pitchFamily="34" charset="-120"/>
              </a:rPr>
              <a:t>EFICIENT
</a:t>
            </a:r>
            <a:pPr algn="ctr" indent="0" marL="0">
              <a:lnSpc>
                <a:spcPct val="95000"/>
              </a:lnSpc>
              <a:buNone/>
            </a:pPr>
            <a:r>
              <a:rPr lang="en-US" sz="1250" b="1" dirty="0">
                <a:solidFill>
                  <a:srgbClr val="F4F7FB"/>
                </a:solidFill>
                <a:latin typeface="Arial" pitchFamily="34" charset="0"/>
                <a:ea typeface="Arial" pitchFamily="34" charset="-122"/>
                <a:cs typeface="Arial" pitchFamily="34" charset="-120"/>
              </a:rPr>
              <a:t>MobileNetV3-Small</a:t>
            </a:r>
            <a:endParaRPr lang="en-US" sz="900" dirty="0"/>
          </a:p>
        </p:txBody>
      </p:sp>
      <p:sp>
        <p:nvSpPr>
          <p:cNvPr id="28" name="Shape 26"/>
          <p:cNvSpPr/>
          <p:nvPr/>
        </p:nvSpPr>
        <p:spPr>
          <a:xfrm>
            <a:off x="8458200" y="3291840"/>
            <a:ext cx="640080" cy="777240"/>
          </a:xfrm>
          <a:prstGeom prst="rightArrow">
            <a:avLst/>
          </a:prstGeom>
          <a:solidFill>
            <a:srgbClr val="A78BFA"/>
          </a:solidFill>
          <a:ln/>
        </p:spPr>
      </p:sp>
      <p:sp>
        <p:nvSpPr>
          <p:cNvPr id="29" name="Shape 27"/>
          <p:cNvSpPr/>
          <p:nvPr/>
        </p:nvSpPr>
        <p:spPr>
          <a:xfrm>
            <a:off x="9235440" y="2331720"/>
            <a:ext cx="2468880" cy="2697480"/>
          </a:xfrm>
          <a:prstGeom prst="roundRect">
            <a:avLst>
              <a:gd name="adj" fmla="val 3333"/>
            </a:avLst>
          </a:prstGeom>
          <a:solidFill>
            <a:srgbClr val="1A2236"/>
          </a:solidFill>
          <a:ln/>
          <a:effectLst>
            <a:outerShdw sx="100000" sy="100000" kx="0" ky="0" algn="bl" rotWithShape="0" blurRad="114300" dist="38100" dir="5400000">
              <a:srgbClr val="000000">
                <a:alpha val="35000"/>
              </a:srgbClr>
            </a:outerShdw>
          </a:effectLst>
        </p:spPr>
      </p:sp>
      <p:sp>
        <p:nvSpPr>
          <p:cNvPr id="30" name="Shape 28"/>
          <p:cNvSpPr/>
          <p:nvPr/>
        </p:nvSpPr>
        <p:spPr>
          <a:xfrm>
            <a:off x="9509760" y="2606040"/>
            <a:ext cx="201168" cy="201168"/>
          </a:xfrm>
          <a:prstGeom prst="ellipse">
            <a:avLst/>
          </a:prstGeom>
          <a:solidFill>
            <a:srgbClr val="A78BFA"/>
          </a:solidFill>
          <a:ln/>
        </p:spPr>
      </p:sp>
      <p:sp>
        <p:nvSpPr>
          <p:cNvPr id="31" name="Text 29"/>
          <p:cNvSpPr/>
          <p:nvPr/>
        </p:nvSpPr>
        <p:spPr>
          <a:xfrm>
            <a:off x="9802368" y="2542032"/>
            <a:ext cx="1737360" cy="365760"/>
          </a:xfrm>
          <a:prstGeom prst="rect">
            <a:avLst/>
          </a:prstGeom>
          <a:noFill/>
          <a:ln/>
        </p:spPr>
        <p:txBody>
          <a:bodyPr wrap="square" lIns="0" tIns="0" rIns="0" bIns="0" rtlCol="0" anchor="ctr"/>
          <a:lstStyle/>
          <a:p>
            <a:pPr indent="0" marL="0">
              <a:buNone/>
            </a:pPr>
            <a:r>
              <a:rPr lang="en-US" sz="1800" b="1" dirty="0">
                <a:solidFill>
                  <a:srgbClr val="F4F7FB"/>
                </a:solidFill>
                <a:latin typeface="Arial" pitchFamily="34" charset="0"/>
                <a:ea typeface="Arial" pitchFamily="34" charset="-122"/>
                <a:cs typeface="Arial" pitchFamily="34" charset="-120"/>
              </a:rPr>
              <a:t>Fuziune</a:t>
            </a:r>
            <a:endParaRPr lang="en-US" sz="1800" dirty="0"/>
          </a:p>
        </p:txBody>
      </p:sp>
      <p:sp>
        <p:nvSpPr>
          <p:cNvPr id="32" name="Text 30"/>
          <p:cNvSpPr/>
          <p:nvPr/>
        </p:nvSpPr>
        <p:spPr>
          <a:xfrm>
            <a:off x="9509760" y="3063240"/>
            <a:ext cx="2057400" cy="1828800"/>
          </a:xfrm>
          <a:prstGeom prst="rect">
            <a:avLst/>
          </a:prstGeom>
          <a:noFill/>
          <a:ln/>
        </p:spPr>
        <p:txBody>
          <a:bodyPr wrap="square" lIns="0" tIns="0" rIns="0" bIns="0" rtlCol="0" anchor="ctr"/>
          <a:lstStyle/>
          <a:p>
            <a:pPr indent="0" marL="0">
              <a:lnSpc>
                <a:spcPct val="100000"/>
              </a:lnSpc>
              <a:spcAft>
                <a:spcPts val="300"/>
              </a:spcAft>
              <a:buNone/>
            </a:pPr>
            <a:r>
              <a:rPr lang="en-US" sz="1300" b="1" dirty="0">
                <a:solidFill>
                  <a:srgbClr val="F4F7FB"/>
                </a:solidFill>
                <a:latin typeface="Arial" pitchFamily="34" charset="0"/>
                <a:ea typeface="Arial" pitchFamily="34" charset="-122"/>
                <a:cs typeface="Arial" pitchFamily="34" charset="-120"/>
              </a:rPr>
              <a:t>Târzie</a:t>
            </a:r>
            <a:endParaRPr lang="en-US" sz="1300" dirty="0"/>
          </a:p>
          <a:p>
            <a:pPr indent="0" marL="0">
              <a:lnSpc>
                <a:spcPct val="100000"/>
              </a:lnSpc>
              <a:spcAft>
                <a:spcPts val="300"/>
              </a:spcAft>
              <a:buNone/>
            </a:pPr>
            <a:r>
              <a:rPr lang="en-US" sz="1100" dirty="0">
                <a:solidFill>
                  <a:srgbClr val="9BA7BC"/>
                </a:solidFill>
                <a:latin typeface="Arial" pitchFamily="34" charset="0"/>
                <a:ea typeface="Arial" pitchFamily="34" charset="-122"/>
                <a:cs typeface="Arial" pitchFamily="34" charset="-120"/>
              </a:rPr>
              <a:t>medie &amp; ponderată</a:t>
            </a:r>
            <a:endParaRPr lang="en-US" sz="1300" dirty="0"/>
          </a:p>
          <a:p>
            <a:pPr indent="0" marL="0">
              <a:lnSpc>
                <a:spcPct val="100000"/>
              </a:lnSpc>
              <a:spcAft>
                <a:spcPts val="300"/>
              </a:spcAft>
              <a:buNone/>
            </a:pPr>
            <a:r>
              <a:rPr lang="en-US" sz="1300" b="1" dirty="0">
                <a:solidFill>
                  <a:srgbClr val="F4F7FB"/>
                </a:solidFill>
                <a:latin typeface="Arial" pitchFamily="34" charset="0"/>
                <a:ea typeface="Arial" pitchFamily="34" charset="-122"/>
                <a:cs typeface="Arial" pitchFamily="34" charset="-120"/>
              </a:rPr>
              <a:t>Intermediară (MLP)</a:t>
            </a:r>
            <a:endParaRPr lang="en-US" sz="1300" dirty="0"/>
          </a:p>
          <a:p>
            <a:pPr indent="0" marL="0">
              <a:lnSpc>
                <a:spcPct val="100000"/>
              </a:lnSpc>
              <a:spcAft>
                <a:spcPts val="300"/>
              </a:spcAft>
              <a:buNone/>
            </a:pPr>
            <a:r>
              <a:rPr lang="en-US" sz="1100" dirty="0">
                <a:solidFill>
                  <a:srgbClr val="9BA7BC"/>
                </a:solidFill>
                <a:latin typeface="Arial" pitchFamily="34" charset="0"/>
                <a:ea typeface="Arial" pitchFamily="34" charset="-122"/>
                <a:cs typeface="Arial" pitchFamily="34" charset="-120"/>
              </a:rPr>
              <a:t>≈334K parametri</a:t>
            </a:r>
            <a:endParaRPr lang="en-US" sz="1300" dirty="0"/>
          </a:p>
          <a:p>
            <a:pPr indent="0" marL="0">
              <a:lnSpc>
                <a:spcPct val="100000"/>
              </a:lnSpc>
              <a:spcAft>
                <a:spcPts val="300"/>
              </a:spcAft>
              <a:buNone/>
            </a:pPr>
            <a:r>
              <a:rPr lang="en-US" sz="1300" b="1" dirty="0">
                <a:solidFill>
                  <a:srgbClr val="F4F7FB"/>
                </a:solidFill>
                <a:latin typeface="Arial" pitchFamily="34" charset="0"/>
                <a:ea typeface="Arial" pitchFamily="34" charset="-122"/>
                <a:cs typeface="Arial" pitchFamily="34" charset="-120"/>
              </a:rPr>
              <a:t>Bazată pe porți</a:t>
            </a:r>
            <a:endParaRPr lang="en-US" sz="1300" dirty="0"/>
          </a:p>
          <a:p>
            <a:pPr indent="0" marL="0">
              <a:lnSpc>
                <a:spcPct val="100000"/>
              </a:lnSpc>
              <a:spcAft>
                <a:spcPts val="300"/>
              </a:spcAft>
              <a:buNone/>
            </a:pPr>
            <a:r>
              <a:rPr lang="en-US" sz="1100" dirty="0">
                <a:solidFill>
                  <a:srgbClr val="9BA7BC"/>
                </a:solidFill>
                <a:latin typeface="Arial" pitchFamily="34" charset="0"/>
                <a:ea typeface="Arial" pitchFamily="34" charset="-122"/>
                <a:cs typeface="Arial" pitchFamily="34" charset="-120"/>
              </a:rPr>
              <a:t>GMU / Transformer</a:t>
            </a:r>
            <a:endParaRPr lang="en-US" sz="1300" dirty="0"/>
          </a:p>
        </p:txBody>
      </p:sp>
      <p:sp>
        <p:nvSpPr>
          <p:cNvPr id="33" name="Text 31"/>
          <p:cNvSpPr/>
          <p:nvPr/>
        </p:nvSpPr>
        <p:spPr>
          <a:xfrm>
            <a:off x="548640" y="5440680"/>
            <a:ext cx="11155680" cy="548640"/>
          </a:xfrm>
          <a:prstGeom prst="rect">
            <a:avLst/>
          </a:prstGeom>
          <a:noFill/>
          <a:ln/>
        </p:spPr>
        <p:txBody>
          <a:bodyPr wrap="square" lIns="0" tIns="0" rIns="0" bIns="0" rtlCol="0" anchor="ctr"/>
          <a:lstStyle/>
          <a:p>
            <a:pPr indent="0" marL="0">
              <a:buNone/>
            </a:pPr>
            <a:r>
              <a:rPr lang="en-US" sz="1350" b="1" dirty="0">
                <a:solidFill>
                  <a:srgbClr val="2DD4BF"/>
                </a:solidFill>
                <a:latin typeface="Arial" pitchFamily="34" charset="0"/>
                <a:ea typeface="Arial" pitchFamily="34" charset="-122"/>
                <a:cs typeface="Arial" pitchFamily="34" charset="-120"/>
              </a:rPr>
              <a:t>+ Explicabilitate   </a:t>
            </a:r>
            <a:pPr indent="0" marL="0">
              <a:buNone/>
            </a:pPr>
            <a:r>
              <a:rPr lang="en-US" sz="1350" dirty="0">
                <a:solidFill>
                  <a:srgbClr val="9BA7BC"/>
                </a:solidFill>
                <a:latin typeface="Arial" pitchFamily="34" charset="0"/>
                <a:ea typeface="Arial" pitchFamily="34" charset="-122"/>
                <a:cs typeface="Arial" pitchFamily="34" charset="-120"/>
              </a:rPr>
              <a:t>Integrated Gradients (comun) · ocluzie tokeni (text) · ocluzie temporală (audio) · Grad-CAM (imagine)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F25C54"/>
                </a:solidFill>
                <a:latin typeface="Arial" pitchFamily="34" charset="0"/>
                <a:ea typeface="Arial" pitchFamily="34" charset="-122"/>
                <a:cs typeface="Arial" pitchFamily="34" charset="-120"/>
              </a:rPr>
              <a:t>CONTRIBUȚIE · PREPROCESARE</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05</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Cum aleg fața potrivită din videoclip</a:t>
            </a:r>
            <a:endParaRPr lang="en-US" sz="3200" dirty="0"/>
          </a:p>
        </p:txBody>
      </p:sp>
      <p:sp>
        <p:nvSpPr>
          <p:cNvPr id="6" name="Text 4"/>
          <p:cNvSpPr/>
          <p:nvPr/>
        </p:nvSpPr>
        <p:spPr>
          <a:xfrm>
            <a:off x="548640" y="1481328"/>
            <a:ext cx="11155680" cy="640080"/>
          </a:xfrm>
          <a:prstGeom prst="rect">
            <a:avLst/>
          </a:prstGeom>
          <a:noFill/>
          <a:ln/>
        </p:spPr>
        <p:txBody>
          <a:bodyPr wrap="square" lIns="0" tIns="0" rIns="0" bIns="0" rtlCol="0" anchor="ctr"/>
          <a:lstStyle/>
          <a:p>
            <a:pPr indent="0" marL="0">
              <a:lnSpc>
                <a:spcPct val="105000"/>
              </a:lnSpc>
              <a:buNone/>
            </a:pPr>
            <a:r>
              <a:rPr lang="en-US" sz="1500" dirty="0">
                <a:solidFill>
                  <a:srgbClr val="9BA7BC"/>
                </a:solidFill>
                <a:latin typeface="Arial" pitchFamily="34" charset="0"/>
                <a:ea typeface="Arial" pitchFamily="34" charset="-122"/>
                <a:cs typeface="Arial" pitchFamily="34" charset="-120"/>
              </a:rPr>
              <a:t>MELD vine cu clipuri video. Provocarea: mai mulți actori în cadru, fețe fără emoția etichetată. Soluția — o selecție inteligentă a cadrelor:</a:t>
            </a:r>
            <a:endParaRPr lang="en-US" sz="1500" dirty="0"/>
          </a:p>
        </p:txBody>
      </p:sp>
      <p:sp>
        <p:nvSpPr>
          <p:cNvPr id="7" name="Shape 5"/>
          <p:cNvSpPr/>
          <p:nvPr/>
        </p:nvSpPr>
        <p:spPr>
          <a:xfrm>
            <a:off x="594360" y="2286000"/>
            <a:ext cx="502920" cy="502920"/>
          </a:xfrm>
          <a:prstGeom prst="ellipse">
            <a:avLst/>
          </a:prstGeom>
          <a:solidFill>
            <a:srgbClr val="F25C54"/>
          </a:solidFill>
          <a:ln/>
        </p:spPr>
      </p:sp>
      <p:sp>
        <p:nvSpPr>
          <p:cNvPr id="8" name="Text 6"/>
          <p:cNvSpPr/>
          <p:nvPr/>
        </p:nvSpPr>
        <p:spPr>
          <a:xfrm>
            <a:off x="594360" y="2286000"/>
            <a:ext cx="502920" cy="502920"/>
          </a:xfrm>
          <a:prstGeom prst="rect">
            <a:avLst/>
          </a:prstGeom>
          <a:noFill/>
          <a:ln/>
        </p:spPr>
        <p:txBody>
          <a:bodyPr wrap="square" lIns="0" tIns="0" rIns="0" bIns="0" rtlCol="0" anchor="ctr"/>
          <a:lstStyle/>
          <a:p>
            <a:pPr algn="ctr" indent="0" marL="0">
              <a:buNone/>
            </a:pPr>
            <a:r>
              <a:rPr lang="en-US" sz="1800" b="1" dirty="0">
                <a:solidFill>
                  <a:srgbClr val="0F1422"/>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1280160" y="2267712"/>
            <a:ext cx="5120640" cy="548640"/>
          </a:xfrm>
          <a:prstGeom prst="rect">
            <a:avLst/>
          </a:prstGeom>
          <a:noFill/>
          <a:ln/>
        </p:spPr>
        <p:txBody>
          <a:bodyPr wrap="square" lIns="0" tIns="0" rIns="0" bIns="0" rtlCol="0" anchor="ctr"/>
          <a:lstStyle/>
          <a:p>
            <a:pPr indent="0" marL="0">
              <a:lnSpc>
                <a:spcPct val="100000"/>
              </a:lnSpc>
              <a:buNone/>
            </a:pPr>
            <a:r>
              <a:rPr lang="en-US" sz="1500" b="1" dirty="0">
                <a:solidFill>
                  <a:srgbClr val="F4F7FB"/>
                </a:solidFill>
                <a:latin typeface="Arial" pitchFamily="34" charset="0"/>
                <a:ea typeface="Arial" pitchFamily="34" charset="-122"/>
                <a:cs typeface="Arial" pitchFamily="34" charset="-120"/>
              </a:rPr>
              <a:t>Detectez toate fețele  </a:t>
            </a:r>
            <a:pPr indent="0" marL="0">
              <a:lnSpc>
                <a:spcPct val="100000"/>
              </a:lnSpc>
              <a:buNone/>
            </a:pPr>
            <a:r>
              <a:rPr lang="en-US" sz="1300" dirty="0">
                <a:solidFill>
                  <a:srgbClr val="9BA7BC"/>
                </a:solidFill>
                <a:latin typeface="Arial" pitchFamily="34" charset="0"/>
                <a:ea typeface="Arial" pitchFamily="34" charset="-122"/>
                <a:cs typeface="Arial" pitchFamily="34" charset="-120"/>
              </a:rPr>
              <a:t>— MTCNN pe cadre eșantionate (pas temporal 3)</a:t>
            </a:r>
            <a:endParaRPr lang="en-US" sz="1500" dirty="0"/>
          </a:p>
        </p:txBody>
      </p:sp>
      <p:sp>
        <p:nvSpPr>
          <p:cNvPr id="10" name="Shape 8"/>
          <p:cNvSpPr/>
          <p:nvPr/>
        </p:nvSpPr>
        <p:spPr>
          <a:xfrm>
            <a:off x="594360" y="3127248"/>
            <a:ext cx="502920" cy="502920"/>
          </a:xfrm>
          <a:prstGeom prst="ellipse">
            <a:avLst/>
          </a:prstGeom>
          <a:solidFill>
            <a:srgbClr val="F25C54"/>
          </a:solidFill>
          <a:ln/>
        </p:spPr>
      </p:sp>
      <p:sp>
        <p:nvSpPr>
          <p:cNvPr id="11" name="Text 9"/>
          <p:cNvSpPr/>
          <p:nvPr/>
        </p:nvSpPr>
        <p:spPr>
          <a:xfrm>
            <a:off x="594360" y="3127248"/>
            <a:ext cx="502920" cy="502920"/>
          </a:xfrm>
          <a:prstGeom prst="rect">
            <a:avLst/>
          </a:prstGeom>
          <a:noFill/>
          <a:ln/>
        </p:spPr>
        <p:txBody>
          <a:bodyPr wrap="square" lIns="0" tIns="0" rIns="0" bIns="0" rtlCol="0" anchor="ctr"/>
          <a:lstStyle/>
          <a:p>
            <a:pPr algn="ctr" indent="0" marL="0">
              <a:buNone/>
            </a:pPr>
            <a:r>
              <a:rPr lang="en-US" sz="1800" b="1" dirty="0">
                <a:solidFill>
                  <a:srgbClr val="0F1422"/>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280160" y="3108960"/>
            <a:ext cx="5120640" cy="548640"/>
          </a:xfrm>
          <a:prstGeom prst="rect">
            <a:avLst/>
          </a:prstGeom>
          <a:noFill/>
          <a:ln/>
        </p:spPr>
        <p:txBody>
          <a:bodyPr wrap="square" lIns="0" tIns="0" rIns="0" bIns="0" rtlCol="0" anchor="ctr"/>
          <a:lstStyle/>
          <a:p>
            <a:pPr indent="0" marL="0">
              <a:lnSpc>
                <a:spcPct val="100000"/>
              </a:lnSpc>
              <a:buNone/>
            </a:pPr>
            <a:r>
              <a:rPr lang="en-US" sz="1500" b="1" dirty="0">
                <a:solidFill>
                  <a:srgbClr val="F4F7FB"/>
                </a:solidFill>
                <a:latin typeface="Arial" pitchFamily="34" charset="0"/>
                <a:ea typeface="Arial" pitchFamily="34" charset="-122"/>
                <a:cs typeface="Arial" pitchFamily="34" charset="-120"/>
              </a:rPr>
              <a:t>Identific vorbitorul  </a:t>
            </a:r>
            <a:pPr indent="0" marL="0">
              <a:lnSpc>
                <a:spcPct val="100000"/>
              </a:lnSpc>
              <a:buNone/>
            </a:pPr>
            <a:r>
              <a:rPr lang="en-US" sz="1300" dirty="0">
                <a:solidFill>
                  <a:srgbClr val="9BA7BC"/>
                </a:solidFill>
                <a:latin typeface="Arial" pitchFamily="34" charset="0"/>
                <a:ea typeface="Arial" pitchFamily="34" charset="-122"/>
                <a:cs typeface="Arial" pitchFamily="34" charset="-120"/>
              </a:rPr>
              <a:t>— embedding facial + similaritate cosinus între cadre</a:t>
            </a:r>
            <a:endParaRPr lang="en-US" sz="1500" dirty="0"/>
          </a:p>
        </p:txBody>
      </p:sp>
      <p:sp>
        <p:nvSpPr>
          <p:cNvPr id="13" name="Shape 11"/>
          <p:cNvSpPr/>
          <p:nvPr/>
        </p:nvSpPr>
        <p:spPr>
          <a:xfrm>
            <a:off x="594360" y="3968496"/>
            <a:ext cx="502920" cy="502920"/>
          </a:xfrm>
          <a:prstGeom prst="ellipse">
            <a:avLst/>
          </a:prstGeom>
          <a:solidFill>
            <a:srgbClr val="F25C54"/>
          </a:solidFill>
          <a:ln/>
        </p:spPr>
      </p:sp>
      <p:sp>
        <p:nvSpPr>
          <p:cNvPr id="14" name="Text 12"/>
          <p:cNvSpPr/>
          <p:nvPr/>
        </p:nvSpPr>
        <p:spPr>
          <a:xfrm>
            <a:off x="594360" y="3968496"/>
            <a:ext cx="502920" cy="502920"/>
          </a:xfrm>
          <a:prstGeom prst="rect">
            <a:avLst/>
          </a:prstGeom>
          <a:noFill/>
          <a:ln/>
        </p:spPr>
        <p:txBody>
          <a:bodyPr wrap="square" lIns="0" tIns="0" rIns="0" bIns="0" rtlCol="0" anchor="ctr"/>
          <a:lstStyle/>
          <a:p>
            <a:pPr algn="ctr" indent="0" marL="0">
              <a:buNone/>
            </a:pPr>
            <a:r>
              <a:rPr lang="en-US" sz="1800" b="1" dirty="0">
                <a:solidFill>
                  <a:srgbClr val="0F1422"/>
                </a:solidFill>
                <a:latin typeface="Arial" pitchFamily="34" charset="0"/>
                <a:ea typeface="Arial" pitchFamily="34" charset="-122"/>
                <a:cs typeface="Arial" pitchFamily="34" charset="-120"/>
              </a:rPr>
              <a:t>3</a:t>
            </a:r>
            <a:endParaRPr lang="en-US" sz="1800" dirty="0"/>
          </a:p>
        </p:txBody>
      </p:sp>
      <p:sp>
        <p:nvSpPr>
          <p:cNvPr id="15" name="Text 13"/>
          <p:cNvSpPr/>
          <p:nvPr/>
        </p:nvSpPr>
        <p:spPr>
          <a:xfrm>
            <a:off x="1280160" y="3950208"/>
            <a:ext cx="5120640" cy="548640"/>
          </a:xfrm>
          <a:prstGeom prst="rect">
            <a:avLst/>
          </a:prstGeom>
          <a:noFill/>
          <a:ln/>
        </p:spPr>
        <p:txBody>
          <a:bodyPr wrap="square" lIns="0" tIns="0" rIns="0" bIns="0" rtlCol="0" anchor="ctr"/>
          <a:lstStyle/>
          <a:p>
            <a:pPr indent="0" marL="0">
              <a:lnSpc>
                <a:spcPct val="100000"/>
              </a:lnSpc>
              <a:buNone/>
            </a:pPr>
            <a:r>
              <a:rPr lang="en-US" sz="1500" b="1" dirty="0">
                <a:solidFill>
                  <a:srgbClr val="F4F7FB"/>
                </a:solidFill>
                <a:latin typeface="Arial" pitchFamily="34" charset="0"/>
                <a:ea typeface="Arial" pitchFamily="34" charset="-122"/>
                <a:cs typeface="Arial" pitchFamily="34" charset="-120"/>
              </a:rPr>
              <a:t>Scor de calitate  </a:t>
            </a:r>
            <a:pPr indent="0" marL="0">
              <a:lnSpc>
                <a:spcPct val="100000"/>
              </a:lnSpc>
              <a:buNone/>
            </a:pPr>
            <a:r>
              <a:rPr lang="en-US" sz="1300" dirty="0">
                <a:solidFill>
                  <a:srgbClr val="9BA7BC"/>
                </a:solidFill>
                <a:latin typeface="Arial" pitchFamily="34" charset="0"/>
                <a:ea typeface="Arial" pitchFamily="34" charset="-122"/>
                <a:cs typeface="Arial" pitchFamily="34" charset="-120"/>
              </a:rPr>
              <a:t>— EfficientNet-B0 (AFEW): încredere × clasa corectă</a:t>
            </a:r>
            <a:endParaRPr lang="en-US" sz="1500" dirty="0"/>
          </a:p>
        </p:txBody>
      </p:sp>
      <p:sp>
        <p:nvSpPr>
          <p:cNvPr id="16" name="Shape 14"/>
          <p:cNvSpPr/>
          <p:nvPr/>
        </p:nvSpPr>
        <p:spPr>
          <a:xfrm>
            <a:off x="594360" y="4809744"/>
            <a:ext cx="502920" cy="502920"/>
          </a:xfrm>
          <a:prstGeom prst="ellipse">
            <a:avLst/>
          </a:prstGeom>
          <a:solidFill>
            <a:srgbClr val="F25C54"/>
          </a:solidFill>
          <a:ln/>
        </p:spPr>
      </p:sp>
      <p:sp>
        <p:nvSpPr>
          <p:cNvPr id="17" name="Text 15"/>
          <p:cNvSpPr/>
          <p:nvPr/>
        </p:nvSpPr>
        <p:spPr>
          <a:xfrm>
            <a:off x="594360" y="4809744"/>
            <a:ext cx="502920" cy="502920"/>
          </a:xfrm>
          <a:prstGeom prst="rect">
            <a:avLst/>
          </a:prstGeom>
          <a:noFill/>
          <a:ln/>
        </p:spPr>
        <p:txBody>
          <a:bodyPr wrap="square" lIns="0" tIns="0" rIns="0" bIns="0" rtlCol="0" anchor="ctr"/>
          <a:lstStyle/>
          <a:p>
            <a:pPr algn="ctr" indent="0" marL="0">
              <a:buNone/>
            </a:pPr>
            <a:r>
              <a:rPr lang="en-US" sz="1800" b="1" dirty="0">
                <a:solidFill>
                  <a:srgbClr val="0F1422"/>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1280160" y="4791456"/>
            <a:ext cx="5120640" cy="548640"/>
          </a:xfrm>
          <a:prstGeom prst="rect">
            <a:avLst/>
          </a:prstGeom>
          <a:noFill/>
          <a:ln/>
        </p:spPr>
        <p:txBody>
          <a:bodyPr wrap="square" lIns="0" tIns="0" rIns="0" bIns="0" rtlCol="0" anchor="ctr"/>
          <a:lstStyle/>
          <a:p>
            <a:pPr indent="0" marL="0">
              <a:lnSpc>
                <a:spcPct val="100000"/>
              </a:lnSpc>
              <a:buNone/>
            </a:pPr>
            <a:r>
              <a:rPr lang="en-US" sz="1500" b="1" dirty="0">
                <a:solidFill>
                  <a:srgbClr val="F4F7FB"/>
                </a:solidFill>
                <a:latin typeface="Arial" pitchFamily="34" charset="0"/>
                <a:ea typeface="Arial" pitchFamily="34" charset="-122"/>
                <a:cs typeface="Arial" pitchFamily="34" charset="-120"/>
              </a:rPr>
              <a:t>Păstrez top K=5  </a:t>
            </a:r>
            <a:pPr indent="0" marL="0">
              <a:lnSpc>
                <a:spcPct val="100000"/>
              </a:lnSpc>
              <a:buNone/>
            </a:pPr>
            <a:r>
              <a:rPr lang="en-US" sz="1300" dirty="0">
                <a:solidFill>
                  <a:srgbClr val="9BA7BC"/>
                </a:solidFill>
                <a:latin typeface="Arial" pitchFamily="34" charset="0"/>
                <a:ea typeface="Arial" pitchFamily="34" charset="-122"/>
                <a:cs typeface="Arial" pitchFamily="34" charset="-120"/>
              </a:rPr>
              <a:t>— netezire gaussiană, cele mai expresive cadre</a:t>
            </a:r>
            <a:endParaRPr lang="en-US" sz="1500" dirty="0"/>
          </a:p>
        </p:txBody>
      </p:sp>
      <p:sp>
        <p:nvSpPr>
          <p:cNvPr id="19" name="Shape 17"/>
          <p:cNvSpPr/>
          <p:nvPr/>
        </p:nvSpPr>
        <p:spPr>
          <a:xfrm>
            <a:off x="6830568" y="2258568"/>
            <a:ext cx="4901184" cy="2340864"/>
          </a:xfrm>
          <a:prstGeom prst="roundRect">
            <a:avLst>
              <a:gd name="adj" fmla="val 2344"/>
            </a:avLst>
          </a:prstGeom>
          <a:solidFill>
            <a:srgbClr val="FFFFFF"/>
          </a:solidFill>
          <a:ln/>
          <a:effectLst>
            <a:outerShdw sx="100000" sy="100000" kx="0" ky="0" algn="bl" rotWithShape="0" blurRad="114300" dist="38100" dir="5400000">
              <a:srgbClr val="000000">
                <a:alpha val="35000"/>
              </a:srgbClr>
            </a:outerShdw>
          </a:effectLst>
        </p:spPr>
      </p:sp>
      <p:pic>
        <p:nvPicPr>
          <p:cNvPr id="20" name="Image 0" descr="figs/face_extract.png">    </p:cNvPr>
          <p:cNvPicPr>
            <a:picLocks noChangeAspect="1"/>
          </p:cNvPicPr>
          <p:nvPr/>
        </p:nvPicPr>
        <p:blipFill>
          <a:blip r:embed="rId1"/>
          <a:stretch>
            <a:fillRect/>
          </a:stretch>
        </p:blipFill>
        <p:spPr>
          <a:xfrm>
            <a:off x="6903720" y="2331720"/>
            <a:ext cx="4754880" cy="2194560"/>
          </a:xfrm>
          <a:prstGeom prst="rect">
            <a:avLst/>
          </a:prstGeom>
        </p:spPr>
      </p:pic>
      <p:sp>
        <p:nvSpPr>
          <p:cNvPr id="21" name="Text 18"/>
          <p:cNvSpPr/>
          <p:nvPr/>
        </p:nvSpPr>
        <p:spPr>
          <a:xfrm>
            <a:off x="6858000" y="4846320"/>
            <a:ext cx="4846320" cy="548640"/>
          </a:xfrm>
          <a:prstGeom prst="rect">
            <a:avLst/>
          </a:prstGeom>
          <a:noFill/>
          <a:ln/>
        </p:spPr>
        <p:txBody>
          <a:bodyPr wrap="square" lIns="0" tIns="0" rIns="0" bIns="0" rtlCol="0" anchor="ctr"/>
          <a:lstStyle/>
          <a:p>
            <a:pPr algn="ctr" indent="0" marL="0">
              <a:buNone/>
            </a:pPr>
            <a:r>
              <a:rPr lang="en-US" sz="1300" i="1" dirty="0">
                <a:solidFill>
                  <a:srgbClr val="F25C54"/>
                </a:solidFill>
                <a:latin typeface="Arial" pitchFamily="34" charset="0"/>
                <a:ea typeface="Arial" pitchFamily="34" charset="-122"/>
                <a:cs typeface="Arial" pitchFamily="34" charset="-120"/>
              </a:rPr>
              <a:t>Fiecare cadru e legat de replica audio și de text → exemple multimodale aliniate.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2DD4BF"/>
                </a:solidFill>
                <a:latin typeface="Arial" pitchFamily="34" charset="0"/>
                <a:ea typeface="Arial" pitchFamily="34" charset="-122"/>
                <a:cs typeface="Arial" pitchFamily="34" charset="-120"/>
              </a:rPr>
              <a:t>REZULTATE · UNIMODAL</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06</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Textul domină. Audio și imaginea se chinuie.</a:t>
            </a:r>
            <a:endParaRPr lang="en-US" sz="3200" dirty="0"/>
          </a:p>
        </p:txBody>
      </p:sp>
      <p:graphicFrame>
        <p:nvGraphicFramePr>
          <p:cNvPr id="6" name="Chart 0" descr=""/>
          <p:cNvGraphicFramePr/>
          <p:nvPr/>
        </p:nvGraphicFramePr>
        <p:xfrm>
          <a:off x="502920" y="1600200"/>
          <a:ext cx="7040880" cy="42062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18120" y="1691640"/>
            <a:ext cx="3886200" cy="1234440"/>
          </a:xfrm>
          <a:prstGeom prst="roundRect">
            <a:avLst>
              <a:gd name="adj" fmla="val 6667"/>
            </a:avLst>
          </a:prstGeom>
          <a:solidFill>
            <a:srgbClr val="1A2236"/>
          </a:solidFill>
          <a:ln/>
          <a:effectLst>
            <a:outerShdw sx="100000" sy="100000" kx="0" ky="0" algn="bl" rotWithShape="0" blurRad="114300" dist="38100" dir="5400000">
              <a:srgbClr val="000000">
                <a:alpha val="35000"/>
              </a:srgbClr>
            </a:outerShdw>
          </a:effectLst>
        </p:spPr>
      </p:sp>
      <p:sp>
        <p:nvSpPr>
          <p:cNvPr id="8" name="Shape 5"/>
          <p:cNvSpPr/>
          <p:nvPr/>
        </p:nvSpPr>
        <p:spPr>
          <a:xfrm>
            <a:off x="8092440" y="1938528"/>
            <a:ext cx="164592" cy="164592"/>
          </a:xfrm>
          <a:prstGeom prst="ellipse">
            <a:avLst/>
          </a:prstGeom>
          <a:solidFill>
            <a:srgbClr val="2DD4BF"/>
          </a:solidFill>
          <a:ln/>
        </p:spPr>
      </p:sp>
      <p:sp>
        <p:nvSpPr>
          <p:cNvPr id="9" name="Text 6"/>
          <p:cNvSpPr/>
          <p:nvPr/>
        </p:nvSpPr>
        <p:spPr>
          <a:xfrm>
            <a:off x="8339328" y="1819656"/>
            <a:ext cx="3200400" cy="411480"/>
          </a:xfrm>
          <a:prstGeom prst="rect">
            <a:avLst/>
          </a:prstGeom>
          <a:noFill/>
          <a:ln/>
        </p:spPr>
        <p:txBody>
          <a:bodyPr wrap="square" lIns="0" tIns="0" rIns="0" bIns="0" rtlCol="0" anchor="ctr"/>
          <a:lstStyle/>
          <a:p>
            <a:pPr indent="0" marL="0">
              <a:buNone/>
            </a:pPr>
            <a:r>
              <a:rPr lang="en-US" sz="1500" b="1" dirty="0">
                <a:solidFill>
                  <a:srgbClr val="F4F7FB"/>
                </a:solidFill>
                <a:latin typeface="Arial" pitchFamily="34" charset="0"/>
                <a:ea typeface="Arial" pitchFamily="34" charset="-122"/>
                <a:cs typeface="Arial" pitchFamily="34" charset="-120"/>
              </a:rPr>
              <a:t>Text = cel mai stabil semnal</a:t>
            </a:r>
            <a:endParaRPr lang="en-US" sz="1500" dirty="0"/>
          </a:p>
        </p:txBody>
      </p:sp>
      <p:sp>
        <p:nvSpPr>
          <p:cNvPr id="10" name="Text 7"/>
          <p:cNvSpPr/>
          <p:nvPr/>
        </p:nvSpPr>
        <p:spPr>
          <a:xfrm>
            <a:off x="8092440" y="2240280"/>
            <a:ext cx="3383280" cy="594360"/>
          </a:xfrm>
          <a:prstGeom prst="rect">
            <a:avLst/>
          </a:prstGeom>
          <a:noFill/>
          <a:ln/>
        </p:spPr>
        <p:txBody>
          <a:bodyPr wrap="square" lIns="0" tIns="0" rIns="0" bIns="0" rtlCol="0" anchor="ctr"/>
          <a:lstStyle/>
          <a:p>
            <a:pPr indent="0" marL="0">
              <a:lnSpc>
                <a:spcPct val="100000"/>
              </a:lnSpc>
              <a:buNone/>
            </a:pPr>
            <a:r>
              <a:rPr lang="en-US" sz="1250" dirty="0">
                <a:solidFill>
                  <a:srgbClr val="9BA7BC"/>
                </a:solidFill>
                <a:latin typeface="Arial" pitchFamily="34" charset="0"/>
                <a:ea typeface="Arial" pitchFamily="34" charset="-122"/>
                <a:cs typeface="Arial" pitchFamily="34" charset="-120"/>
              </a:rPr>
              <a:t>Cuvintele poartă emoția cel mai clar. DistilBERT rămâne aproape de BERT.</a:t>
            </a:r>
            <a:endParaRPr lang="en-US" sz="1250" dirty="0"/>
          </a:p>
        </p:txBody>
      </p:sp>
      <p:sp>
        <p:nvSpPr>
          <p:cNvPr id="11" name="Shape 8"/>
          <p:cNvSpPr/>
          <p:nvPr/>
        </p:nvSpPr>
        <p:spPr>
          <a:xfrm>
            <a:off x="7818120" y="3063240"/>
            <a:ext cx="3886200" cy="1234440"/>
          </a:xfrm>
          <a:prstGeom prst="roundRect">
            <a:avLst>
              <a:gd name="adj" fmla="val 6667"/>
            </a:avLst>
          </a:prstGeom>
          <a:solidFill>
            <a:srgbClr val="1A2236"/>
          </a:solidFill>
          <a:ln/>
          <a:effectLst>
            <a:outerShdw sx="100000" sy="100000" kx="0" ky="0" algn="bl" rotWithShape="0" blurRad="114300" dist="38100" dir="5400000">
              <a:srgbClr val="000000">
                <a:alpha val="35000"/>
              </a:srgbClr>
            </a:outerShdw>
          </a:effectLst>
        </p:spPr>
      </p:sp>
      <p:sp>
        <p:nvSpPr>
          <p:cNvPr id="12" name="Shape 9"/>
          <p:cNvSpPr/>
          <p:nvPr/>
        </p:nvSpPr>
        <p:spPr>
          <a:xfrm>
            <a:off x="8092440" y="3310128"/>
            <a:ext cx="164592" cy="164592"/>
          </a:xfrm>
          <a:prstGeom prst="ellipse">
            <a:avLst/>
          </a:prstGeom>
          <a:solidFill>
            <a:srgbClr val="FBBF24"/>
          </a:solidFill>
          <a:ln/>
        </p:spPr>
      </p:sp>
      <p:sp>
        <p:nvSpPr>
          <p:cNvPr id="13" name="Text 10"/>
          <p:cNvSpPr/>
          <p:nvPr/>
        </p:nvSpPr>
        <p:spPr>
          <a:xfrm>
            <a:off x="8339328" y="3191256"/>
            <a:ext cx="3200400" cy="411480"/>
          </a:xfrm>
          <a:prstGeom prst="rect">
            <a:avLst/>
          </a:prstGeom>
          <a:noFill/>
          <a:ln/>
        </p:spPr>
        <p:txBody>
          <a:bodyPr wrap="square" lIns="0" tIns="0" rIns="0" bIns="0" rtlCol="0" anchor="ctr"/>
          <a:lstStyle/>
          <a:p>
            <a:pPr indent="0" marL="0">
              <a:buNone/>
            </a:pPr>
            <a:r>
              <a:rPr lang="en-US" sz="1500" b="1" dirty="0">
                <a:solidFill>
                  <a:srgbClr val="F4F7FB"/>
                </a:solidFill>
                <a:latin typeface="Arial" pitchFamily="34" charset="0"/>
                <a:ea typeface="Arial" pitchFamily="34" charset="-122"/>
                <a:cs typeface="Arial" pitchFamily="34" charset="-120"/>
              </a:rPr>
              <a:t>Audio derutat de zgomot</a:t>
            </a:r>
            <a:endParaRPr lang="en-US" sz="1500" dirty="0"/>
          </a:p>
        </p:txBody>
      </p:sp>
      <p:sp>
        <p:nvSpPr>
          <p:cNvPr id="14" name="Text 11"/>
          <p:cNvSpPr/>
          <p:nvPr/>
        </p:nvSpPr>
        <p:spPr>
          <a:xfrm>
            <a:off x="8092440" y="3611880"/>
            <a:ext cx="3383280" cy="594360"/>
          </a:xfrm>
          <a:prstGeom prst="rect">
            <a:avLst/>
          </a:prstGeom>
          <a:noFill/>
          <a:ln/>
        </p:spPr>
        <p:txBody>
          <a:bodyPr wrap="square" lIns="0" tIns="0" rIns="0" bIns="0" rtlCol="0" anchor="ctr"/>
          <a:lstStyle/>
          <a:p>
            <a:pPr indent="0" marL="0">
              <a:lnSpc>
                <a:spcPct val="100000"/>
              </a:lnSpc>
              <a:buNone/>
            </a:pPr>
            <a:r>
              <a:rPr lang="en-US" sz="1250" dirty="0">
                <a:solidFill>
                  <a:srgbClr val="9BA7BC"/>
                </a:solidFill>
                <a:latin typeface="Arial" pitchFamily="34" charset="0"/>
                <a:ea typeface="Arial" pitchFamily="34" charset="-122"/>
                <a:cs typeface="Arial" pitchFamily="34" charset="-120"/>
              </a:rPr>
              <a:t>Voci suprapuse, durate variabile, râsete în post-producție.</a:t>
            </a:r>
            <a:endParaRPr lang="en-US" sz="1250" dirty="0"/>
          </a:p>
        </p:txBody>
      </p:sp>
      <p:sp>
        <p:nvSpPr>
          <p:cNvPr id="15" name="Shape 12"/>
          <p:cNvSpPr/>
          <p:nvPr/>
        </p:nvSpPr>
        <p:spPr>
          <a:xfrm>
            <a:off x="7818120" y="4434840"/>
            <a:ext cx="3886200" cy="1234440"/>
          </a:xfrm>
          <a:prstGeom prst="roundRect">
            <a:avLst>
              <a:gd name="adj" fmla="val 6667"/>
            </a:avLst>
          </a:prstGeom>
          <a:solidFill>
            <a:srgbClr val="1A2236"/>
          </a:solidFill>
          <a:ln/>
          <a:effectLst>
            <a:outerShdw sx="100000" sy="100000" kx="0" ky="0" algn="bl" rotWithShape="0" blurRad="114300" dist="38100" dir="5400000">
              <a:srgbClr val="000000">
                <a:alpha val="35000"/>
              </a:srgbClr>
            </a:outerShdw>
          </a:effectLst>
        </p:spPr>
      </p:sp>
      <p:sp>
        <p:nvSpPr>
          <p:cNvPr id="16" name="Shape 13"/>
          <p:cNvSpPr/>
          <p:nvPr/>
        </p:nvSpPr>
        <p:spPr>
          <a:xfrm>
            <a:off x="8092440" y="4681728"/>
            <a:ext cx="164592" cy="164592"/>
          </a:xfrm>
          <a:prstGeom prst="ellipse">
            <a:avLst/>
          </a:prstGeom>
          <a:solidFill>
            <a:srgbClr val="F25C54"/>
          </a:solidFill>
          <a:ln/>
        </p:spPr>
      </p:sp>
      <p:sp>
        <p:nvSpPr>
          <p:cNvPr id="17" name="Text 14"/>
          <p:cNvSpPr/>
          <p:nvPr/>
        </p:nvSpPr>
        <p:spPr>
          <a:xfrm>
            <a:off x="8339328" y="4562856"/>
            <a:ext cx="3200400" cy="411480"/>
          </a:xfrm>
          <a:prstGeom prst="rect">
            <a:avLst/>
          </a:prstGeom>
          <a:noFill/>
          <a:ln/>
        </p:spPr>
        <p:txBody>
          <a:bodyPr wrap="square" lIns="0" tIns="0" rIns="0" bIns="0" rtlCol="0" anchor="ctr"/>
          <a:lstStyle/>
          <a:p>
            <a:pPr indent="0" marL="0">
              <a:buNone/>
            </a:pPr>
            <a:r>
              <a:rPr lang="en-US" sz="1500" b="1" dirty="0">
                <a:solidFill>
                  <a:srgbClr val="F4F7FB"/>
                </a:solidFill>
                <a:latin typeface="Arial" pitchFamily="34" charset="0"/>
                <a:ea typeface="Arial" pitchFamily="34" charset="-122"/>
                <a:cs typeface="Arial" pitchFamily="34" charset="-120"/>
              </a:rPr>
              <a:t>Imaginea, cea mai grea</a:t>
            </a:r>
            <a:endParaRPr lang="en-US" sz="1500" dirty="0"/>
          </a:p>
        </p:txBody>
      </p:sp>
      <p:sp>
        <p:nvSpPr>
          <p:cNvPr id="18" name="Text 15"/>
          <p:cNvSpPr/>
          <p:nvPr/>
        </p:nvSpPr>
        <p:spPr>
          <a:xfrm>
            <a:off x="8092440" y="4983480"/>
            <a:ext cx="3383280" cy="594360"/>
          </a:xfrm>
          <a:prstGeom prst="rect">
            <a:avLst/>
          </a:prstGeom>
          <a:noFill/>
          <a:ln/>
        </p:spPr>
        <p:txBody>
          <a:bodyPr wrap="square" lIns="0" tIns="0" rIns="0" bIns="0" rtlCol="0" anchor="ctr"/>
          <a:lstStyle/>
          <a:p>
            <a:pPr indent="0" marL="0">
              <a:lnSpc>
                <a:spcPct val="100000"/>
              </a:lnSpc>
              <a:buNone/>
            </a:pPr>
            <a:r>
              <a:rPr lang="en-US" sz="1250" dirty="0">
                <a:solidFill>
                  <a:srgbClr val="9BA7BC"/>
                </a:solidFill>
                <a:latin typeface="Arial" pitchFamily="34" charset="0"/>
                <a:ea typeface="Arial" pitchFamily="34" charset="-122"/>
                <a:cs typeface="Arial" pitchFamily="34" charset="-120"/>
              </a:rPr>
              <a:t>Fețe necentrate, motion blur, expresii ambigue.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2DD4BF"/>
                </a:solidFill>
                <a:latin typeface="Arial" pitchFamily="34" charset="0"/>
                <a:ea typeface="Arial" pitchFamily="34" charset="-122"/>
                <a:cs typeface="Arial" pitchFamily="34" charset="-120"/>
              </a:rPr>
              <a:t>ANALIZĂ · COMPLEX VS. EFICIENT</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07</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Reducerea dimensiunii lovește inegal</a:t>
            </a:r>
            <a:endParaRPr lang="en-US" sz="3200" dirty="0"/>
          </a:p>
        </p:txBody>
      </p:sp>
      <p:sp>
        <p:nvSpPr>
          <p:cNvPr id="6" name="Shape 4"/>
          <p:cNvSpPr/>
          <p:nvPr/>
        </p:nvSpPr>
        <p:spPr>
          <a:xfrm>
            <a:off x="566928" y="1408176"/>
            <a:ext cx="3255264" cy="4754880"/>
          </a:xfrm>
          <a:prstGeom prst="roundRect">
            <a:avLst>
              <a:gd name="adj" fmla="val 1685"/>
            </a:avLst>
          </a:prstGeom>
          <a:solidFill>
            <a:srgbClr val="FFFFFF"/>
          </a:solidFill>
          <a:ln/>
          <a:effectLst>
            <a:outerShdw sx="100000" sy="100000" kx="0" ky="0" algn="bl" rotWithShape="0" blurRad="114300" dist="38100" dir="5400000">
              <a:srgbClr val="000000">
                <a:alpha val="35000"/>
              </a:srgbClr>
            </a:outerShdw>
          </a:effectLst>
        </p:spPr>
      </p:sp>
      <p:pic>
        <p:nvPicPr>
          <p:cNvPr id="7" name="Image 0" descr="figs/unimodal_grid_light_vs_heavy.png">    </p:cNvPr>
          <p:cNvPicPr>
            <a:picLocks noChangeAspect="1"/>
          </p:cNvPicPr>
          <p:nvPr/>
        </p:nvPicPr>
        <p:blipFill>
          <a:blip r:embed="rId1"/>
          <a:stretch>
            <a:fillRect/>
          </a:stretch>
        </p:blipFill>
        <p:spPr>
          <a:xfrm>
            <a:off x="640080" y="1481328"/>
            <a:ext cx="3108960" cy="4608576"/>
          </a:xfrm>
          <a:prstGeom prst="rect">
            <a:avLst/>
          </a:prstGeom>
        </p:spPr>
      </p:pic>
      <p:sp>
        <p:nvSpPr>
          <p:cNvPr id="8" name="Text 5"/>
          <p:cNvSpPr/>
          <p:nvPr/>
        </p:nvSpPr>
        <p:spPr>
          <a:xfrm>
            <a:off x="411480" y="6199632"/>
            <a:ext cx="3657600" cy="274320"/>
          </a:xfrm>
          <a:prstGeom prst="rect">
            <a:avLst/>
          </a:prstGeom>
          <a:noFill/>
          <a:ln/>
        </p:spPr>
        <p:txBody>
          <a:bodyPr wrap="square" lIns="0" tIns="0" rIns="0" bIns="0" rtlCol="0" anchor="ctr"/>
          <a:lstStyle/>
          <a:p>
            <a:pPr algn="ctr" indent="0" marL="0">
              <a:buNone/>
            </a:pPr>
            <a:r>
              <a:rPr lang="en-US" sz="950" dirty="0">
                <a:solidFill>
                  <a:srgbClr val="9BA7BC"/>
                </a:solidFill>
                <a:latin typeface="Arial" pitchFamily="34" charset="0"/>
                <a:ea typeface="Arial" pitchFamily="34" charset="-122"/>
                <a:cs typeface="Arial" pitchFamily="34" charset="-120"/>
              </a:rPr>
              <a:t>Matrici de confuzie · eficient (stg.) vs. complex (dr.)</a:t>
            </a:r>
            <a:endParaRPr lang="en-US" sz="950" dirty="0"/>
          </a:p>
        </p:txBody>
      </p:sp>
      <p:sp>
        <p:nvSpPr>
          <p:cNvPr id="9" name="Shape 6"/>
          <p:cNvSpPr/>
          <p:nvPr/>
        </p:nvSpPr>
        <p:spPr>
          <a:xfrm>
            <a:off x="4114800" y="1554480"/>
            <a:ext cx="7589520" cy="1417320"/>
          </a:xfrm>
          <a:prstGeom prst="roundRect">
            <a:avLst>
              <a:gd name="adj" fmla="val 5806"/>
            </a:avLst>
          </a:prstGeom>
          <a:solidFill>
            <a:srgbClr val="1A2236"/>
          </a:solidFill>
          <a:ln/>
          <a:effectLst>
            <a:outerShdw sx="100000" sy="100000" kx="0" ky="0" algn="bl" rotWithShape="0" blurRad="114300" dist="38100" dir="5400000">
              <a:srgbClr val="000000">
                <a:alpha val="35000"/>
              </a:srgbClr>
            </a:outerShdw>
          </a:effectLst>
        </p:spPr>
      </p:sp>
      <p:sp>
        <p:nvSpPr>
          <p:cNvPr id="10" name="Shape 7"/>
          <p:cNvSpPr/>
          <p:nvPr/>
        </p:nvSpPr>
        <p:spPr>
          <a:xfrm>
            <a:off x="4407408" y="1810512"/>
            <a:ext cx="182880" cy="182880"/>
          </a:xfrm>
          <a:prstGeom prst="ellipse">
            <a:avLst/>
          </a:prstGeom>
          <a:solidFill>
            <a:srgbClr val="2DD4BF"/>
          </a:solidFill>
          <a:ln/>
        </p:spPr>
      </p:sp>
      <p:sp>
        <p:nvSpPr>
          <p:cNvPr id="11" name="Text 8"/>
          <p:cNvSpPr/>
          <p:nvPr/>
        </p:nvSpPr>
        <p:spPr>
          <a:xfrm>
            <a:off x="4681728" y="1700784"/>
            <a:ext cx="6766560" cy="411480"/>
          </a:xfrm>
          <a:prstGeom prst="rect">
            <a:avLst/>
          </a:prstGeom>
          <a:noFill/>
          <a:ln/>
        </p:spPr>
        <p:txBody>
          <a:bodyPr wrap="square" lIns="0" tIns="0" rIns="0" bIns="0" rtlCol="0" anchor="ctr"/>
          <a:lstStyle/>
          <a:p>
            <a:pPr indent="0" marL="0">
              <a:buNone/>
            </a:pPr>
            <a:r>
              <a:rPr lang="en-US" sz="1650" b="1" dirty="0">
                <a:solidFill>
                  <a:srgbClr val="F4F7FB"/>
                </a:solidFill>
                <a:latin typeface="Arial" pitchFamily="34" charset="0"/>
                <a:ea typeface="Arial" pitchFamily="34" charset="-122"/>
                <a:cs typeface="Arial" pitchFamily="34" charset="-120"/>
              </a:rPr>
              <a:t>Text — pierdere controlată</a:t>
            </a:r>
            <a:endParaRPr lang="en-US" sz="1650" dirty="0"/>
          </a:p>
        </p:txBody>
      </p:sp>
      <p:sp>
        <p:nvSpPr>
          <p:cNvPr id="12" name="Text 9"/>
          <p:cNvSpPr/>
          <p:nvPr/>
        </p:nvSpPr>
        <p:spPr>
          <a:xfrm>
            <a:off x="4407408" y="2157984"/>
            <a:ext cx="7040880" cy="731520"/>
          </a:xfrm>
          <a:prstGeom prst="rect">
            <a:avLst/>
          </a:prstGeom>
          <a:noFill/>
          <a:ln/>
        </p:spPr>
        <p:txBody>
          <a:bodyPr wrap="square" lIns="0" tIns="0" rIns="0" bIns="0" rtlCol="0" anchor="ctr"/>
          <a:lstStyle/>
          <a:p>
            <a:pPr indent="0" marL="0">
              <a:lnSpc>
                <a:spcPct val="104000"/>
              </a:lnSpc>
              <a:buNone/>
            </a:pPr>
            <a:r>
              <a:rPr lang="en-US" sz="1350" dirty="0">
                <a:solidFill>
                  <a:srgbClr val="9BA7BC"/>
                </a:solidFill>
                <a:latin typeface="Arial" pitchFamily="34" charset="0"/>
                <a:ea typeface="Arial" pitchFamily="34" charset="-122"/>
                <a:cs typeface="Arial" pitchFamily="34" charset="-120"/>
              </a:rPr>
              <a:t>DistilBERT păstrează ~93% din acuratețe la jumătate din timpul de inferență (5.8 vs 11.6 ms). Slăbește doar pe clase rare ca fear.</a:t>
            </a:r>
            <a:endParaRPr lang="en-US" sz="1350" dirty="0"/>
          </a:p>
        </p:txBody>
      </p:sp>
      <p:sp>
        <p:nvSpPr>
          <p:cNvPr id="13" name="Shape 10"/>
          <p:cNvSpPr/>
          <p:nvPr/>
        </p:nvSpPr>
        <p:spPr>
          <a:xfrm>
            <a:off x="4114800" y="3108960"/>
            <a:ext cx="7589520" cy="1417320"/>
          </a:xfrm>
          <a:prstGeom prst="roundRect">
            <a:avLst>
              <a:gd name="adj" fmla="val 5806"/>
            </a:avLst>
          </a:prstGeom>
          <a:solidFill>
            <a:srgbClr val="1A2236"/>
          </a:solidFill>
          <a:ln/>
          <a:effectLst>
            <a:outerShdw sx="100000" sy="100000" kx="0" ky="0" algn="bl" rotWithShape="0" blurRad="114300" dist="38100" dir="5400000">
              <a:srgbClr val="000000">
                <a:alpha val="35000"/>
              </a:srgbClr>
            </a:outerShdw>
          </a:effectLst>
        </p:spPr>
      </p:sp>
      <p:sp>
        <p:nvSpPr>
          <p:cNvPr id="14" name="Shape 11"/>
          <p:cNvSpPr/>
          <p:nvPr/>
        </p:nvSpPr>
        <p:spPr>
          <a:xfrm>
            <a:off x="4407408" y="3364992"/>
            <a:ext cx="182880" cy="182880"/>
          </a:xfrm>
          <a:prstGeom prst="ellipse">
            <a:avLst/>
          </a:prstGeom>
          <a:solidFill>
            <a:srgbClr val="FBBF24"/>
          </a:solidFill>
          <a:ln/>
        </p:spPr>
      </p:sp>
      <p:sp>
        <p:nvSpPr>
          <p:cNvPr id="15" name="Text 12"/>
          <p:cNvSpPr/>
          <p:nvPr/>
        </p:nvSpPr>
        <p:spPr>
          <a:xfrm>
            <a:off x="4681728" y="3255264"/>
            <a:ext cx="6766560" cy="411480"/>
          </a:xfrm>
          <a:prstGeom prst="rect">
            <a:avLst/>
          </a:prstGeom>
          <a:noFill/>
          <a:ln/>
        </p:spPr>
        <p:txBody>
          <a:bodyPr wrap="square" lIns="0" tIns="0" rIns="0" bIns="0" rtlCol="0" anchor="ctr"/>
          <a:lstStyle/>
          <a:p>
            <a:pPr indent="0" marL="0">
              <a:buNone/>
            </a:pPr>
            <a:r>
              <a:rPr lang="en-US" sz="1650" b="1" dirty="0">
                <a:solidFill>
                  <a:srgbClr val="F4F7FB"/>
                </a:solidFill>
                <a:latin typeface="Arial" pitchFamily="34" charset="0"/>
                <a:ea typeface="Arial" pitchFamily="34" charset="-122"/>
                <a:cs typeface="Arial" pitchFamily="34" charset="-120"/>
              </a:rPr>
              <a:t>Audio — „trișează” cu neutral</a:t>
            </a:r>
            <a:endParaRPr lang="en-US" sz="1650" dirty="0"/>
          </a:p>
        </p:txBody>
      </p:sp>
      <p:sp>
        <p:nvSpPr>
          <p:cNvPr id="16" name="Text 13"/>
          <p:cNvSpPr/>
          <p:nvPr/>
        </p:nvSpPr>
        <p:spPr>
          <a:xfrm>
            <a:off x="4407408" y="3712464"/>
            <a:ext cx="7040880" cy="731520"/>
          </a:xfrm>
          <a:prstGeom prst="rect">
            <a:avLst/>
          </a:prstGeom>
          <a:noFill/>
          <a:ln/>
        </p:spPr>
        <p:txBody>
          <a:bodyPr wrap="square" lIns="0" tIns="0" rIns="0" bIns="0" rtlCol="0" anchor="ctr"/>
          <a:lstStyle/>
          <a:p>
            <a:pPr indent="0" marL="0">
              <a:lnSpc>
                <a:spcPct val="104000"/>
              </a:lnSpc>
              <a:buNone/>
            </a:pPr>
            <a:r>
              <a:rPr lang="en-US" sz="1350" dirty="0">
                <a:solidFill>
                  <a:srgbClr val="9BA7BC"/>
                </a:solidFill>
                <a:latin typeface="Arial" pitchFamily="34" charset="0"/>
                <a:ea typeface="Arial" pitchFamily="34" charset="-122"/>
                <a:cs typeface="Arial" pitchFamily="34" charset="-120"/>
              </a:rPr>
              <a:t>DistilHuBERT ține acuratețea nu prin generalizare, ci prezicând mai des clasa dominantă. Totuși 3× mai rapid.</a:t>
            </a:r>
            <a:endParaRPr lang="en-US" sz="1350" dirty="0"/>
          </a:p>
        </p:txBody>
      </p:sp>
      <p:sp>
        <p:nvSpPr>
          <p:cNvPr id="17" name="Shape 14"/>
          <p:cNvSpPr/>
          <p:nvPr/>
        </p:nvSpPr>
        <p:spPr>
          <a:xfrm>
            <a:off x="4114800" y="4663440"/>
            <a:ext cx="7589520" cy="1417320"/>
          </a:xfrm>
          <a:prstGeom prst="roundRect">
            <a:avLst>
              <a:gd name="adj" fmla="val 5806"/>
            </a:avLst>
          </a:prstGeom>
          <a:solidFill>
            <a:srgbClr val="1A2236"/>
          </a:solidFill>
          <a:ln/>
          <a:effectLst>
            <a:outerShdw sx="100000" sy="100000" kx="0" ky="0" algn="bl" rotWithShape="0" blurRad="114300" dist="38100" dir="5400000">
              <a:srgbClr val="000000">
                <a:alpha val="35000"/>
              </a:srgbClr>
            </a:outerShdw>
          </a:effectLst>
        </p:spPr>
      </p:sp>
      <p:sp>
        <p:nvSpPr>
          <p:cNvPr id="18" name="Shape 15"/>
          <p:cNvSpPr/>
          <p:nvPr/>
        </p:nvSpPr>
        <p:spPr>
          <a:xfrm>
            <a:off x="4407408" y="4919472"/>
            <a:ext cx="182880" cy="182880"/>
          </a:xfrm>
          <a:prstGeom prst="ellipse">
            <a:avLst/>
          </a:prstGeom>
          <a:solidFill>
            <a:srgbClr val="F25C54"/>
          </a:solidFill>
          <a:ln/>
        </p:spPr>
      </p:sp>
      <p:sp>
        <p:nvSpPr>
          <p:cNvPr id="19" name="Text 16"/>
          <p:cNvSpPr/>
          <p:nvPr/>
        </p:nvSpPr>
        <p:spPr>
          <a:xfrm>
            <a:off x="4681728" y="4809744"/>
            <a:ext cx="6766560" cy="411480"/>
          </a:xfrm>
          <a:prstGeom prst="rect">
            <a:avLst/>
          </a:prstGeom>
          <a:noFill/>
          <a:ln/>
        </p:spPr>
        <p:txBody>
          <a:bodyPr wrap="square" lIns="0" tIns="0" rIns="0" bIns="0" rtlCol="0" anchor="ctr"/>
          <a:lstStyle/>
          <a:p>
            <a:pPr indent="0" marL="0">
              <a:buNone/>
            </a:pPr>
            <a:r>
              <a:rPr lang="en-US" sz="1650" b="1" dirty="0">
                <a:solidFill>
                  <a:srgbClr val="F4F7FB"/>
                </a:solidFill>
                <a:latin typeface="Arial" pitchFamily="34" charset="0"/>
                <a:ea typeface="Arial" pitchFamily="34" charset="-122"/>
                <a:cs typeface="Arial" pitchFamily="34" charset="-120"/>
              </a:rPr>
              <a:t>Imagine — colaps real</a:t>
            </a:r>
            <a:endParaRPr lang="en-US" sz="1650" dirty="0"/>
          </a:p>
        </p:txBody>
      </p:sp>
      <p:sp>
        <p:nvSpPr>
          <p:cNvPr id="20" name="Text 17"/>
          <p:cNvSpPr/>
          <p:nvPr/>
        </p:nvSpPr>
        <p:spPr>
          <a:xfrm>
            <a:off x="4407408" y="5266944"/>
            <a:ext cx="7040880" cy="731520"/>
          </a:xfrm>
          <a:prstGeom prst="rect">
            <a:avLst/>
          </a:prstGeom>
          <a:noFill/>
          <a:ln/>
        </p:spPr>
        <p:txBody>
          <a:bodyPr wrap="square" lIns="0" tIns="0" rIns="0" bIns="0" rtlCol="0" anchor="ctr"/>
          <a:lstStyle/>
          <a:p>
            <a:pPr indent="0" marL="0">
              <a:lnSpc>
                <a:spcPct val="104000"/>
              </a:lnSpc>
              <a:buNone/>
            </a:pPr>
            <a:r>
              <a:rPr lang="en-US" sz="1350" dirty="0">
                <a:solidFill>
                  <a:srgbClr val="9BA7BC"/>
                </a:solidFill>
                <a:latin typeface="Arial" pitchFamily="34" charset="0"/>
                <a:ea typeface="Arial" pitchFamily="34" charset="-122"/>
                <a:cs typeface="Arial" pitchFamily="34" charset="-120"/>
              </a:rPr>
              <a:t>MobileNetV3 schimbă complet distribuția predicțiilor: 0.48 ms vs 15 ms, dar peste 5 puncte sub ViT.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A78BFA"/>
                </a:solidFill>
                <a:latin typeface="Arial" pitchFamily="34" charset="0"/>
                <a:ea typeface="Arial" pitchFamily="34" charset="-122"/>
                <a:cs typeface="Arial" pitchFamily="34" charset="-120"/>
              </a:rPr>
              <a:t>MULTIMODALITATE</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08</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Trei moduri de a combina modalitățile</a:t>
            </a:r>
            <a:endParaRPr lang="en-US" sz="3200" dirty="0"/>
          </a:p>
        </p:txBody>
      </p:sp>
      <p:sp>
        <p:nvSpPr>
          <p:cNvPr id="6" name="Shape 4"/>
          <p:cNvSpPr/>
          <p:nvPr/>
        </p:nvSpPr>
        <p:spPr>
          <a:xfrm>
            <a:off x="548640" y="1828800"/>
            <a:ext cx="3474720" cy="3749040"/>
          </a:xfrm>
          <a:prstGeom prst="roundRect">
            <a:avLst>
              <a:gd name="adj" fmla="val 2368"/>
            </a:avLst>
          </a:prstGeom>
          <a:solidFill>
            <a:srgbClr val="1A2236"/>
          </a:solidFill>
          <a:ln/>
          <a:effectLst>
            <a:outerShdw sx="100000" sy="100000" kx="0" ky="0" algn="bl" rotWithShape="0" blurRad="114300" dist="38100" dir="5400000">
              <a:srgbClr val="000000">
                <a:alpha val="35000"/>
              </a:srgbClr>
            </a:outerShdw>
          </a:effectLst>
        </p:spPr>
      </p:sp>
      <p:sp>
        <p:nvSpPr>
          <p:cNvPr id="7" name="Text 5"/>
          <p:cNvSpPr/>
          <p:nvPr/>
        </p:nvSpPr>
        <p:spPr>
          <a:xfrm>
            <a:off x="868680" y="2103120"/>
            <a:ext cx="822960" cy="822960"/>
          </a:xfrm>
          <a:prstGeom prst="rect">
            <a:avLst/>
          </a:prstGeom>
          <a:noFill/>
          <a:ln/>
        </p:spPr>
        <p:txBody>
          <a:bodyPr wrap="square" lIns="0" tIns="0" rIns="0" bIns="0" rtlCol="0" anchor="ctr"/>
          <a:lstStyle/>
          <a:p>
            <a:pPr indent="0" marL="0">
              <a:buNone/>
            </a:pPr>
            <a:r>
              <a:rPr lang="en-US" sz="4000" b="1" dirty="0">
                <a:solidFill>
                  <a:srgbClr val="A78BFA"/>
                </a:solidFill>
                <a:latin typeface="Arial" pitchFamily="34" charset="0"/>
                <a:ea typeface="Arial" pitchFamily="34" charset="-122"/>
                <a:cs typeface="Arial" pitchFamily="34" charset="-120"/>
              </a:rPr>
              <a:t>1</a:t>
            </a:r>
            <a:endParaRPr lang="en-US" sz="4000" dirty="0"/>
          </a:p>
        </p:txBody>
      </p:sp>
      <p:sp>
        <p:nvSpPr>
          <p:cNvPr id="8" name="Text 6"/>
          <p:cNvSpPr/>
          <p:nvPr/>
        </p:nvSpPr>
        <p:spPr>
          <a:xfrm>
            <a:off x="868680" y="3017520"/>
            <a:ext cx="2834640" cy="457200"/>
          </a:xfrm>
          <a:prstGeom prst="rect">
            <a:avLst/>
          </a:prstGeom>
          <a:noFill/>
          <a:ln/>
        </p:spPr>
        <p:txBody>
          <a:bodyPr wrap="square" lIns="0" tIns="0" rIns="0" bIns="0" rtlCol="0" anchor="ctr"/>
          <a:lstStyle/>
          <a:p>
            <a:pPr indent="0" marL="0">
              <a:buNone/>
            </a:pPr>
            <a:r>
              <a:rPr lang="en-US" sz="1800" b="1" dirty="0">
                <a:solidFill>
                  <a:srgbClr val="F4F7FB"/>
                </a:solidFill>
                <a:latin typeface="Arial" pitchFamily="34" charset="0"/>
                <a:ea typeface="Arial" pitchFamily="34" charset="-122"/>
                <a:cs typeface="Arial" pitchFamily="34" charset="-120"/>
              </a:rPr>
              <a:t>Fuziune târzie</a:t>
            </a:r>
            <a:endParaRPr lang="en-US" sz="1800" dirty="0"/>
          </a:p>
        </p:txBody>
      </p:sp>
      <p:sp>
        <p:nvSpPr>
          <p:cNvPr id="9" name="Text 7"/>
          <p:cNvSpPr/>
          <p:nvPr/>
        </p:nvSpPr>
        <p:spPr>
          <a:xfrm>
            <a:off x="868680" y="3584448"/>
            <a:ext cx="2926080" cy="1371600"/>
          </a:xfrm>
          <a:prstGeom prst="rect">
            <a:avLst/>
          </a:prstGeom>
          <a:noFill/>
          <a:ln/>
        </p:spPr>
        <p:txBody>
          <a:bodyPr wrap="square" lIns="0" tIns="0" rIns="0" bIns="0" rtlCol="0" anchor="ctr"/>
          <a:lstStyle/>
          <a:p>
            <a:pPr indent="0" marL="0">
              <a:lnSpc>
                <a:spcPct val="106000"/>
              </a:lnSpc>
              <a:buNone/>
            </a:pPr>
            <a:r>
              <a:rPr lang="en-US" sz="1350" dirty="0">
                <a:solidFill>
                  <a:srgbClr val="9BA7BC"/>
                </a:solidFill>
                <a:latin typeface="Arial" pitchFamily="34" charset="0"/>
                <a:ea typeface="Arial" pitchFamily="34" charset="-122"/>
                <a:cs typeface="Arial" pitchFamily="34" charset="-120"/>
              </a:rPr>
              <a:t>Combină probabilitățile softmax: medie aritmetică sau medie ponderată optimizată pe validare. Fără reantrenare.</a:t>
            </a:r>
            <a:endParaRPr lang="en-US" sz="1350" dirty="0"/>
          </a:p>
        </p:txBody>
      </p:sp>
      <p:sp>
        <p:nvSpPr>
          <p:cNvPr id="10" name="Text 8"/>
          <p:cNvSpPr/>
          <p:nvPr/>
        </p:nvSpPr>
        <p:spPr>
          <a:xfrm>
            <a:off x="868680" y="5029200"/>
            <a:ext cx="2834640" cy="365760"/>
          </a:xfrm>
          <a:prstGeom prst="rect">
            <a:avLst/>
          </a:prstGeom>
          <a:noFill/>
          <a:ln/>
        </p:spPr>
        <p:txBody>
          <a:bodyPr wrap="square" lIns="0" tIns="0" rIns="0" bIns="0" rtlCol="0" anchor="ctr"/>
          <a:lstStyle/>
          <a:p>
            <a:pPr indent="0" marL="0">
              <a:buNone/>
            </a:pPr>
            <a:r>
              <a:rPr lang="en-US" sz="1250" b="1" i="1" dirty="0">
                <a:solidFill>
                  <a:srgbClr val="A78BFA"/>
                </a:solidFill>
                <a:latin typeface="Arial" pitchFamily="34" charset="0"/>
                <a:ea typeface="Arial" pitchFamily="34" charset="-122"/>
                <a:cs typeface="Arial" pitchFamily="34" charset="-120"/>
              </a:rPr>
              <a:t>0 parametri proprii</a:t>
            </a:r>
            <a:endParaRPr lang="en-US" sz="1250" dirty="0"/>
          </a:p>
        </p:txBody>
      </p:sp>
      <p:sp>
        <p:nvSpPr>
          <p:cNvPr id="11" name="Shape 9"/>
          <p:cNvSpPr/>
          <p:nvPr/>
        </p:nvSpPr>
        <p:spPr>
          <a:xfrm>
            <a:off x="4270248" y="1828800"/>
            <a:ext cx="3474720" cy="3749040"/>
          </a:xfrm>
          <a:prstGeom prst="roundRect">
            <a:avLst>
              <a:gd name="adj" fmla="val 2368"/>
            </a:avLst>
          </a:prstGeom>
          <a:solidFill>
            <a:srgbClr val="1A2236"/>
          </a:solidFill>
          <a:ln/>
          <a:effectLst>
            <a:outerShdw sx="100000" sy="100000" kx="0" ky="0" algn="bl" rotWithShape="0" blurRad="114300" dist="38100" dir="5400000">
              <a:srgbClr val="000000">
                <a:alpha val="35000"/>
              </a:srgbClr>
            </a:outerShdw>
          </a:effectLst>
        </p:spPr>
      </p:sp>
      <p:sp>
        <p:nvSpPr>
          <p:cNvPr id="12" name="Text 10"/>
          <p:cNvSpPr/>
          <p:nvPr/>
        </p:nvSpPr>
        <p:spPr>
          <a:xfrm>
            <a:off x="4590288" y="2103120"/>
            <a:ext cx="822960" cy="822960"/>
          </a:xfrm>
          <a:prstGeom prst="rect">
            <a:avLst/>
          </a:prstGeom>
          <a:noFill/>
          <a:ln/>
        </p:spPr>
        <p:txBody>
          <a:bodyPr wrap="square" lIns="0" tIns="0" rIns="0" bIns="0" rtlCol="0" anchor="ctr"/>
          <a:lstStyle/>
          <a:p>
            <a:pPr indent="0" marL="0">
              <a:buNone/>
            </a:pPr>
            <a:r>
              <a:rPr lang="en-US" sz="4000" b="1" dirty="0">
                <a:solidFill>
                  <a:srgbClr val="A78BFA"/>
                </a:solidFill>
                <a:latin typeface="Arial" pitchFamily="34" charset="0"/>
                <a:ea typeface="Arial" pitchFamily="34" charset="-122"/>
                <a:cs typeface="Arial" pitchFamily="34" charset="-120"/>
              </a:rPr>
              <a:t>2</a:t>
            </a:r>
            <a:endParaRPr lang="en-US" sz="4000" dirty="0"/>
          </a:p>
        </p:txBody>
      </p:sp>
      <p:sp>
        <p:nvSpPr>
          <p:cNvPr id="13" name="Text 11"/>
          <p:cNvSpPr/>
          <p:nvPr/>
        </p:nvSpPr>
        <p:spPr>
          <a:xfrm>
            <a:off x="4590288" y="3017520"/>
            <a:ext cx="2834640" cy="457200"/>
          </a:xfrm>
          <a:prstGeom prst="rect">
            <a:avLst/>
          </a:prstGeom>
          <a:noFill/>
          <a:ln/>
        </p:spPr>
        <p:txBody>
          <a:bodyPr wrap="square" lIns="0" tIns="0" rIns="0" bIns="0" rtlCol="0" anchor="ctr"/>
          <a:lstStyle/>
          <a:p>
            <a:pPr indent="0" marL="0">
              <a:buNone/>
            </a:pPr>
            <a:r>
              <a:rPr lang="en-US" sz="1800" b="1" dirty="0">
                <a:solidFill>
                  <a:srgbClr val="F4F7FB"/>
                </a:solidFill>
                <a:latin typeface="Arial" pitchFamily="34" charset="0"/>
                <a:ea typeface="Arial" pitchFamily="34" charset="-122"/>
                <a:cs typeface="Arial" pitchFamily="34" charset="-120"/>
              </a:rPr>
              <a:t>Fuziune intermediară</a:t>
            </a:r>
            <a:endParaRPr lang="en-US" sz="1800" dirty="0"/>
          </a:p>
        </p:txBody>
      </p:sp>
      <p:sp>
        <p:nvSpPr>
          <p:cNvPr id="14" name="Text 12"/>
          <p:cNvSpPr/>
          <p:nvPr/>
        </p:nvSpPr>
        <p:spPr>
          <a:xfrm>
            <a:off x="4590288" y="3584448"/>
            <a:ext cx="2926080" cy="1371600"/>
          </a:xfrm>
          <a:prstGeom prst="rect">
            <a:avLst/>
          </a:prstGeom>
          <a:noFill/>
          <a:ln/>
        </p:spPr>
        <p:txBody>
          <a:bodyPr wrap="square" lIns="0" tIns="0" rIns="0" bIns="0" rtlCol="0" anchor="ctr"/>
          <a:lstStyle/>
          <a:p>
            <a:pPr indent="0" marL="0">
              <a:lnSpc>
                <a:spcPct val="106000"/>
              </a:lnSpc>
              <a:buNone/>
            </a:pPr>
            <a:r>
              <a:rPr lang="en-US" sz="1350" dirty="0">
                <a:solidFill>
                  <a:srgbClr val="9BA7BC"/>
                </a:solidFill>
                <a:latin typeface="Arial" pitchFamily="34" charset="0"/>
                <a:ea typeface="Arial" pitchFamily="34" charset="-122"/>
                <a:cs typeface="Arial" pitchFamily="34" charset="-120"/>
              </a:rPr>
              <a:t>Extrage reprezentările din penultimul strat și antrenează un MLP ușor de proiecție peste cele trei modalități.</a:t>
            </a:r>
            <a:endParaRPr lang="en-US" sz="1350" dirty="0"/>
          </a:p>
        </p:txBody>
      </p:sp>
      <p:sp>
        <p:nvSpPr>
          <p:cNvPr id="15" name="Text 13"/>
          <p:cNvSpPr/>
          <p:nvPr/>
        </p:nvSpPr>
        <p:spPr>
          <a:xfrm>
            <a:off x="4590288" y="5029200"/>
            <a:ext cx="2834640" cy="365760"/>
          </a:xfrm>
          <a:prstGeom prst="rect">
            <a:avLst/>
          </a:prstGeom>
          <a:noFill/>
          <a:ln/>
        </p:spPr>
        <p:txBody>
          <a:bodyPr wrap="square" lIns="0" tIns="0" rIns="0" bIns="0" rtlCol="0" anchor="ctr"/>
          <a:lstStyle/>
          <a:p>
            <a:pPr indent="0" marL="0">
              <a:buNone/>
            </a:pPr>
            <a:r>
              <a:rPr lang="en-US" sz="1250" b="1" i="1" dirty="0">
                <a:solidFill>
                  <a:srgbClr val="A78BFA"/>
                </a:solidFill>
                <a:latin typeface="Arial" pitchFamily="34" charset="0"/>
                <a:ea typeface="Arial" pitchFamily="34" charset="-122"/>
                <a:cs typeface="Arial" pitchFamily="34" charset="-120"/>
              </a:rPr>
              <a:t>≈334K parametri</a:t>
            </a:r>
            <a:endParaRPr lang="en-US" sz="1250" dirty="0"/>
          </a:p>
        </p:txBody>
      </p:sp>
      <p:sp>
        <p:nvSpPr>
          <p:cNvPr id="16" name="Shape 14"/>
          <p:cNvSpPr/>
          <p:nvPr/>
        </p:nvSpPr>
        <p:spPr>
          <a:xfrm>
            <a:off x="7991856" y="1828800"/>
            <a:ext cx="3474720" cy="3749040"/>
          </a:xfrm>
          <a:prstGeom prst="roundRect">
            <a:avLst>
              <a:gd name="adj" fmla="val 2368"/>
            </a:avLst>
          </a:prstGeom>
          <a:solidFill>
            <a:srgbClr val="1A2236"/>
          </a:solidFill>
          <a:ln/>
          <a:effectLst>
            <a:outerShdw sx="100000" sy="100000" kx="0" ky="0" algn="bl" rotWithShape="0" blurRad="114300" dist="38100" dir="5400000">
              <a:srgbClr val="000000">
                <a:alpha val="35000"/>
              </a:srgbClr>
            </a:outerShdw>
          </a:effectLst>
        </p:spPr>
      </p:sp>
      <p:sp>
        <p:nvSpPr>
          <p:cNvPr id="17" name="Text 15"/>
          <p:cNvSpPr/>
          <p:nvPr/>
        </p:nvSpPr>
        <p:spPr>
          <a:xfrm>
            <a:off x="8311896" y="2103120"/>
            <a:ext cx="822960" cy="822960"/>
          </a:xfrm>
          <a:prstGeom prst="rect">
            <a:avLst/>
          </a:prstGeom>
          <a:noFill/>
          <a:ln/>
        </p:spPr>
        <p:txBody>
          <a:bodyPr wrap="square" lIns="0" tIns="0" rIns="0" bIns="0" rtlCol="0" anchor="ctr"/>
          <a:lstStyle/>
          <a:p>
            <a:pPr indent="0" marL="0">
              <a:buNone/>
            </a:pPr>
            <a:r>
              <a:rPr lang="en-US" sz="4000" b="1" dirty="0">
                <a:solidFill>
                  <a:srgbClr val="A78BFA"/>
                </a:solidFill>
                <a:latin typeface="Arial" pitchFamily="34" charset="0"/>
                <a:ea typeface="Arial" pitchFamily="34" charset="-122"/>
                <a:cs typeface="Arial" pitchFamily="34" charset="-120"/>
              </a:rPr>
              <a:t>3</a:t>
            </a:r>
            <a:endParaRPr lang="en-US" sz="4000" dirty="0"/>
          </a:p>
        </p:txBody>
      </p:sp>
      <p:sp>
        <p:nvSpPr>
          <p:cNvPr id="18" name="Text 16"/>
          <p:cNvSpPr/>
          <p:nvPr/>
        </p:nvSpPr>
        <p:spPr>
          <a:xfrm>
            <a:off x="8311896" y="3017520"/>
            <a:ext cx="2834640" cy="457200"/>
          </a:xfrm>
          <a:prstGeom prst="rect">
            <a:avLst/>
          </a:prstGeom>
          <a:noFill/>
          <a:ln/>
        </p:spPr>
        <p:txBody>
          <a:bodyPr wrap="square" lIns="0" tIns="0" rIns="0" bIns="0" rtlCol="0" anchor="ctr"/>
          <a:lstStyle/>
          <a:p>
            <a:pPr indent="0" marL="0">
              <a:buNone/>
            </a:pPr>
            <a:r>
              <a:rPr lang="en-US" sz="1800" b="1" dirty="0">
                <a:solidFill>
                  <a:srgbClr val="F4F7FB"/>
                </a:solidFill>
                <a:latin typeface="Arial" pitchFamily="34" charset="0"/>
                <a:ea typeface="Arial" pitchFamily="34" charset="-122"/>
                <a:cs typeface="Arial" pitchFamily="34" charset="-120"/>
              </a:rPr>
              <a:t>Fuziune bazată pe porți</a:t>
            </a:r>
            <a:endParaRPr lang="en-US" sz="1800" dirty="0"/>
          </a:p>
        </p:txBody>
      </p:sp>
      <p:sp>
        <p:nvSpPr>
          <p:cNvPr id="19" name="Text 17"/>
          <p:cNvSpPr/>
          <p:nvPr/>
        </p:nvSpPr>
        <p:spPr>
          <a:xfrm>
            <a:off x="8311896" y="3584448"/>
            <a:ext cx="2926080" cy="1371600"/>
          </a:xfrm>
          <a:prstGeom prst="rect">
            <a:avLst/>
          </a:prstGeom>
          <a:noFill/>
          <a:ln/>
        </p:spPr>
        <p:txBody>
          <a:bodyPr wrap="square" lIns="0" tIns="0" rIns="0" bIns="0" rtlCol="0" anchor="ctr"/>
          <a:lstStyle/>
          <a:p>
            <a:pPr indent="0" marL="0">
              <a:lnSpc>
                <a:spcPct val="106000"/>
              </a:lnSpc>
              <a:buNone/>
            </a:pPr>
            <a:r>
              <a:rPr lang="en-US" sz="1350" dirty="0">
                <a:solidFill>
                  <a:srgbClr val="9BA7BC"/>
                </a:solidFill>
                <a:latin typeface="Arial" pitchFamily="34" charset="0"/>
                <a:ea typeface="Arial" pitchFamily="34" charset="-122"/>
                <a:cs typeface="Arial" pitchFamily="34" charset="-120"/>
              </a:rPr>
              <a:t>Ponderi calculate per eșantion: GMU (ușor) sau un Transformer cross-modal cu 2 straturi și atenție.</a:t>
            </a:r>
            <a:endParaRPr lang="en-US" sz="1350" dirty="0"/>
          </a:p>
        </p:txBody>
      </p:sp>
      <p:sp>
        <p:nvSpPr>
          <p:cNvPr id="20" name="Text 18"/>
          <p:cNvSpPr/>
          <p:nvPr/>
        </p:nvSpPr>
        <p:spPr>
          <a:xfrm>
            <a:off x="8311896" y="5029200"/>
            <a:ext cx="2834640" cy="365760"/>
          </a:xfrm>
          <a:prstGeom prst="rect">
            <a:avLst/>
          </a:prstGeom>
          <a:noFill/>
          <a:ln/>
        </p:spPr>
        <p:txBody>
          <a:bodyPr wrap="square" lIns="0" tIns="0" rIns="0" bIns="0" rtlCol="0" anchor="ctr"/>
          <a:lstStyle/>
          <a:p>
            <a:pPr indent="0" marL="0">
              <a:buNone/>
            </a:pPr>
            <a:r>
              <a:rPr lang="en-US" sz="1250" b="1" i="1" dirty="0">
                <a:solidFill>
                  <a:srgbClr val="A78BFA"/>
                </a:solidFill>
                <a:latin typeface="Arial" pitchFamily="34" charset="0"/>
                <a:ea typeface="Arial" pitchFamily="34" charset="-122"/>
                <a:cs typeface="Arial" pitchFamily="34" charset="-120"/>
              </a:rPr>
              <a:t>GMU / Transformer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2DD4BF"/>
                </a:solidFill>
                <a:latin typeface="Arial" pitchFamily="34" charset="0"/>
                <a:ea typeface="Arial" pitchFamily="34" charset="-122"/>
                <a:cs typeface="Arial" pitchFamily="34" charset="-120"/>
              </a:rPr>
              <a:t>REZULTATE · FUZIUNE</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09</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Cea mai bună configurație — și o surpriză</a:t>
            </a:r>
            <a:endParaRPr lang="en-US" sz="3200" dirty="0"/>
          </a:p>
        </p:txBody>
      </p:sp>
      <p:graphicFrame>
        <p:nvGraphicFramePr>
          <p:cNvPr id="6" name="Chart 0" descr=""/>
          <p:cNvGraphicFramePr/>
          <p:nvPr/>
        </p:nvGraphicFramePr>
        <p:xfrm>
          <a:off x="502920" y="1554480"/>
          <a:ext cx="7132320" cy="42976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909560" y="1691640"/>
            <a:ext cx="3794760" cy="1874520"/>
          </a:xfrm>
          <a:prstGeom prst="roundRect">
            <a:avLst>
              <a:gd name="adj" fmla="val 4390"/>
            </a:avLst>
          </a:prstGeom>
          <a:solidFill>
            <a:srgbClr val="1A2236"/>
          </a:solidFill>
          <a:ln/>
          <a:effectLst>
            <a:outerShdw sx="100000" sy="100000" kx="0" ky="0" algn="bl" rotWithShape="0" blurRad="114300" dist="38100" dir="5400000">
              <a:srgbClr val="000000">
                <a:alpha val="35000"/>
              </a:srgbClr>
            </a:outerShdw>
          </a:effectLst>
        </p:spPr>
      </p:sp>
      <p:sp>
        <p:nvSpPr>
          <p:cNvPr id="8" name="Text 5"/>
          <p:cNvSpPr/>
          <p:nvPr/>
        </p:nvSpPr>
        <p:spPr>
          <a:xfrm>
            <a:off x="8138160" y="1783080"/>
            <a:ext cx="2011680" cy="960120"/>
          </a:xfrm>
          <a:prstGeom prst="rect">
            <a:avLst/>
          </a:prstGeom>
          <a:noFill/>
          <a:ln/>
        </p:spPr>
        <p:txBody>
          <a:bodyPr wrap="square" lIns="0" tIns="0" rIns="0" bIns="0" rtlCol="0" anchor="ctr"/>
          <a:lstStyle/>
          <a:p>
            <a:pPr indent="0" marL="0">
              <a:buNone/>
            </a:pPr>
            <a:r>
              <a:rPr lang="en-US" sz="5000" b="1" dirty="0">
                <a:solidFill>
                  <a:srgbClr val="2DD4BF"/>
                </a:solidFill>
                <a:latin typeface="Arial" pitchFamily="34" charset="0"/>
                <a:ea typeface="Arial" pitchFamily="34" charset="-122"/>
                <a:cs typeface="Arial" pitchFamily="34" charset="-120"/>
              </a:rPr>
              <a:t>+1.7</a:t>
            </a:r>
            <a:endParaRPr lang="en-US" sz="5000" dirty="0"/>
          </a:p>
        </p:txBody>
      </p:sp>
      <p:sp>
        <p:nvSpPr>
          <p:cNvPr id="9" name="Text 6"/>
          <p:cNvSpPr/>
          <p:nvPr/>
        </p:nvSpPr>
        <p:spPr>
          <a:xfrm>
            <a:off x="8138160" y="2743200"/>
            <a:ext cx="3337560" cy="731520"/>
          </a:xfrm>
          <a:prstGeom prst="rect">
            <a:avLst/>
          </a:prstGeom>
          <a:noFill/>
          <a:ln/>
        </p:spPr>
        <p:txBody>
          <a:bodyPr wrap="square" lIns="0" tIns="0" rIns="0" bIns="0" rtlCol="0" anchor="ctr"/>
          <a:lstStyle/>
          <a:p>
            <a:pPr indent="0" marL="0">
              <a:lnSpc>
                <a:spcPct val="104000"/>
              </a:lnSpc>
              <a:buNone/>
            </a:pPr>
            <a:r>
              <a:rPr lang="en-US" sz="1300" dirty="0">
                <a:solidFill>
                  <a:srgbClr val="9BA7BC"/>
                </a:solidFill>
                <a:latin typeface="Arial" pitchFamily="34" charset="0"/>
                <a:ea typeface="Arial" pitchFamily="34" charset="-122"/>
                <a:cs typeface="Arial" pitchFamily="34" charset="-120"/>
              </a:rPr>
              <a:t>puncte macro-F1 peste cel mai bun model unimodal — câștigul net al multimodalității.</a:t>
            </a:r>
            <a:endParaRPr lang="en-US" sz="1300" dirty="0"/>
          </a:p>
        </p:txBody>
      </p:sp>
      <p:sp>
        <p:nvSpPr>
          <p:cNvPr id="10" name="Shape 7"/>
          <p:cNvSpPr/>
          <p:nvPr/>
        </p:nvSpPr>
        <p:spPr>
          <a:xfrm>
            <a:off x="7909560" y="3749040"/>
            <a:ext cx="3794760" cy="2103120"/>
          </a:xfrm>
          <a:prstGeom prst="roundRect">
            <a:avLst>
              <a:gd name="adj" fmla="val 3913"/>
            </a:avLst>
          </a:prstGeom>
          <a:solidFill>
            <a:srgbClr val="1A2236"/>
          </a:solidFill>
          <a:ln/>
          <a:effectLst>
            <a:outerShdw sx="100000" sy="100000" kx="0" ky="0" algn="bl" rotWithShape="0" blurRad="114300" dist="38100" dir="5400000">
              <a:srgbClr val="000000">
                <a:alpha val="35000"/>
              </a:srgbClr>
            </a:outerShdw>
          </a:effectLst>
        </p:spPr>
      </p:sp>
      <p:sp>
        <p:nvSpPr>
          <p:cNvPr id="11" name="Shape 8"/>
          <p:cNvSpPr/>
          <p:nvPr/>
        </p:nvSpPr>
        <p:spPr>
          <a:xfrm>
            <a:off x="8183880" y="4023360"/>
            <a:ext cx="182880" cy="182880"/>
          </a:xfrm>
          <a:prstGeom prst="ellipse">
            <a:avLst/>
          </a:prstGeom>
          <a:solidFill>
            <a:srgbClr val="FBBF24"/>
          </a:solidFill>
          <a:ln/>
        </p:spPr>
      </p:sp>
      <p:sp>
        <p:nvSpPr>
          <p:cNvPr id="12" name="Text 9"/>
          <p:cNvSpPr/>
          <p:nvPr/>
        </p:nvSpPr>
        <p:spPr>
          <a:xfrm>
            <a:off x="8458200" y="3913632"/>
            <a:ext cx="2926080" cy="411480"/>
          </a:xfrm>
          <a:prstGeom prst="rect">
            <a:avLst/>
          </a:prstGeom>
          <a:noFill/>
          <a:ln/>
        </p:spPr>
        <p:txBody>
          <a:bodyPr wrap="square" lIns="0" tIns="0" rIns="0" bIns="0" rtlCol="0" anchor="ctr"/>
          <a:lstStyle/>
          <a:p>
            <a:pPr indent="0" marL="0">
              <a:buNone/>
            </a:pPr>
            <a:r>
              <a:rPr lang="en-US" sz="1600" b="1" dirty="0">
                <a:solidFill>
                  <a:srgbClr val="F4F7FB"/>
                </a:solidFill>
                <a:latin typeface="Arial" pitchFamily="34" charset="0"/>
                <a:ea typeface="Arial" pitchFamily="34" charset="-122"/>
                <a:cs typeface="Arial" pitchFamily="34" charset="-120"/>
              </a:rPr>
              <a:t>Surpriza</a:t>
            </a:r>
            <a:endParaRPr lang="en-US" sz="1600" dirty="0"/>
          </a:p>
        </p:txBody>
      </p:sp>
      <p:sp>
        <p:nvSpPr>
          <p:cNvPr id="13" name="Text 10"/>
          <p:cNvSpPr/>
          <p:nvPr/>
        </p:nvSpPr>
        <p:spPr>
          <a:xfrm>
            <a:off x="8183880" y="4370832"/>
            <a:ext cx="3291840" cy="1371600"/>
          </a:xfrm>
          <a:prstGeom prst="rect">
            <a:avLst/>
          </a:prstGeom>
          <a:noFill/>
          <a:ln/>
        </p:spPr>
        <p:txBody>
          <a:bodyPr wrap="square" lIns="0" tIns="0" rIns="0" bIns="0" rtlCol="0" anchor="ctr"/>
          <a:lstStyle/>
          <a:p>
            <a:pPr indent="0" marL="0">
              <a:lnSpc>
                <a:spcPct val="105000"/>
              </a:lnSpc>
              <a:buNone/>
            </a:pPr>
            <a:r>
              <a:rPr lang="en-US" sz="1300" dirty="0">
                <a:solidFill>
                  <a:srgbClr val="9BA7BC"/>
                </a:solidFill>
                <a:latin typeface="Arial" pitchFamily="34" charset="0"/>
                <a:ea typeface="Arial" pitchFamily="34" charset="-122"/>
                <a:cs typeface="Arial" pitchFamily="34" charset="-120"/>
              </a:rPr>
              <a:t>Fuziunea bazată pe porți, cea mai sofisticată, rămâne SUB cel mai bun model unimodal. Pe acest set, atenția cross-modală complexă nu aduce un avantaj clar — ponderarea simplă câștigă.</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FBBF24"/>
                </a:solidFill>
                <a:latin typeface="Arial" pitchFamily="34" charset="0"/>
                <a:ea typeface="Arial" pitchFamily="34" charset="-122"/>
                <a:cs typeface="Arial" pitchFamily="34" charset="-120"/>
              </a:rPr>
              <a:t>DISCUȚIE · CÂT AJUTĂ DE FAPT FUZIUNEA?</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10</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+1.7 puncte: de unde vin, de fapt?</a:t>
            </a:r>
            <a:endParaRPr lang="en-US" sz="3200" dirty="0"/>
          </a:p>
        </p:txBody>
      </p:sp>
      <p:sp>
        <p:nvSpPr>
          <p:cNvPr id="6" name="Text 4"/>
          <p:cNvSpPr/>
          <p:nvPr/>
        </p:nvSpPr>
        <p:spPr>
          <a:xfrm>
            <a:off x="548640" y="1508760"/>
            <a:ext cx="11155680" cy="457200"/>
          </a:xfrm>
          <a:prstGeom prst="rect">
            <a:avLst/>
          </a:prstGeom>
          <a:noFill/>
          <a:ln/>
        </p:spPr>
        <p:txBody>
          <a:bodyPr wrap="square" lIns="0" tIns="0" rIns="0" bIns="0" rtlCol="0" anchor="ctr"/>
          <a:lstStyle/>
          <a:p>
            <a:pPr indent="0" marL="0">
              <a:buNone/>
            </a:pPr>
            <a:r>
              <a:rPr lang="en-US" sz="1550" dirty="0">
                <a:solidFill>
                  <a:srgbClr val="9BA7BC"/>
                </a:solidFill>
                <a:latin typeface="Arial" pitchFamily="34" charset="0"/>
                <a:ea typeface="Arial" pitchFamily="34" charset="-122"/>
                <a:cs typeface="Arial" pitchFamily="34" charset="-120"/>
              </a:rPr>
              <a:t>Am clasificat fiecare din cele 2.610 cazuri de test: ce face fuziunea față de BERT singur?</a:t>
            </a:r>
            <a:endParaRPr lang="en-US" sz="1550" dirty="0"/>
          </a:p>
        </p:txBody>
      </p:sp>
      <p:graphicFrame>
        <p:nvGraphicFramePr>
          <p:cNvPr id="7" name="Chart 0" descr=""/>
          <p:cNvGraphicFramePr/>
          <p:nvPr/>
        </p:nvGraphicFramePr>
        <p:xfrm>
          <a:off x="640080" y="2103120"/>
          <a:ext cx="4297680" cy="39319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1783080" y="3611880"/>
            <a:ext cx="2011680" cy="914400"/>
          </a:xfrm>
          <a:prstGeom prst="rect">
            <a:avLst/>
          </a:prstGeom>
          <a:noFill/>
          <a:ln/>
        </p:spPr>
        <p:txBody>
          <a:bodyPr wrap="square" lIns="0" tIns="0" rIns="0" bIns="0" rtlCol="0" anchor="ctr"/>
          <a:lstStyle/>
          <a:p>
            <a:pPr algn="ctr" indent="0" marL="0">
              <a:lnSpc>
                <a:spcPct val="95000"/>
              </a:lnSpc>
              <a:buNone/>
            </a:pPr>
            <a:r>
              <a:rPr lang="en-US" sz="1700" b="1" dirty="0">
                <a:solidFill>
                  <a:srgbClr val="F4F7FB"/>
                </a:solidFill>
                <a:latin typeface="Arial" pitchFamily="34" charset="0"/>
                <a:ea typeface="Arial" pitchFamily="34" charset="-122"/>
                <a:cs typeface="Arial" pitchFamily="34" charset="-120"/>
              </a:rPr>
              <a:t>2.610</a:t>
            </a:r>
            <a:endParaRPr lang="en-US" sz="1700" dirty="0"/>
          </a:p>
          <a:p>
            <a:pPr algn="ctr" indent="0" marL="0">
              <a:lnSpc>
                <a:spcPct val="95000"/>
              </a:lnSpc>
              <a:buNone/>
            </a:pPr>
            <a:r>
              <a:rPr lang="en-US" sz="1700" b="1" dirty="0">
                <a:solidFill>
                  <a:srgbClr val="F4F7FB"/>
                </a:solidFill>
                <a:latin typeface="Arial" pitchFamily="34" charset="0"/>
                <a:ea typeface="Arial" pitchFamily="34" charset="-122"/>
                <a:cs typeface="Arial" pitchFamily="34" charset="-120"/>
              </a:rPr>
              <a:t>cazuri test</a:t>
            </a:r>
            <a:endParaRPr lang="en-US" sz="1700" dirty="0"/>
          </a:p>
        </p:txBody>
      </p:sp>
      <p:sp>
        <p:nvSpPr>
          <p:cNvPr id="9" name="Shape 6"/>
          <p:cNvSpPr/>
          <p:nvPr/>
        </p:nvSpPr>
        <p:spPr>
          <a:xfrm>
            <a:off x="5440680" y="2295144"/>
            <a:ext cx="182880" cy="182880"/>
          </a:xfrm>
          <a:prstGeom prst="ellipse">
            <a:avLst/>
          </a:prstGeom>
          <a:solidFill>
            <a:srgbClr val="566179"/>
          </a:solidFill>
          <a:ln/>
        </p:spPr>
      </p:sp>
      <p:sp>
        <p:nvSpPr>
          <p:cNvPr id="10" name="Text 7"/>
          <p:cNvSpPr/>
          <p:nvPr/>
        </p:nvSpPr>
        <p:spPr>
          <a:xfrm>
            <a:off x="5760720" y="2130552"/>
            <a:ext cx="6035040" cy="365760"/>
          </a:xfrm>
          <a:prstGeom prst="rect">
            <a:avLst/>
          </a:prstGeom>
          <a:noFill/>
          <a:ln/>
        </p:spPr>
        <p:txBody>
          <a:bodyPr wrap="square" lIns="0" tIns="0" rIns="0" bIns="0" rtlCol="0" anchor="ctr"/>
          <a:lstStyle/>
          <a:p>
            <a:pPr indent="0" marL="0">
              <a:buNone/>
            </a:pPr>
            <a:r>
              <a:rPr lang="en-US" sz="1600" b="1" dirty="0">
                <a:solidFill>
                  <a:srgbClr val="566179"/>
                </a:solidFill>
                <a:latin typeface="Arial" pitchFamily="34" charset="0"/>
                <a:ea typeface="Arial" pitchFamily="34" charset="-122"/>
                <a:cs typeface="Arial" pitchFamily="34" charset="-120"/>
              </a:rPr>
              <a:t>58.4%  </a:t>
            </a:r>
            <a:pPr indent="0" marL="0">
              <a:buNone/>
            </a:pPr>
            <a:r>
              <a:rPr lang="en-US" sz="1500" b="1" dirty="0">
                <a:solidFill>
                  <a:srgbClr val="F4F7FB"/>
                </a:solidFill>
                <a:latin typeface="Arial" pitchFamily="34" charset="0"/>
                <a:ea typeface="Arial" pitchFamily="34" charset="-122"/>
                <a:cs typeface="Arial" pitchFamily="34" charset="-120"/>
              </a:rPr>
              <a:t>Ambele corecte</a:t>
            </a:r>
            <a:endParaRPr lang="en-US" sz="1600" dirty="0"/>
          </a:p>
        </p:txBody>
      </p:sp>
      <p:sp>
        <p:nvSpPr>
          <p:cNvPr id="11" name="Text 8"/>
          <p:cNvSpPr/>
          <p:nvPr/>
        </p:nvSpPr>
        <p:spPr>
          <a:xfrm>
            <a:off x="5760720" y="2441448"/>
            <a:ext cx="6035040" cy="320040"/>
          </a:xfrm>
          <a:prstGeom prst="rect">
            <a:avLst/>
          </a:prstGeom>
          <a:noFill/>
          <a:ln/>
        </p:spPr>
        <p:txBody>
          <a:bodyPr wrap="square" lIns="0" tIns="0" rIns="0" bIns="0" rtlCol="0" anchor="ctr"/>
          <a:lstStyle/>
          <a:p>
            <a:pPr indent="0" marL="0">
              <a:buNone/>
            </a:pPr>
            <a:r>
              <a:rPr lang="en-US" sz="1250" dirty="0">
                <a:solidFill>
                  <a:srgbClr val="9BA7BC"/>
                </a:solidFill>
                <a:latin typeface="Arial" pitchFamily="34" charset="0"/>
                <a:ea typeface="Arial" pitchFamily="34" charset="-122"/>
                <a:cs typeface="Arial" pitchFamily="34" charset="-120"/>
              </a:rPr>
              <a:t>textul singur e suficient</a:t>
            </a:r>
            <a:endParaRPr lang="en-US" sz="1250" dirty="0"/>
          </a:p>
        </p:txBody>
      </p:sp>
      <p:sp>
        <p:nvSpPr>
          <p:cNvPr id="12" name="Shape 9"/>
          <p:cNvSpPr/>
          <p:nvPr/>
        </p:nvSpPr>
        <p:spPr>
          <a:xfrm>
            <a:off x="5440680" y="3044952"/>
            <a:ext cx="182880" cy="182880"/>
          </a:xfrm>
          <a:prstGeom prst="ellipse">
            <a:avLst/>
          </a:prstGeom>
          <a:solidFill>
            <a:srgbClr val="566179"/>
          </a:solidFill>
          <a:ln/>
        </p:spPr>
      </p:sp>
      <p:sp>
        <p:nvSpPr>
          <p:cNvPr id="13" name="Text 10"/>
          <p:cNvSpPr/>
          <p:nvPr/>
        </p:nvSpPr>
        <p:spPr>
          <a:xfrm>
            <a:off x="5760720" y="2880360"/>
            <a:ext cx="6035040" cy="365760"/>
          </a:xfrm>
          <a:prstGeom prst="rect">
            <a:avLst/>
          </a:prstGeom>
          <a:noFill/>
          <a:ln/>
        </p:spPr>
        <p:txBody>
          <a:bodyPr wrap="square" lIns="0" tIns="0" rIns="0" bIns="0" rtlCol="0" anchor="ctr"/>
          <a:lstStyle/>
          <a:p>
            <a:pPr indent="0" marL="0">
              <a:buNone/>
            </a:pPr>
            <a:r>
              <a:rPr lang="en-US" sz="1600" b="1" dirty="0">
                <a:solidFill>
                  <a:srgbClr val="566179"/>
                </a:solidFill>
                <a:latin typeface="Arial" pitchFamily="34" charset="0"/>
                <a:ea typeface="Arial" pitchFamily="34" charset="-122"/>
                <a:cs typeface="Arial" pitchFamily="34" charset="-120"/>
              </a:rPr>
              <a:t>32.4%  </a:t>
            </a:r>
            <a:pPr indent="0" marL="0">
              <a:buNone/>
            </a:pPr>
            <a:r>
              <a:rPr lang="en-US" sz="1500" b="1" dirty="0">
                <a:solidFill>
                  <a:srgbClr val="F4F7FB"/>
                </a:solidFill>
                <a:latin typeface="Arial" pitchFamily="34" charset="0"/>
                <a:ea typeface="Arial" pitchFamily="34" charset="-122"/>
                <a:cs typeface="Arial" pitchFamily="34" charset="-120"/>
              </a:rPr>
              <a:t>Ambele greșesc</a:t>
            </a:r>
            <a:endParaRPr lang="en-US" sz="1600" dirty="0"/>
          </a:p>
        </p:txBody>
      </p:sp>
      <p:sp>
        <p:nvSpPr>
          <p:cNvPr id="14" name="Text 11"/>
          <p:cNvSpPr/>
          <p:nvPr/>
        </p:nvSpPr>
        <p:spPr>
          <a:xfrm>
            <a:off x="5760720" y="3191256"/>
            <a:ext cx="6035040" cy="320040"/>
          </a:xfrm>
          <a:prstGeom prst="rect">
            <a:avLst/>
          </a:prstGeom>
          <a:noFill/>
          <a:ln/>
        </p:spPr>
        <p:txBody>
          <a:bodyPr wrap="square" lIns="0" tIns="0" rIns="0" bIns="0" rtlCol="0" anchor="ctr"/>
          <a:lstStyle/>
          <a:p>
            <a:pPr indent="0" marL="0">
              <a:buNone/>
            </a:pPr>
            <a:r>
              <a:rPr lang="en-US" sz="1250" dirty="0">
                <a:solidFill>
                  <a:srgbClr val="9BA7BC"/>
                </a:solidFill>
                <a:latin typeface="Arial" pitchFamily="34" charset="0"/>
                <a:ea typeface="Arial" pitchFamily="34" charset="-122"/>
                <a:cs typeface="Arial" pitchFamily="34" charset="-120"/>
              </a:rPr>
              <a:t>cazuri ambigue / grele pentru toate</a:t>
            </a:r>
            <a:endParaRPr lang="en-US" sz="1250" dirty="0"/>
          </a:p>
        </p:txBody>
      </p:sp>
      <p:sp>
        <p:nvSpPr>
          <p:cNvPr id="15" name="Shape 12"/>
          <p:cNvSpPr/>
          <p:nvPr/>
        </p:nvSpPr>
        <p:spPr>
          <a:xfrm>
            <a:off x="5440680" y="3794760"/>
            <a:ext cx="182880" cy="182880"/>
          </a:xfrm>
          <a:prstGeom prst="ellipse">
            <a:avLst/>
          </a:prstGeom>
          <a:solidFill>
            <a:srgbClr val="2DD4BF"/>
          </a:solidFill>
          <a:ln/>
        </p:spPr>
      </p:sp>
      <p:sp>
        <p:nvSpPr>
          <p:cNvPr id="16" name="Text 13"/>
          <p:cNvSpPr/>
          <p:nvPr/>
        </p:nvSpPr>
        <p:spPr>
          <a:xfrm>
            <a:off x="5760720" y="3630168"/>
            <a:ext cx="6035040" cy="365760"/>
          </a:xfrm>
          <a:prstGeom prst="rect">
            <a:avLst/>
          </a:prstGeom>
          <a:noFill/>
          <a:ln/>
        </p:spPr>
        <p:txBody>
          <a:bodyPr wrap="square" lIns="0" tIns="0" rIns="0" bIns="0" rtlCol="0" anchor="ctr"/>
          <a:lstStyle/>
          <a:p>
            <a:pPr indent="0" marL="0">
              <a:buNone/>
            </a:pPr>
            <a:r>
              <a:rPr lang="en-US" sz="1600" b="1" dirty="0">
                <a:solidFill>
                  <a:srgbClr val="2DD4BF"/>
                </a:solidFill>
                <a:latin typeface="Arial" pitchFamily="34" charset="0"/>
                <a:ea typeface="Arial" pitchFamily="34" charset="-122"/>
                <a:cs typeface="Arial" pitchFamily="34" charset="-120"/>
              </a:rPr>
              <a:t>6.0%  </a:t>
            </a:r>
            <a:pPr indent="0" marL="0">
              <a:buNone/>
            </a:pPr>
            <a:r>
              <a:rPr lang="en-US" sz="1500" b="1" dirty="0">
                <a:solidFill>
                  <a:srgbClr val="F4F7FB"/>
                </a:solidFill>
                <a:latin typeface="Arial" pitchFamily="34" charset="0"/>
                <a:ea typeface="Arial" pitchFamily="34" charset="-122"/>
                <a:cs typeface="Arial" pitchFamily="34" charset="-120"/>
              </a:rPr>
              <a:t>Fuziunea REPARĂ BERT</a:t>
            </a:r>
            <a:endParaRPr lang="en-US" sz="1600" dirty="0"/>
          </a:p>
        </p:txBody>
      </p:sp>
      <p:sp>
        <p:nvSpPr>
          <p:cNvPr id="17" name="Text 14"/>
          <p:cNvSpPr/>
          <p:nvPr/>
        </p:nvSpPr>
        <p:spPr>
          <a:xfrm>
            <a:off x="5760720" y="3941064"/>
            <a:ext cx="6035040" cy="320040"/>
          </a:xfrm>
          <a:prstGeom prst="rect">
            <a:avLst/>
          </a:prstGeom>
          <a:noFill/>
          <a:ln/>
        </p:spPr>
        <p:txBody>
          <a:bodyPr wrap="square" lIns="0" tIns="0" rIns="0" bIns="0" rtlCol="0" anchor="ctr"/>
          <a:lstStyle/>
          <a:p>
            <a:pPr indent="0" marL="0">
              <a:buNone/>
            </a:pPr>
            <a:r>
              <a:rPr lang="en-US" sz="1250" dirty="0">
                <a:solidFill>
                  <a:srgbClr val="9BA7BC"/>
                </a:solidFill>
                <a:latin typeface="Arial" pitchFamily="34" charset="0"/>
                <a:ea typeface="Arial" pitchFamily="34" charset="-122"/>
                <a:cs typeface="Arial" pitchFamily="34" charset="-120"/>
              </a:rPr>
              <a:t>149 cazuri — câștig multimodal real</a:t>
            </a:r>
            <a:endParaRPr lang="en-US" sz="1250" dirty="0"/>
          </a:p>
        </p:txBody>
      </p:sp>
      <p:sp>
        <p:nvSpPr>
          <p:cNvPr id="18" name="Shape 15"/>
          <p:cNvSpPr/>
          <p:nvPr/>
        </p:nvSpPr>
        <p:spPr>
          <a:xfrm>
            <a:off x="5440680" y="4544568"/>
            <a:ext cx="182880" cy="182880"/>
          </a:xfrm>
          <a:prstGeom prst="ellipse">
            <a:avLst/>
          </a:prstGeom>
          <a:solidFill>
            <a:srgbClr val="F25C54"/>
          </a:solidFill>
          <a:ln/>
        </p:spPr>
      </p:sp>
      <p:sp>
        <p:nvSpPr>
          <p:cNvPr id="19" name="Text 16"/>
          <p:cNvSpPr/>
          <p:nvPr/>
        </p:nvSpPr>
        <p:spPr>
          <a:xfrm>
            <a:off x="5760720" y="4379976"/>
            <a:ext cx="6035040" cy="365760"/>
          </a:xfrm>
          <a:prstGeom prst="rect">
            <a:avLst/>
          </a:prstGeom>
          <a:noFill/>
          <a:ln/>
        </p:spPr>
        <p:txBody>
          <a:bodyPr wrap="square" lIns="0" tIns="0" rIns="0" bIns="0" rtlCol="0" anchor="ctr"/>
          <a:lstStyle/>
          <a:p>
            <a:pPr indent="0" marL="0">
              <a:buNone/>
            </a:pPr>
            <a:r>
              <a:rPr lang="en-US" sz="1600" b="1" dirty="0">
                <a:solidFill>
                  <a:srgbClr val="F25C54"/>
                </a:solidFill>
                <a:latin typeface="Arial" pitchFamily="34" charset="0"/>
                <a:ea typeface="Arial" pitchFamily="34" charset="-122"/>
                <a:cs typeface="Arial" pitchFamily="34" charset="-120"/>
              </a:rPr>
              <a:t>3.2%  </a:t>
            </a:r>
            <a:pPr indent="0" marL="0">
              <a:buNone/>
            </a:pPr>
            <a:r>
              <a:rPr lang="en-US" sz="1500" b="1" dirty="0">
                <a:solidFill>
                  <a:srgbClr val="F4F7FB"/>
                </a:solidFill>
                <a:latin typeface="Arial" pitchFamily="34" charset="0"/>
                <a:ea typeface="Arial" pitchFamily="34" charset="-122"/>
                <a:cs typeface="Arial" pitchFamily="34" charset="-120"/>
              </a:rPr>
              <a:t>Fuziunea STRICĂ BERT</a:t>
            </a:r>
            <a:endParaRPr lang="en-US" sz="1600" dirty="0"/>
          </a:p>
        </p:txBody>
      </p:sp>
      <p:sp>
        <p:nvSpPr>
          <p:cNvPr id="20" name="Text 17"/>
          <p:cNvSpPr/>
          <p:nvPr/>
        </p:nvSpPr>
        <p:spPr>
          <a:xfrm>
            <a:off x="5760720" y="4690872"/>
            <a:ext cx="6035040" cy="320040"/>
          </a:xfrm>
          <a:prstGeom prst="rect">
            <a:avLst/>
          </a:prstGeom>
          <a:noFill/>
          <a:ln/>
        </p:spPr>
        <p:txBody>
          <a:bodyPr wrap="square" lIns="0" tIns="0" rIns="0" bIns="0" rtlCol="0" anchor="ctr"/>
          <a:lstStyle/>
          <a:p>
            <a:pPr indent="0" marL="0">
              <a:buNone/>
            </a:pPr>
            <a:r>
              <a:rPr lang="en-US" sz="1250" dirty="0">
                <a:solidFill>
                  <a:srgbClr val="9BA7BC"/>
                </a:solidFill>
                <a:latin typeface="Arial" pitchFamily="34" charset="0"/>
                <a:ea typeface="Arial" pitchFamily="34" charset="-122"/>
                <a:cs typeface="Arial" pitchFamily="34" charset="-120"/>
              </a:rPr>
              <a:t>80 cazuri — zgomot audio/imagine</a:t>
            </a:r>
            <a:endParaRPr lang="en-US" sz="1250" dirty="0"/>
          </a:p>
        </p:txBody>
      </p:sp>
      <p:sp>
        <p:nvSpPr>
          <p:cNvPr id="21" name="Shape 18"/>
          <p:cNvSpPr/>
          <p:nvPr/>
        </p:nvSpPr>
        <p:spPr>
          <a:xfrm>
            <a:off x="5440680" y="5349240"/>
            <a:ext cx="6263640" cy="914400"/>
          </a:xfrm>
          <a:prstGeom prst="roundRect">
            <a:avLst>
              <a:gd name="adj" fmla="val 9000"/>
            </a:avLst>
          </a:prstGeom>
          <a:solidFill>
            <a:srgbClr val="212B42"/>
          </a:solidFill>
          <a:ln/>
          <a:effectLst>
            <a:outerShdw sx="100000" sy="100000" kx="0" ky="0" algn="bl" rotWithShape="0" blurRad="114300" dist="38100" dir="5400000">
              <a:srgbClr val="000000">
                <a:alpha val="35000"/>
              </a:srgbClr>
            </a:outerShdw>
          </a:effectLst>
        </p:spPr>
      </p:sp>
      <p:sp>
        <p:nvSpPr>
          <p:cNvPr id="22" name="Text 19"/>
          <p:cNvSpPr/>
          <p:nvPr/>
        </p:nvSpPr>
        <p:spPr>
          <a:xfrm>
            <a:off x="5715000" y="5486400"/>
            <a:ext cx="5760720" cy="640080"/>
          </a:xfrm>
          <a:prstGeom prst="rect">
            <a:avLst/>
          </a:prstGeom>
          <a:noFill/>
          <a:ln/>
        </p:spPr>
        <p:txBody>
          <a:bodyPr wrap="square" lIns="0" tIns="0" rIns="0" bIns="0" rtlCol="0" anchor="ctr"/>
          <a:lstStyle/>
          <a:p>
            <a:pPr indent="0" marL="0">
              <a:lnSpc>
                <a:spcPct val="100000"/>
              </a:lnSpc>
              <a:buNone/>
            </a:pPr>
            <a:r>
              <a:rPr lang="en-US" sz="1300" b="1" dirty="0">
                <a:solidFill>
                  <a:srgbClr val="FBBF24"/>
                </a:solidFill>
                <a:latin typeface="Arial" pitchFamily="34" charset="0"/>
                <a:ea typeface="Arial" pitchFamily="34" charset="-122"/>
                <a:cs typeface="Arial" pitchFamily="34" charset="-120"/>
              </a:rPr>
              <a:t>Bilanț net:  </a:t>
            </a:r>
            <a:pPr indent="0" marL="0">
              <a:lnSpc>
                <a:spcPct val="100000"/>
              </a:lnSpc>
              <a:buNone/>
            </a:pPr>
            <a:r>
              <a:rPr lang="en-US" sz="1300" dirty="0">
                <a:solidFill>
                  <a:srgbClr val="F4F7FB"/>
                </a:solidFill>
                <a:latin typeface="Arial" pitchFamily="34" charset="0"/>
                <a:ea typeface="Arial" pitchFamily="34" charset="-122"/>
                <a:cs typeface="Arial" pitchFamily="34" charset="-120"/>
              </a:rPr>
              <a:t>149 reparate − 80 stricate = </a:t>
            </a:r>
            <a:pPr indent="0" marL="0">
              <a:lnSpc>
                <a:spcPct val="100000"/>
              </a:lnSpc>
              <a:buNone/>
            </a:pPr>
            <a:r>
              <a:rPr lang="en-US" sz="1300" b="1" dirty="0">
                <a:solidFill>
                  <a:srgbClr val="2DD4BF"/>
                </a:solidFill>
                <a:latin typeface="Arial" pitchFamily="34" charset="0"/>
                <a:ea typeface="Arial" pitchFamily="34" charset="-122"/>
                <a:cs typeface="Arial" pitchFamily="34" charset="-120"/>
              </a:rPr>
              <a:t>+69 cazuri</a:t>
            </a:r>
            <a:pPr indent="0" marL="0">
              <a:lnSpc>
                <a:spcPct val="100000"/>
              </a:lnSpc>
              <a:buNone/>
            </a:pPr>
            <a:r>
              <a:rPr lang="en-US" sz="1300" dirty="0">
                <a:solidFill>
                  <a:srgbClr val="9BA7BC"/>
                </a:solidFill>
                <a:latin typeface="Arial" pitchFamily="34" charset="0"/>
                <a:ea typeface="Arial" pitchFamily="34" charset="-122"/>
                <a:cs typeface="Arial" pitchFamily="34" charset="-120"/>
              </a:rPr>
              <a:t>  din 2.610.  Fuziunea ajută real, dar marginal — și pe spinări de </a:t>
            </a:r>
            <a:pPr indent="0" marL="0">
              <a:lnSpc>
                <a:spcPct val="100000"/>
              </a:lnSpc>
              <a:buNone/>
            </a:pPr>
            <a:r>
              <a:rPr lang="en-US" sz="1300" b="1" dirty="0">
                <a:solidFill>
                  <a:srgbClr val="F4F7FB"/>
                </a:solidFill>
                <a:latin typeface="Arial" pitchFamily="34" charset="0"/>
                <a:ea typeface="Arial" pitchFamily="34" charset="-122"/>
                <a:cs typeface="Arial" pitchFamily="34" charset="-120"/>
              </a:rPr>
              <a:t>tristețe, furie, fear</a:t>
            </a:r>
            <a:pPr indent="0" marL="0">
              <a:lnSpc>
                <a:spcPct val="100000"/>
              </a:lnSpc>
              <a:buNone/>
            </a:pPr>
            <a:r>
              <a:rPr lang="en-US" sz="1300" dirty="0">
                <a:solidFill>
                  <a:srgbClr val="9BA7BC"/>
                </a:solidFill>
                <a:latin typeface="Arial" pitchFamily="34" charset="0"/>
                <a:ea typeface="Arial" pitchFamily="34" charset="-122"/>
                <a:cs typeface="Arial" pitchFamily="34" charset="-120"/>
              </a:rPr>
              <a: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22"/>
        </a:solidFill>
      </p:bgPr>
    </p:bg>
    <p:spTree>
      <p:nvGrpSpPr>
        <p:cNvPr id="1" name=""/>
        <p:cNvGrpSpPr/>
        <p:nvPr/>
      </p:nvGrpSpPr>
      <p:grpSpPr>
        <a:xfrm>
          <a:off x="0" y="0"/>
          <a:ext cx="0" cy="0"/>
          <a:chOff x="0" y="0"/>
          <a:chExt cx="0" cy="0"/>
        </a:xfrm>
      </p:grpSpPr>
      <p:sp>
        <p:nvSpPr>
          <p:cNvPr id="2" name="Text 0"/>
          <p:cNvSpPr/>
          <p:nvPr/>
        </p:nvSpPr>
        <p:spPr>
          <a:xfrm>
            <a:off x="548640" y="310896"/>
            <a:ext cx="10058400" cy="320040"/>
          </a:xfrm>
          <a:prstGeom prst="rect">
            <a:avLst/>
          </a:prstGeom>
          <a:noFill/>
          <a:ln/>
        </p:spPr>
        <p:txBody>
          <a:bodyPr wrap="square" lIns="0" tIns="0" rIns="0" bIns="0" rtlCol="0" anchor="ctr"/>
          <a:lstStyle/>
          <a:p>
            <a:pPr algn="l" indent="0" marL="0">
              <a:buNone/>
            </a:pPr>
            <a:r>
              <a:rPr lang="en-US" sz="1200" b="1" spc="300" kern="0" dirty="0">
                <a:solidFill>
                  <a:srgbClr val="2DD4BF"/>
                </a:solidFill>
                <a:latin typeface="Arial" pitchFamily="34" charset="0"/>
                <a:ea typeface="Arial" pitchFamily="34" charset="-122"/>
                <a:cs typeface="Arial" pitchFamily="34" charset="-120"/>
              </a:rPr>
              <a:t>EXPLICABILITATE (XAI)</a:t>
            </a:r>
            <a:endParaRPr lang="en-US" sz="1200" dirty="0"/>
          </a:p>
        </p:txBody>
      </p:sp>
      <p:sp>
        <p:nvSpPr>
          <p:cNvPr id="3" name="Text 1"/>
          <p:cNvSpPr/>
          <p:nvPr/>
        </p:nvSpPr>
        <p:spPr>
          <a:xfrm>
            <a:off x="11155680" y="6355080"/>
            <a:ext cx="548640" cy="365760"/>
          </a:xfrm>
          <a:prstGeom prst="rect">
            <a:avLst/>
          </a:prstGeom>
          <a:noFill/>
          <a:ln/>
        </p:spPr>
        <p:txBody>
          <a:bodyPr wrap="square" lIns="0" tIns="0" rIns="0" bIns="0" rtlCol="0" anchor="ctr"/>
          <a:lstStyle/>
          <a:p>
            <a:pPr algn="r" indent="0" marL="0">
              <a:buNone/>
            </a:pPr>
            <a:r>
              <a:rPr lang="en-US" sz="1100" dirty="0">
                <a:solidFill>
                  <a:srgbClr val="9BA7BC"/>
                </a:solidFill>
                <a:latin typeface="Arial" pitchFamily="34" charset="0"/>
                <a:ea typeface="Arial" pitchFamily="34" charset="-122"/>
                <a:cs typeface="Arial" pitchFamily="34" charset="-120"/>
              </a:rPr>
              <a:t>11</a:t>
            </a:r>
            <a:endParaRPr lang="en-US" sz="1100" dirty="0"/>
          </a:p>
        </p:txBody>
      </p:sp>
      <p:sp>
        <p:nvSpPr>
          <p:cNvPr id="4" name="Text 2"/>
          <p:cNvSpPr/>
          <p:nvPr/>
        </p:nvSpPr>
        <p:spPr>
          <a:xfrm>
            <a:off x="548640" y="6355080"/>
            <a:ext cx="7315200" cy="365760"/>
          </a:xfrm>
          <a:prstGeom prst="rect">
            <a:avLst/>
          </a:prstGeom>
          <a:noFill/>
          <a:ln/>
        </p:spPr>
        <p:txBody>
          <a:bodyPr wrap="square" lIns="0" tIns="0" rIns="0" bIns="0" rtlCol="0" anchor="ctr"/>
          <a:lstStyle/>
          <a:p>
            <a:pPr indent="0" marL="0">
              <a:buNone/>
            </a:pPr>
            <a:r>
              <a:rPr lang="en-US" sz="1000" dirty="0">
                <a:solidFill>
                  <a:srgbClr val="5C6A86"/>
                </a:solidFill>
                <a:latin typeface="Arial" pitchFamily="34" charset="0"/>
                <a:ea typeface="Arial" pitchFamily="34" charset="-122"/>
                <a:cs typeface="Arial" pitchFamily="34" charset="-120"/>
              </a:rPr>
              <a:t>Recunoașterea emoțiilor — abordare multimodală</a:t>
            </a:r>
            <a:endParaRPr lang="en-US" sz="1000" dirty="0"/>
          </a:p>
        </p:txBody>
      </p:sp>
      <p:sp>
        <p:nvSpPr>
          <p:cNvPr id="5" name="Text 3"/>
          <p:cNvSpPr/>
          <p:nvPr/>
        </p:nvSpPr>
        <p:spPr>
          <a:xfrm>
            <a:off x="548640" y="658368"/>
            <a:ext cx="11064240" cy="868680"/>
          </a:xfrm>
          <a:prstGeom prst="rect">
            <a:avLst/>
          </a:prstGeom>
          <a:noFill/>
          <a:ln/>
        </p:spPr>
        <p:txBody>
          <a:bodyPr wrap="square" lIns="0" tIns="0" rIns="0" bIns="0" rtlCol="0" anchor="ctr"/>
          <a:lstStyle/>
          <a:p>
            <a:pPr algn="l" indent="0" marL="0">
              <a:buNone/>
            </a:pPr>
            <a:r>
              <a:rPr lang="en-US" sz="3200" b="1" dirty="0">
                <a:solidFill>
                  <a:srgbClr val="F4F7FB"/>
                </a:solidFill>
                <a:latin typeface="Arial" pitchFamily="34" charset="0"/>
                <a:ea typeface="Arial" pitchFamily="34" charset="-122"/>
                <a:cs typeface="Arial" pitchFamily="34" charset="-120"/>
              </a:rPr>
              <a:t>Ce „privesc” modelele când decid</a:t>
            </a:r>
            <a:endParaRPr lang="en-US" sz="3200" dirty="0"/>
          </a:p>
        </p:txBody>
      </p:sp>
      <p:sp>
        <p:nvSpPr>
          <p:cNvPr id="6" name="Shape 4"/>
          <p:cNvSpPr/>
          <p:nvPr/>
        </p:nvSpPr>
        <p:spPr>
          <a:xfrm>
            <a:off x="566928" y="1481328"/>
            <a:ext cx="5221224" cy="2889504"/>
          </a:xfrm>
          <a:prstGeom prst="roundRect">
            <a:avLst>
              <a:gd name="adj" fmla="val 1899"/>
            </a:avLst>
          </a:prstGeom>
          <a:solidFill>
            <a:srgbClr val="FFFFFF"/>
          </a:solidFill>
          <a:ln/>
          <a:effectLst>
            <a:outerShdw sx="100000" sy="100000" kx="0" ky="0" algn="bl" rotWithShape="0" blurRad="114300" dist="38100" dir="5400000">
              <a:srgbClr val="000000">
                <a:alpha val="35000"/>
              </a:srgbClr>
            </a:outerShdw>
          </a:effectLst>
        </p:spPr>
      </p:sp>
      <p:pic>
        <p:nvPicPr>
          <p:cNvPr id="7" name="Image 0" descr="figs/ig_anger_correct_idx96.png">    </p:cNvPr>
          <p:cNvPicPr>
            <a:picLocks noChangeAspect="1"/>
          </p:cNvPicPr>
          <p:nvPr/>
        </p:nvPicPr>
        <p:blipFill>
          <a:blip r:embed="rId1"/>
          <a:stretch>
            <a:fillRect/>
          </a:stretch>
        </p:blipFill>
        <p:spPr>
          <a:xfrm>
            <a:off x="640080" y="1554480"/>
            <a:ext cx="5074920" cy="2743200"/>
          </a:xfrm>
          <a:prstGeom prst="rect">
            <a:avLst/>
          </a:prstGeom>
        </p:spPr>
      </p:pic>
      <p:sp>
        <p:nvSpPr>
          <p:cNvPr id="8" name="Text 5"/>
          <p:cNvSpPr/>
          <p:nvPr/>
        </p:nvSpPr>
        <p:spPr>
          <a:xfrm>
            <a:off x="640080" y="4370832"/>
            <a:ext cx="5120640" cy="365760"/>
          </a:xfrm>
          <a:prstGeom prst="rect">
            <a:avLst/>
          </a:prstGeom>
          <a:noFill/>
          <a:ln/>
        </p:spPr>
        <p:txBody>
          <a:bodyPr wrap="square" lIns="0" tIns="0" rIns="0" bIns="0" rtlCol="0" anchor="ctr"/>
          <a:lstStyle/>
          <a:p>
            <a:pPr indent="0" marL="0">
              <a:buNone/>
            </a:pPr>
            <a:r>
              <a:rPr lang="en-US" sz="1250" b="1" dirty="0">
                <a:solidFill>
                  <a:srgbClr val="2DD4BF"/>
                </a:solidFill>
                <a:latin typeface="Arial" pitchFamily="34" charset="0"/>
                <a:ea typeface="Arial" pitchFamily="34" charset="-122"/>
                <a:cs typeface="Arial" pitchFamily="34" charset="-120"/>
              </a:rPr>
              <a:t>TEXT · Integrated Gradients   </a:t>
            </a:r>
            <a:pPr indent="0" marL="0">
              <a:buNone/>
            </a:pPr>
            <a:r>
              <a:rPr lang="en-US" sz="1250" dirty="0">
                <a:solidFill>
                  <a:srgbClr val="9BA7BC"/>
                </a:solidFill>
                <a:latin typeface="Arial" pitchFamily="34" charset="0"/>
                <a:ea typeface="Arial" pitchFamily="34" charset="-122"/>
                <a:cs typeface="Arial" pitchFamily="34" charset="-120"/>
              </a:rPr>
              <a:t>„silliness” împinge spre furie</a:t>
            </a:r>
            <a:endParaRPr lang="en-US" sz="1250" dirty="0"/>
          </a:p>
        </p:txBody>
      </p:sp>
      <p:sp>
        <p:nvSpPr>
          <p:cNvPr id="9" name="Shape 6"/>
          <p:cNvSpPr/>
          <p:nvPr/>
        </p:nvSpPr>
        <p:spPr>
          <a:xfrm>
            <a:off x="6327648" y="1481328"/>
            <a:ext cx="5129784" cy="2880360"/>
          </a:xfrm>
          <a:prstGeom prst="roundRect">
            <a:avLst>
              <a:gd name="adj" fmla="val 1905"/>
            </a:avLst>
          </a:prstGeom>
          <a:solidFill>
            <a:srgbClr val="FFFFFF"/>
          </a:solidFill>
          <a:ln/>
          <a:effectLst>
            <a:outerShdw sx="100000" sy="100000" kx="0" ky="0" algn="bl" rotWithShape="0" blurRad="114300" dist="38100" dir="5400000">
              <a:srgbClr val="000000">
                <a:alpha val="35000"/>
              </a:srgbClr>
            </a:outerShdw>
          </a:effectLst>
        </p:spPr>
      </p:sp>
      <p:pic>
        <p:nvPicPr>
          <p:cNvPr id="10" name="Image 1" descr="figs/gradcam_surprise_correct_d71u5.png">    </p:cNvPr>
          <p:cNvPicPr>
            <a:picLocks noChangeAspect="1"/>
          </p:cNvPicPr>
          <p:nvPr/>
        </p:nvPicPr>
        <p:blipFill>
          <a:blip r:embed="rId2"/>
          <a:stretch>
            <a:fillRect/>
          </a:stretch>
        </p:blipFill>
        <p:spPr>
          <a:xfrm>
            <a:off x="6400800" y="1554480"/>
            <a:ext cx="4983480" cy="2734056"/>
          </a:xfrm>
          <a:prstGeom prst="rect">
            <a:avLst/>
          </a:prstGeom>
        </p:spPr>
      </p:pic>
      <p:sp>
        <p:nvSpPr>
          <p:cNvPr id="11" name="Text 7"/>
          <p:cNvSpPr/>
          <p:nvPr/>
        </p:nvSpPr>
        <p:spPr>
          <a:xfrm>
            <a:off x="6400800" y="4370832"/>
            <a:ext cx="5029200" cy="365760"/>
          </a:xfrm>
          <a:prstGeom prst="rect">
            <a:avLst/>
          </a:prstGeom>
          <a:noFill/>
          <a:ln/>
        </p:spPr>
        <p:txBody>
          <a:bodyPr wrap="square" lIns="0" tIns="0" rIns="0" bIns="0" rtlCol="0" anchor="ctr"/>
          <a:lstStyle/>
          <a:p>
            <a:pPr indent="0" marL="0">
              <a:buNone/>
            </a:pPr>
            <a:r>
              <a:rPr lang="en-US" sz="1250" b="1" dirty="0">
                <a:solidFill>
                  <a:srgbClr val="F25C54"/>
                </a:solidFill>
                <a:latin typeface="Arial" pitchFamily="34" charset="0"/>
                <a:ea typeface="Arial" pitchFamily="34" charset="-122"/>
                <a:cs typeface="Arial" pitchFamily="34" charset="-120"/>
              </a:rPr>
              <a:t>IMAGINE · Grad-CAM   </a:t>
            </a:r>
            <a:pPr indent="0" marL="0">
              <a:buNone/>
            </a:pPr>
            <a:r>
              <a:rPr lang="en-US" sz="1250" dirty="0">
                <a:solidFill>
                  <a:srgbClr val="9BA7BC"/>
                </a:solidFill>
                <a:latin typeface="Arial" pitchFamily="34" charset="0"/>
                <a:ea typeface="Arial" pitchFamily="34" charset="-122"/>
                <a:cs typeface="Arial" pitchFamily="34" charset="-120"/>
              </a:rPr>
              <a:t>atenție pe ochi &amp; gură = surpriză</a:t>
            </a:r>
            <a:endParaRPr lang="en-US" sz="1250" dirty="0"/>
          </a:p>
        </p:txBody>
      </p:sp>
      <p:sp>
        <p:nvSpPr>
          <p:cNvPr id="12" name="Shape 8"/>
          <p:cNvSpPr/>
          <p:nvPr/>
        </p:nvSpPr>
        <p:spPr>
          <a:xfrm>
            <a:off x="548640" y="4937760"/>
            <a:ext cx="11155680" cy="1234440"/>
          </a:xfrm>
          <a:prstGeom prst="roundRect">
            <a:avLst>
              <a:gd name="adj" fmla="val 6667"/>
            </a:avLst>
          </a:prstGeom>
          <a:solidFill>
            <a:srgbClr val="1A2236"/>
          </a:solidFill>
          <a:ln/>
          <a:effectLst>
            <a:outerShdw sx="100000" sy="100000" kx="0" ky="0" algn="bl" rotWithShape="0" blurRad="114300" dist="38100" dir="5400000">
              <a:srgbClr val="000000">
                <a:alpha val="35000"/>
              </a:srgbClr>
            </a:outerShdw>
          </a:effectLst>
        </p:spPr>
      </p:sp>
      <p:sp>
        <p:nvSpPr>
          <p:cNvPr id="13" name="Text 9"/>
          <p:cNvSpPr/>
          <p:nvPr/>
        </p:nvSpPr>
        <p:spPr>
          <a:xfrm>
            <a:off x="868680" y="5074920"/>
            <a:ext cx="10607040" cy="960120"/>
          </a:xfrm>
          <a:prstGeom prst="rect">
            <a:avLst/>
          </a:prstGeom>
          <a:noFill/>
          <a:ln/>
        </p:spPr>
        <p:txBody>
          <a:bodyPr wrap="square" lIns="0" tIns="0" rIns="0" bIns="0" rtlCol="0" anchor="ctr"/>
          <a:lstStyle/>
          <a:p>
            <a:pPr indent="0" marL="0">
              <a:lnSpc>
                <a:spcPct val="106000"/>
              </a:lnSpc>
              <a:buNone/>
            </a:pPr>
            <a:r>
              <a:rPr lang="en-US" sz="1400" b="1" dirty="0">
                <a:solidFill>
                  <a:srgbClr val="2DD4BF"/>
                </a:solidFill>
                <a:latin typeface="Arial" pitchFamily="34" charset="0"/>
                <a:ea typeface="Arial" pitchFamily="34" charset="-122"/>
                <a:cs typeface="Arial" pitchFamily="34" charset="-120"/>
              </a:rPr>
              <a:t>Context = totul.  </a:t>
            </a:r>
            <a:pPr indent="0" marL="0">
              <a:lnSpc>
                <a:spcPct val="106000"/>
              </a:lnSpc>
              <a:buNone/>
            </a:pPr>
            <a:r>
              <a:rPr lang="en-US" sz="1400" dirty="0">
                <a:solidFill>
                  <a:srgbClr val="9BA7BC"/>
                </a:solidFill>
                <a:latin typeface="Arial" pitchFamily="34" charset="0"/>
                <a:ea typeface="Arial" pitchFamily="34" charset="-122"/>
                <a:cs typeface="Arial" pitchFamily="34" charset="-120"/>
              </a:rPr>
              <a:t>Același „sorry” e citit ca tristețe; „surprise” și „fear” împart aceiași ochi mari și aceeași tensiune facială — de aceea sunt confundate. </a:t>
            </a:r>
            <a:pPr indent="0" marL="0">
              <a:lnSpc>
                <a:spcPct val="106000"/>
              </a:lnSpc>
              <a:buNone/>
            </a:pPr>
            <a:r>
              <a:rPr lang="en-US" sz="1400" dirty="0">
                <a:solidFill>
                  <a:srgbClr val="F4F7FB"/>
                </a:solidFill>
                <a:latin typeface="Arial" pitchFamily="34" charset="0"/>
                <a:ea typeface="Arial" pitchFamily="34" charset="-122"/>
                <a:cs typeface="Arial" pitchFamily="34" charset="-120"/>
              </a:rPr>
              <a:t>XAI arată că modelele învață trăsături reale, dar sunt limitate de ambiguitatea intrinsecă a emoțiilor.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22"/>
        </a:solidFill>
      </p:bgPr>
    </p:bg>
    <p:spTree>
      <p:nvGrpSpPr>
        <p:cNvPr id="1" name=""/>
        <p:cNvGrpSpPr/>
        <p:nvPr/>
      </p:nvGrpSpPr>
      <p:grpSpPr>
        <a:xfrm>
          <a:off x="0" y="0"/>
          <a:ext cx="0" cy="0"/>
          <a:chOff x="0" y="0"/>
          <a:chExt cx="0" cy="0"/>
        </a:xfrm>
      </p:grpSpPr>
      <p:sp>
        <p:nvSpPr>
          <p:cNvPr id="2" name="Shape 0"/>
          <p:cNvSpPr/>
          <p:nvPr/>
        </p:nvSpPr>
        <p:spPr>
          <a:xfrm>
            <a:off x="-1463040" y="3657600"/>
            <a:ext cx="4754880" cy="4754880"/>
          </a:xfrm>
          <a:prstGeom prst="ellipse">
            <a:avLst/>
          </a:prstGeom>
          <a:solidFill>
            <a:srgbClr val="2DD4BF">
              <a:alpha val="12000"/>
            </a:srgbClr>
          </a:solidFill>
          <a:ln/>
        </p:spPr>
      </p:sp>
      <p:sp>
        <p:nvSpPr>
          <p:cNvPr id="3" name="Shape 1"/>
          <p:cNvSpPr/>
          <p:nvPr/>
        </p:nvSpPr>
        <p:spPr>
          <a:xfrm>
            <a:off x="9966960" y="-1645920"/>
            <a:ext cx="4572000" cy="4572000"/>
          </a:xfrm>
          <a:prstGeom prst="ellipse">
            <a:avLst/>
          </a:prstGeom>
          <a:solidFill>
            <a:srgbClr val="A78BFA">
              <a:alpha val="12000"/>
            </a:srgbClr>
          </a:solidFill>
          <a:ln/>
        </p:spPr>
      </p:sp>
      <p:sp>
        <p:nvSpPr>
          <p:cNvPr id="4" name="Text 2"/>
          <p:cNvSpPr/>
          <p:nvPr/>
        </p:nvSpPr>
        <p:spPr>
          <a:xfrm>
            <a:off x="548640" y="502920"/>
            <a:ext cx="10058400" cy="365760"/>
          </a:xfrm>
          <a:prstGeom prst="rect">
            <a:avLst/>
          </a:prstGeom>
          <a:noFill/>
          <a:ln/>
        </p:spPr>
        <p:txBody>
          <a:bodyPr wrap="square" lIns="0" tIns="0" rIns="0" bIns="0" rtlCol="0" anchor="ctr"/>
          <a:lstStyle/>
          <a:p>
            <a:pPr indent="0" marL="0">
              <a:buNone/>
            </a:pPr>
            <a:r>
              <a:rPr lang="en-US" sz="1300" b="1" spc="300" kern="0" dirty="0">
                <a:solidFill>
                  <a:srgbClr val="2DD4BF"/>
                </a:solidFill>
                <a:latin typeface="Arial" pitchFamily="34" charset="0"/>
                <a:ea typeface="Arial" pitchFamily="34" charset="-122"/>
                <a:cs typeface="Arial" pitchFamily="34" charset="-120"/>
              </a:rPr>
              <a:t>CONCLUZII</a:t>
            </a:r>
            <a:endParaRPr lang="en-US" sz="1300" dirty="0"/>
          </a:p>
        </p:txBody>
      </p:sp>
      <p:sp>
        <p:nvSpPr>
          <p:cNvPr id="5" name="Text 3"/>
          <p:cNvSpPr/>
          <p:nvPr/>
        </p:nvSpPr>
        <p:spPr>
          <a:xfrm>
            <a:off x="548640" y="868680"/>
            <a:ext cx="10972800" cy="822960"/>
          </a:xfrm>
          <a:prstGeom prst="rect">
            <a:avLst/>
          </a:prstGeom>
          <a:noFill/>
          <a:ln/>
        </p:spPr>
        <p:txBody>
          <a:bodyPr wrap="square" lIns="0" tIns="0" rIns="0" bIns="0" rtlCol="0" anchor="ctr"/>
          <a:lstStyle/>
          <a:p>
            <a:pPr indent="0" marL="0">
              <a:buNone/>
            </a:pPr>
            <a:r>
              <a:rPr lang="en-US" sz="3200" b="1" dirty="0">
                <a:solidFill>
                  <a:srgbClr val="F4F7FB"/>
                </a:solidFill>
                <a:latin typeface="Arial" pitchFamily="34" charset="0"/>
                <a:ea typeface="Arial" pitchFamily="34" charset="-122"/>
                <a:cs typeface="Arial" pitchFamily="34" charset="-120"/>
              </a:rPr>
              <a:t>Ce rămâne din această lucrare</a:t>
            </a:r>
            <a:endParaRPr lang="en-US" sz="3200" dirty="0"/>
          </a:p>
        </p:txBody>
      </p:sp>
      <p:sp>
        <p:nvSpPr>
          <p:cNvPr id="6" name="Shape 4"/>
          <p:cNvSpPr/>
          <p:nvPr/>
        </p:nvSpPr>
        <p:spPr>
          <a:xfrm>
            <a:off x="548640" y="1828800"/>
            <a:ext cx="3474720" cy="2331720"/>
          </a:xfrm>
          <a:prstGeom prst="roundRect">
            <a:avLst>
              <a:gd name="adj" fmla="val 3529"/>
            </a:avLst>
          </a:prstGeom>
          <a:solidFill>
            <a:srgbClr val="1A2236"/>
          </a:solidFill>
          <a:ln/>
          <a:effectLst>
            <a:outerShdw sx="100000" sy="100000" kx="0" ky="0" algn="bl" rotWithShape="0" blurRad="114300" dist="38100" dir="5400000">
              <a:srgbClr val="000000">
                <a:alpha val="35000"/>
              </a:srgbClr>
            </a:outerShdw>
          </a:effectLst>
        </p:spPr>
      </p:sp>
      <p:sp>
        <p:nvSpPr>
          <p:cNvPr id="7" name="Shape 5"/>
          <p:cNvSpPr/>
          <p:nvPr/>
        </p:nvSpPr>
        <p:spPr>
          <a:xfrm>
            <a:off x="868680" y="2148840"/>
            <a:ext cx="237744" cy="237744"/>
          </a:xfrm>
          <a:prstGeom prst="ellipse">
            <a:avLst/>
          </a:prstGeom>
          <a:solidFill>
            <a:srgbClr val="2DD4BF"/>
          </a:solidFill>
          <a:ln/>
        </p:spPr>
      </p:sp>
      <p:sp>
        <p:nvSpPr>
          <p:cNvPr id="8" name="Text 6"/>
          <p:cNvSpPr/>
          <p:nvPr/>
        </p:nvSpPr>
        <p:spPr>
          <a:xfrm>
            <a:off x="868680" y="2487168"/>
            <a:ext cx="2834640" cy="457200"/>
          </a:xfrm>
          <a:prstGeom prst="rect">
            <a:avLst/>
          </a:prstGeom>
          <a:noFill/>
          <a:ln/>
        </p:spPr>
        <p:txBody>
          <a:bodyPr wrap="square" lIns="0" tIns="0" rIns="0" bIns="0" rtlCol="0" anchor="ctr"/>
          <a:lstStyle/>
          <a:p>
            <a:pPr indent="0" marL="0">
              <a:buNone/>
            </a:pPr>
            <a:r>
              <a:rPr lang="en-US" sz="1700" b="1" dirty="0">
                <a:solidFill>
                  <a:srgbClr val="F4F7FB"/>
                </a:solidFill>
                <a:latin typeface="Arial" pitchFamily="34" charset="0"/>
                <a:ea typeface="Arial" pitchFamily="34" charset="-122"/>
                <a:cs typeface="Arial" pitchFamily="34" charset="-120"/>
              </a:rPr>
              <a:t>Textul e regele</a:t>
            </a:r>
            <a:endParaRPr lang="en-US" sz="1700" dirty="0"/>
          </a:p>
        </p:txBody>
      </p:sp>
      <p:sp>
        <p:nvSpPr>
          <p:cNvPr id="9" name="Text 7"/>
          <p:cNvSpPr/>
          <p:nvPr/>
        </p:nvSpPr>
        <p:spPr>
          <a:xfrm>
            <a:off x="868680" y="2999232"/>
            <a:ext cx="2926080" cy="1005840"/>
          </a:xfrm>
          <a:prstGeom prst="rect">
            <a:avLst/>
          </a:prstGeom>
          <a:noFill/>
          <a:ln/>
        </p:spPr>
        <p:txBody>
          <a:bodyPr wrap="square" lIns="0" tIns="0" rIns="0" bIns="0" rtlCol="0" anchor="ctr"/>
          <a:lstStyle/>
          <a:p>
            <a:pPr indent="0" marL="0">
              <a:lnSpc>
                <a:spcPct val="105000"/>
              </a:lnSpc>
              <a:buNone/>
            </a:pPr>
            <a:r>
              <a:rPr lang="en-US" sz="1300" dirty="0">
                <a:solidFill>
                  <a:srgbClr val="9BA7BC"/>
                </a:solidFill>
                <a:latin typeface="Arial" pitchFamily="34" charset="0"/>
                <a:ea typeface="Arial" pitchFamily="34" charset="-122"/>
                <a:cs typeface="Arial" pitchFamily="34" charset="-120"/>
              </a:rPr>
              <a:t>Cuvintele sunt cel mai puternic și mai stabil semnal emoțional; audio și imagine rămân grele pe MELD.</a:t>
            </a:r>
            <a:endParaRPr lang="en-US" sz="1300" dirty="0"/>
          </a:p>
        </p:txBody>
      </p:sp>
      <p:sp>
        <p:nvSpPr>
          <p:cNvPr id="10" name="Shape 8"/>
          <p:cNvSpPr/>
          <p:nvPr/>
        </p:nvSpPr>
        <p:spPr>
          <a:xfrm>
            <a:off x="4270248" y="1828800"/>
            <a:ext cx="3474720" cy="2331720"/>
          </a:xfrm>
          <a:prstGeom prst="roundRect">
            <a:avLst>
              <a:gd name="adj" fmla="val 3529"/>
            </a:avLst>
          </a:prstGeom>
          <a:solidFill>
            <a:srgbClr val="1A2236"/>
          </a:solidFill>
          <a:ln/>
          <a:effectLst>
            <a:outerShdw sx="100000" sy="100000" kx="0" ky="0" algn="bl" rotWithShape="0" blurRad="114300" dist="38100" dir="5400000">
              <a:srgbClr val="000000">
                <a:alpha val="35000"/>
              </a:srgbClr>
            </a:outerShdw>
          </a:effectLst>
        </p:spPr>
      </p:sp>
      <p:sp>
        <p:nvSpPr>
          <p:cNvPr id="11" name="Shape 9"/>
          <p:cNvSpPr/>
          <p:nvPr/>
        </p:nvSpPr>
        <p:spPr>
          <a:xfrm>
            <a:off x="4590288" y="2148840"/>
            <a:ext cx="237744" cy="237744"/>
          </a:xfrm>
          <a:prstGeom prst="ellipse">
            <a:avLst/>
          </a:prstGeom>
          <a:solidFill>
            <a:srgbClr val="A78BFA"/>
          </a:solidFill>
          <a:ln/>
        </p:spPr>
      </p:sp>
      <p:sp>
        <p:nvSpPr>
          <p:cNvPr id="12" name="Text 10"/>
          <p:cNvSpPr/>
          <p:nvPr/>
        </p:nvSpPr>
        <p:spPr>
          <a:xfrm>
            <a:off x="4590288" y="2487168"/>
            <a:ext cx="2834640" cy="457200"/>
          </a:xfrm>
          <a:prstGeom prst="rect">
            <a:avLst/>
          </a:prstGeom>
          <a:noFill/>
          <a:ln/>
        </p:spPr>
        <p:txBody>
          <a:bodyPr wrap="square" lIns="0" tIns="0" rIns="0" bIns="0" rtlCol="0" anchor="ctr"/>
          <a:lstStyle/>
          <a:p>
            <a:pPr indent="0" marL="0">
              <a:buNone/>
            </a:pPr>
            <a:r>
              <a:rPr lang="en-US" sz="1700" b="1" dirty="0">
                <a:solidFill>
                  <a:srgbClr val="F4F7FB"/>
                </a:solidFill>
                <a:latin typeface="Arial" pitchFamily="34" charset="0"/>
                <a:ea typeface="Arial" pitchFamily="34" charset="-122"/>
                <a:cs typeface="Arial" pitchFamily="34" charset="-120"/>
              </a:rPr>
              <a:t>Fuziunea ajută — dar onest</a:t>
            </a:r>
            <a:endParaRPr lang="en-US" sz="1700" dirty="0"/>
          </a:p>
        </p:txBody>
      </p:sp>
      <p:sp>
        <p:nvSpPr>
          <p:cNvPr id="13" name="Text 11"/>
          <p:cNvSpPr/>
          <p:nvPr/>
        </p:nvSpPr>
        <p:spPr>
          <a:xfrm>
            <a:off x="4590288" y="2999232"/>
            <a:ext cx="2926080" cy="1005840"/>
          </a:xfrm>
          <a:prstGeom prst="rect">
            <a:avLst/>
          </a:prstGeom>
          <a:noFill/>
          <a:ln/>
        </p:spPr>
        <p:txBody>
          <a:bodyPr wrap="square" lIns="0" tIns="0" rIns="0" bIns="0" rtlCol="0" anchor="ctr"/>
          <a:lstStyle/>
          <a:p>
            <a:pPr indent="0" marL="0">
              <a:lnSpc>
                <a:spcPct val="105000"/>
              </a:lnSpc>
              <a:buNone/>
            </a:pPr>
            <a:r>
              <a:rPr lang="en-US" sz="1300" dirty="0">
                <a:solidFill>
                  <a:srgbClr val="9BA7BC"/>
                </a:solidFill>
                <a:latin typeface="Arial" pitchFamily="34" charset="0"/>
                <a:ea typeface="Arial" pitchFamily="34" charset="-122"/>
                <a:cs typeface="Arial" pitchFamily="34" charset="-120"/>
              </a:rPr>
              <a:t>Câștig real, însă marginal (+1.7p): 149 reparate vs. 80 stricate. Ponderarea simplă bate atenția complexă.</a:t>
            </a:r>
            <a:endParaRPr lang="en-US" sz="1300" dirty="0"/>
          </a:p>
        </p:txBody>
      </p:sp>
      <p:sp>
        <p:nvSpPr>
          <p:cNvPr id="14" name="Shape 12"/>
          <p:cNvSpPr/>
          <p:nvPr/>
        </p:nvSpPr>
        <p:spPr>
          <a:xfrm>
            <a:off x="7991856" y="1828800"/>
            <a:ext cx="3474720" cy="2331720"/>
          </a:xfrm>
          <a:prstGeom prst="roundRect">
            <a:avLst>
              <a:gd name="adj" fmla="val 3529"/>
            </a:avLst>
          </a:prstGeom>
          <a:solidFill>
            <a:srgbClr val="1A2236"/>
          </a:solidFill>
          <a:ln/>
          <a:effectLst>
            <a:outerShdw sx="100000" sy="100000" kx="0" ky="0" algn="bl" rotWithShape="0" blurRad="114300" dist="38100" dir="5400000">
              <a:srgbClr val="000000">
                <a:alpha val="35000"/>
              </a:srgbClr>
            </a:outerShdw>
          </a:effectLst>
        </p:spPr>
      </p:sp>
      <p:sp>
        <p:nvSpPr>
          <p:cNvPr id="15" name="Shape 13"/>
          <p:cNvSpPr/>
          <p:nvPr/>
        </p:nvSpPr>
        <p:spPr>
          <a:xfrm>
            <a:off x="8311896" y="2148840"/>
            <a:ext cx="237744" cy="237744"/>
          </a:xfrm>
          <a:prstGeom prst="ellipse">
            <a:avLst/>
          </a:prstGeom>
          <a:solidFill>
            <a:srgbClr val="FBBF24"/>
          </a:solidFill>
          <a:ln/>
        </p:spPr>
      </p:sp>
      <p:sp>
        <p:nvSpPr>
          <p:cNvPr id="16" name="Text 14"/>
          <p:cNvSpPr/>
          <p:nvPr/>
        </p:nvSpPr>
        <p:spPr>
          <a:xfrm>
            <a:off x="8311896" y="2487168"/>
            <a:ext cx="2834640" cy="457200"/>
          </a:xfrm>
          <a:prstGeom prst="rect">
            <a:avLst/>
          </a:prstGeom>
          <a:noFill/>
          <a:ln/>
        </p:spPr>
        <p:txBody>
          <a:bodyPr wrap="square" lIns="0" tIns="0" rIns="0" bIns="0" rtlCol="0" anchor="ctr"/>
          <a:lstStyle/>
          <a:p>
            <a:pPr indent="0" marL="0">
              <a:buNone/>
            </a:pPr>
            <a:r>
              <a:rPr lang="en-US" sz="1700" b="1" dirty="0">
                <a:solidFill>
                  <a:srgbClr val="F4F7FB"/>
                </a:solidFill>
                <a:latin typeface="Arial" pitchFamily="34" charset="0"/>
                <a:ea typeface="Arial" pitchFamily="34" charset="-122"/>
                <a:cs typeface="Arial" pitchFamily="34" charset="-120"/>
              </a:rPr>
              <a:t>Eficiența nu e gratuită</a:t>
            </a:r>
            <a:endParaRPr lang="en-US" sz="1700" dirty="0"/>
          </a:p>
        </p:txBody>
      </p:sp>
      <p:sp>
        <p:nvSpPr>
          <p:cNvPr id="17" name="Text 15"/>
          <p:cNvSpPr/>
          <p:nvPr/>
        </p:nvSpPr>
        <p:spPr>
          <a:xfrm>
            <a:off x="8311896" y="2999232"/>
            <a:ext cx="2926080" cy="1005840"/>
          </a:xfrm>
          <a:prstGeom prst="rect">
            <a:avLst/>
          </a:prstGeom>
          <a:noFill/>
          <a:ln/>
        </p:spPr>
        <p:txBody>
          <a:bodyPr wrap="square" lIns="0" tIns="0" rIns="0" bIns="0" rtlCol="0" anchor="ctr"/>
          <a:lstStyle/>
          <a:p>
            <a:pPr indent="0" marL="0">
              <a:lnSpc>
                <a:spcPct val="105000"/>
              </a:lnSpc>
              <a:buNone/>
            </a:pPr>
            <a:r>
              <a:rPr lang="en-US" sz="1300" dirty="0">
                <a:solidFill>
                  <a:srgbClr val="9BA7BC"/>
                </a:solidFill>
                <a:latin typeface="Arial" pitchFamily="34" charset="0"/>
                <a:ea typeface="Arial" pitchFamily="34" charset="-122"/>
                <a:cs typeface="Arial" pitchFamily="34" charset="-120"/>
              </a:rPr>
              <a:t>Compresia lovește inegal: ușoară la text, ascunsă la audio, severă la imagine.</a:t>
            </a:r>
            <a:endParaRPr lang="en-US" sz="1300" dirty="0"/>
          </a:p>
        </p:txBody>
      </p:sp>
      <p:sp>
        <p:nvSpPr>
          <p:cNvPr id="18" name="Shape 16"/>
          <p:cNvSpPr/>
          <p:nvPr/>
        </p:nvSpPr>
        <p:spPr>
          <a:xfrm>
            <a:off x="548640" y="4389120"/>
            <a:ext cx="11155680" cy="1600200"/>
          </a:xfrm>
          <a:prstGeom prst="roundRect">
            <a:avLst>
              <a:gd name="adj" fmla="val 5143"/>
            </a:avLst>
          </a:prstGeom>
          <a:solidFill>
            <a:srgbClr val="212B42"/>
          </a:solidFill>
          <a:ln/>
          <a:effectLst>
            <a:outerShdw sx="100000" sy="100000" kx="0" ky="0" algn="bl" rotWithShape="0" blurRad="114300" dist="38100" dir="5400000">
              <a:srgbClr val="000000">
                <a:alpha val="35000"/>
              </a:srgbClr>
            </a:outerShdw>
          </a:effectLst>
        </p:spPr>
      </p:sp>
      <p:sp>
        <p:nvSpPr>
          <p:cNvPr id="19" name="Text 17"/>
          <p:cNvSpPr/>
          <p:nvPr/>
        </p:nvSpPr>
        <p:spPr>
          <a:xfrm>
            <a:off x="868680" y="4526280"/>
            <a:ext cx="4572000" cy="36576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Direcții viitoare</a:t>
            </a:r>
            <a:endParaRPr lang="en-US" sz="1500" dirty="0"/>
          </a:p>
        </p:txBody>
      </p:sp>
      <p:sp>
        <p:nvSpPr>
          <p:cNvPr id="20" name="Text 18"/>
          <p:cNvSpPr/>
          <p:nvPr/>
        </p:nvSpPr>
        <p:spPr>
          <a:xfrm>
            <a:off x="868680" y="4937760"/>
            <a:ext cx="10515600" cy="914400"/>
          </a:xfrm>
          <a:prstGeom prst="rect">
            <a:avLst/>
          </a:prstGeom>
          <a:noFill/>
          <a:ln/>
        </p:spPr>
        <p:txBody>
          <a:bodyPr wrap="square" lIns="0" tIns="0" rIns="0" bIns="0" rtlCol="0" anchor="t"/>
          <a:lstStyle/>
          <a:p>
            <a:pPr indent="0" marL="0">
              <a:lnSpc>
                <a:spcPct val="115000"/>
              </a:lnSpc>
              <a:buNone/>
            </a:pPr>
            <a:r>
              <a:rPr lang="en-US" sz="1350" b="1" dirty="0">
                <a:solidFill>
                  <a:srgbClr val="F4F7FB"/>
                </a:solidFill>
                <a:latin typeface="Arial" pitchFamily="34" charset="0"/>
                <a:ea typeface="Arial" pitchFamily="34" charset="-122"/>
                <a:cs typeface="Arial" pitchFamily="34" charset="-120"/>
              </a:rPr>
              <a:t>Extragere mai bună a vorbitorului </a:t>
            </a:r>
            <a:pPr indent="0" marL="0">
              <a:lnSpc>
                <a:spcPct val="115000"/>
              </a:lnSpc>
              <a:buNone/>
            </a:pPr>
            <a:r>
              <a:rPr lang="en-US" sz="1350" dirty="0">
                <a:solidFill>
                  <a:srgbClr val="9BA7BC"/>
                </a:solidFill>
                <a:latin typeface="Arial" pitchFamily="34" charset="0"/>
                <a:ea typeface="Arial" pitchFamily="34" charset="-122"/>
                <a:cs typeface="Arial" pitchFamily="34" charset="-120"/>
              </a:rPr>
              <a:t>(sincron buze–sunet)   ·   </a:t>
            </a:r>
            <a:pPr indent="0" marL="0">
              <a:lnSpc>
                <a:spcPct val="115000"/>
              </a:lnSpc>
              <a:buNone/>
            </a:pPr>
            <a:r>
              <a:rPr lang="en-US" sz="1350" b="1" dirty="0">
                <a:solidFill>
                  <a:srgbClr val="F4F7FB"/>
                </a:solidFill>
                <a:latin typeface="Arial" pitchFamily="34" charset="0"/>
                <a:ea typeface="Arial" pitchFamily="34" charset="-122"/>
                <a:cs typeface="Arial" pitchFamily="34" charset="-120"/>
              </a:rPr>
              <a:t>Eliminarea râsetelor de fundal   </a:t>
            </a:r>
            <a:pPr indent="0" marL="0">
              <a:lnSpc>
                <a:spcPct val="115000"/>
              </a:lnSpc>
              <a:buNone/>
            </a:pPr>
            <a:r>
              <a:rPr lang="en-US" sz="1350" dirty="0">
                <a:solidFill>
                  <a:srgbClr val="9BA7BC"/>
                </a:solidFill>
                <a:latin typeface="Arial" pitchFamily="34" charset="0"/>
                <a:ea typeface="Arial" pitchFamily="34" charset="-122"/>
                <a:cs typeface="Arial" pitchFamily="34" charset="-120"/>
              </a:rPr>
              <a:t>·   </a:t>
            </a:r>
            <a:pPr indent="0" marL="0">
              <a:lnSpc>
                <a:spcPct val="115000"/>
              </a:lnSpc>
              <a:buNone/>
            </a:pPr>
            <a:r>
              <a:rPr lang="en-US" sz="1350" b="1" dirty="0">
                <a:solidFill>
                  <a:srgbClr val="F4F7FB"/>
                </a:solidFill>
                <a:latin typeface="Arial" pitchFamily="34" charset="0"/>
                <a:ea typeface="Arial" pitchFamily="34" charset="-122"/>
                <a:cs typeface="Arial" pitchFamily="34" charset="-120"/>
              </a:rPr>
              <a:t>Dinamica temporală a expresiilor   </a:t>
            </a:r>
            <a:pPr indent="0" marL="0">
              <a:lnSpc>
                <a:spcPct val="115000"/>
              </a:lnSpc>
              <a:buNone/>
            </a:pPr>
            <a:r>
              <a:rPr lang="en-US" sz="1350" dirty="0">
                <a:solidFill>
                  <a:srgbClr val="9BA7BC"/>
                </a:solidFill>
                <a:latin typeface="Arial" pitchFamily="34" charset="0"/>
                <a:ea typeface="Arial" pitchFamily="34" charset="-122"/>
                <a:cs typeface="Arial" pitchFamily="34" charset="-120"/>
              </a:rPr>
              <a:t>·   </a:t>
            </a:r>
            <a:pPr indent="0" marL="0">
              <a:lnSpc>
                <a:spcPct val="115000"/>
              </a:lnSpc>
              <a:buNone/>
            </a:pPr>
            <a:r>
              <a:rPr lang="en-US" sz="1350" b="1" dirty="0">
                <a:solidFill>
                  <a:srgbClr val="F4F7FB"/>
                </a:solidFill>
                <a:latin typeface="Arial" pitchFamily="34" charset="0"/>
                <a:ea typeface="Arial" pitchFamily="34" charset="-122"/>
                <a:cs typeface="Arial" pitchFamily="34" charset="-120"/>
              </a:rPr>
              <a:t>Fuziune atentă per eșantion</a:t>
            </a:r>
            <a:endParaRPr lang="en-US" sz="1350" dirty="0"/>
          </a:p>
        </p:txBody>
      </p:sp>
      <p:sp>
        <p:nvSpPr>
          <p:cNvPr id="21" name="Text 19"/>
          <p:cNvSpPr/>
          <p:nvPr/>
        </p:nvSpPr>
        <p:spPr>
          <a:xfrm>
            <a:off x="548640" y="6172200"/>
            <a:ext cx="8229600" cy="457200"/>
          </a:xfrm>
          <a:prstGeom prst="rect">
            <a:avLst/>
          </a:prstGeom>
          <a:noFill/>
          <a:ln/>
        </p:spPr>
        <p:txBody>
          <a:bodyPr wrap="square" lIns="0" tIns="0" rIns="0" bIns="0" rtlCol="0" anchor="ctr"/>
          <a:lstStyle/>
          <a:p>
            <a:pPr indent="0" marL="0">
              <a:buNone/>
            </a:pPr>
            <a:r>
              <a:rPr lang="en-US" sz="1700" b="1" i="1" dirty="0">
                <a:solidFill>
                  <a:srgbClr val="2DD4BF"/>
                </a:solidFill>
                <a:latin typeface="Arial" pitchFamily="34" charset="0"/>
                <a:ea typeface="Arial" pitchFamily="34" charset="-122"/>
                <a:cs typeface="Arial" pitchFamily="34" charset="-120"/>
              </a:rPr>
              <a:t>Vă mulțumesc!  Întrebări?</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Recunoașterea emoțiilor printr-o abordare multimodală</dc:title>
  <dc:subject>PptxGenJS Presentation</dc:subject>
  <dc:creator>Ionașcu Andrei</dc:creator>
  <cp:lastModifiedBy>Ionașcu Andrei</cp:lastModifiedBy>
  <cp:revision>1</cp:revision>
  <dcterms:created xsi:type="dcterms:W3CDTF">2026-06-30T16:01:01Z</dcterms:created>
  <dcterms:modified xsi:type="dcterms:W3CDTF">2026-06-30T16:01:01Z</dcterms:modified>
</cp:coreProperties>
</file>